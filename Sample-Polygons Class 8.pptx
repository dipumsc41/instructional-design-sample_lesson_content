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y="5143500" cx="9144000"/>
  <p:notesSz cx="6858000" cy="9144000"/>
  <p:embeddedFontLst>
    <p:embeddedFont>
      <p:font typeface="Proxima Nova"/>
      <p:regular r:id="rId53"/>
      <p:bold r:id="rId54"/>
      <p:italic r:id="rId55"/>
      <p:boldItalic r:id="rId56"/>
    </p:embeddedFont>
    <p:embeddedFont>
      <p:font typeface="Roboto"/>
      <p:regular r:id="rId57"/>
      <p:bold r:id="rId58"/>
      <p:italic r:id="rId59"/>
      <p:boldItalic r:id="rId60"/>
    </p:embeddedFont>
    <p:embeddedFont>
      <p:font typeface="Lat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1">
          <p15:clr>
            <a:srgbClr val="747775"/>
          </p15:clr>
        </p15:guide>
        <p15:guide id="2" pos="22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361C88-4CD8-44AF-877B-B7A2A19D6806}">
  <a:tblStyle styleId="{73361C88-4CD8-44AF-877B-B7A2A19D68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1" orient="horz"/>
        <p:guide pos="2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Lato-bold.fntdata"/><Relationship Id="rId61" Type="http://schemas.openxmlformats.org/officeDocument/2006/relationships/font" Target="fonts/Lato-regular.fntdata"/><Relationship Id="rId20" Type="http://schemas.openxmlformats.org/officeDocument/2006/relationships/slide" Target="slides/slide13.xml"/><Relationship Id="rId64" Type="http://schemas.openxmlformats.org/officeDocument/2006/relationships/font" Target="fonts/Lato-boldItalic.fntdata"/><Relationship Id="rId63" Type="http://schemas.openxmlformats.org/officeDocument/2006/relationships/font" Target="fonts/Lato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Roboto-bold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font" Target="fonts/ProximaNova-regular.fntdata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ProximaNova-italic.fntdata"/><Relationship Id="rId10" Type="http://schemas.openxmlformats.org/officeDocument/2006/relationships/slide" Target="slides/slide3.xml"/><Relationship Id="rId54" Type="http://schemas.openxmlformats.org/officeDocument/2006/relationships/font" Target="fonts/ProximaNova-bold.fntdata"/><Relationship Id="rId13" Type="http://schemas.openxmlformats.org/officeDocument/2006/relationships/slide" Target="slides/slide6.xml"/><Relationship Id="rId57" Type="http://schemas.openxmlformats.org/officeDocument/2006/relationships/font" Target="fonts/Roboto-regular.fntdata"/><Relationship Id="rId12" Type="http://schemas.openxmlformats.org/officeDocument/2006/relationships/slide" Target="slides/slide5.xml"/><Relationship Id="rId56" Type="http://schemas.openxmlformats.org/officeDocument/2006/relationships/font" Target="fonts/ProximaNova-boldItalic.fntdata"/><Relationship Id="rId15" Type="http://schemas.openxmlformats.org/officeDocument/2006/relationships/slide" Target="slides/slide8.xml"/><Relationship Id="rId59" Type="http://schemas.openxmlformats.org/officeDocument/2006/relationships/font" Target="fonts/Roboto-italic.fntdata"/><Relationship Id="rId14" Type="http://schemas.openxmlformats.org/officeDocument/2006/relationships/slide" Target="slides/slide7.xml"/><Relationship Id="rId58" Type="http://schemas.openxmlformats.org/officeDocument/2006/relationships/font" Target="fonts/Roboto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a530d07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a530d07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37bf37977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37bf37977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a530d070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a530d070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1eca96c2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e1eca96c2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31436b278_3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31436b278_3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231c15edd_2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231c15edd_2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e1a530d070_5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e1a530d070_5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e1e9cecb5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e1e9cecb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e1eca96c2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e1eca96c2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73ddf1f1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73ddf1f1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31436b278_3_1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31436b278_3_1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731436b278_3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731436b278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e1eca96c25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e1eca96c2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e1eca96c25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e1eca96c25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731436b278_3_1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731436b278_3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731436b278_3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731436b278_3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731436b278_3_2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731436b278_3_2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731436b278_3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731436b278_3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731436b278_3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731436b278_3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31436b278_3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31436b278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e1eca96c25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e1eca96c25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731436b278_3_2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731436b278_3_2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731436b278_3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731436b278_3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731436b278_3_2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731436b278_3_2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731436b278_3_2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731436b278_3_2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731436b278_3_2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731436b278_3_2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e1eca96c25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e1eca96c25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ea0f1e0f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ea0f1e0f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ea0f1e0f7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ea0f1e0f7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ea0f1e0f7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ea0f1e0f7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ea0f1e0f7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ea0f1e0f7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ea0f1e0f7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ea0f1e0f7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ea0f1e0f7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ea0f1e0f7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ea0f1e0f7d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ea0f1e0f7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2ea0f1e0f7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2ea0f1e0f7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ea0f1e0f7d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ea0f1e0f7d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ea0f1e0f7d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ea0f1e0f7d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ea0f1e0f7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ea0f1e0f7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2ea0f1e0f7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2ea0f1e0f7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ea0f1e0f7d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ea0f1e0f7d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2ea0f1e0f7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2ea0f1e0f7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ea0f1e0f7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ea0f1e0f7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2ea0f1e0f7d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2ea0f1e0f7d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ea0f1e0f7d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ea0f1e0f7d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2ea0f1e0f7d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2ea0f1e0f7d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Lato"/>
              <a:buNone/>
              <a:defRPr sz="52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42.png"/><Relationship Id="rId7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5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Relationship Id="rId4" Type="http://schemas.openxmlformats.org/officeDocument/2006/relationships/image" Target="../media/image47.png"/><Relationship Id="rId5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png"/><Relationship Id="rId4" Type="http://schemas.openxmlformats.org/officeDocument/2006/relationships/image" Target="../media/image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png"/><Relationship Id="rId4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Relationship Id="rId4" Type="http://schemas.openxmlformats.org/officeDocument/2006/relationships/image" Target="../media/image34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3689733" y="1702142"/>
            <a:ext cx="1606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Let’s </a:t>
            </a:r>
            <a:r>
              <a:rPr b="1" lang="en-GB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learn</a:t>
            </a:r>
            <a:r>
              <a:rPr b="1" lang="en-GB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3228950" y="2414325"/>
            <a:ext cx="26790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Polygons</a:t>
            </a:r>
            <a:endParaRPr b="1"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1" name="Google Shape;101;p25"/>
          <p:cNvCxnSpPr/>
          <p:nvPr/>
        </p:nvCxnSpPr>
        <p:spPr>
          <a:xfrm>
            <a:off x="3228939" y="2908357"/>
            <a:ext cx="2592000" cy="0"/>
          </a:xfrm>
          <a:prstGeom prst="straightConnector1">
            <a:avLst/>
          </a:prstGeom>
          <a:noFill/>
          <a:ln cap="flat" cmpd="sng" w="19050">
            <a:solidFill>
              <a:srgbClr val="FBB03C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/>
          <p:nvPr/>
        </p:nvSpPr>
        <p:spPr>
          <a:xfrm>
            <a:off x="7258500" y="298200"/>
            <a:ext cx="1634400" cy="286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1677270" y="1725675"/>
            <a:ext cx="2826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first curve is </a:t>
            </a:r>
            <a:r>
              <a:rPr b="1"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made up of line segments</a:t>
            </a:r>
            <a:endParaRPr b="1" sz="12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98646" y="917190"/>
            <a:ext cx="1268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Out of these,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>
            <a:off x="999504" y="917936"/>
            <a:ext cx="1923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first two are different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103810" y="2564825"/>
            <a:ext cx="5200200" cy="4497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simple closed curve made up of line segments is known as a 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POLYGON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7545541" y="1076685"/>
            <a:ext cx="126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POLYGON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26"/>
          <p:cNvSpPr txBox="1"/>
          <p:nvPr/>
        </p:nvSpPr>
        <p:spPr>
          <a:xfrm>
            <a:off x="116032" y="3214009"/>
            <a:ext cx="37356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about the second closed curve ?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2052" y="3589235"/>
            <a:ext cx="41265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Since this closed curve is not made up of line segments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2252552" y="4547500"/>
            <a:ext cx="29406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learn about POLYGONS in detail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3816983" y="3599922"/>
            <a:ext cx="2097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it’s 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not a POLYGON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7297665" y="3316510"/>
            <a:ext cx="1634400" cy="143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7579865" y="1746327"/>
            <a:ext cx="937500" cy="855000"/>
          </a:xfrm>
          <a:prstGeom prst="hear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93766" y="258700"/>
            <a:ext cx="41805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sketch or doodle something in our notebooks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26"/>
          <p:cNvSpPr txBox="1"/>
          <p:nvPr/>
        </p:nvSpPr>
        <p:spPr>
          <a:xfrm>
            <a:off x="93767" y="524833"/>
            <a:ext cx="10560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Guess what? </a:t>
            </a:r>
            <a:endParaRPr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1030825" y="571401"/>
            <a:ext cx="20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 just created a  </a:t>
            </a:r>
            <a:r>
              <a:rPr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CURVE !</a:t>
            </a:r>
            <a:endParaRPr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1" name="Google Shape;1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0280" y="3280892"/>
            <a:ext cx="1704900" cy="13063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6"/>
          <p:cNvSpPr txBox="1"/>
          <p:nvPr/>
        </p:nvSpPr>
        <p:spPr>
          <a:xfrm>
            <a:off x="2468657" y="917372"/>
            <a:ext cx="1923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 they are closed curves.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93095" y="1725650"/>
            <a:ext cx="1818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Of these closed curves,</a:t>
            </a:r>
            <a:endParaRPr b="1" sz="12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26"/>
          <p:cNvSpPr txBox="1"/>
          <p:nvPr/>
        </p:nvSpPr>
        <p:spPr>
          <a:xfrm>
            <a:off x="103806" y="1995734"/>
            <a:ext cx="2728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 this is what we call Polygon.</a:t>
            </a:r>
            <a:endParaRPr b="1" sz="12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26"/>
          <p:cNvSpPr txBox="1"/>
          <p:nvPr/>
        </p:nvSpPr>
        <p:spPr>
          <a:xfrm>
            <a:off x="5874246" y="1583215"/>
            <a:ext cx="145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Closed Curves</a:t>
            </a:r>
            <a:endParaRPr sz="15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6102847" y="3899713"/>
            <a:ext cx="145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Open Curve</a:t>
            </a:r>
            <a:endParaRPr sz="15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26"/>
          <p:cNvSpPr txBox="1"/>
          <p:nvPr/>
        </p:nvSpPr>
        <p:spPr>
          <a:xfrm>
            <a:off x="117797" y="1168033"/>
            <a:ext cx="2728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 the third one is an open curve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26"/>
          <p:cNvSpPr txBox="1"/>
          <p:nvPr/>
        </p:nvSpPr>
        <p:spPr>
          <a:xfrm>
            <a:off x="7414574" y="2622090"/>
            <a:ext cx="13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Not a Polygon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9" name="Google Shape;129;p26"/>
          <p:cNvGrpSpPr/>
          <p:nvPr/>
        </p:nvGrpSpPr>
        <p:grpSpPr>
          <a:xfrm>
            <a:off x="7488192" y="3594394"/>
            <a:ext cx="1364875" cy="687425"/>
            <a:chOff x="7488192" y="3594394"/>
            <a:chExt cx="1364875" cy="687425"/>
          </a:xfrm>
        </p:grpSpPr>
        <p:sp>
          <p:nvSpPr>
            <p:cNvPr id="130" name="Google Shape;130;p26"/>
            <p:cNvSpPr/>
            <p:nvPr/>
          </p:nvSpPr>
          <p:spPr>
            <a:xfrm>
              <a:off x="7488192" y="3594394"/>
              <a:ext cx="125400" cy="114300"/>
            </a:xfrm>
            <a:prstGeom prst="ellipse">
              <a:avLst/>
            </a:prstGeom>
            <a:solidFill>
              <a:srgbClr val="FFFF00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8727667" y="4167519"/>
              <a:ext cx="125400" cy="114300"/>
            </a:xfrm>
            <a:prstGeom prst="ellipse">
              <a:avLst/>
            </a:prstGeom>
            <a:solidFill>
              <a:srgbClr val="FFFF00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2" name="Google Shape;132;p26"/>
          <p:cNvSpPr/>
          <p:nvPr/>
        </p:nvSpPr>
        <p:spPr>
          <a:xfrm>
            <a:off x="7550125" y="432225"/>
            <a:ext cx="1056000" cy="688375"/>
          </a:xfrm>
          <a:prstGeom prst="flowChartProcess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3" name="Google Shape;133;p26"/>
          <p:cNvGrpSpPr/>
          <p:nvPr/>
        </p:nvGrpSpPr>
        <p:grpSpPr>
          <a:xfrm>
            <a:off x="7550801" y="432225"/>
            <a:ext cx="1056000" cy="2169102"/>
            <a:chOff x="7550801" y="432225"/>
            <a:chExt cx="1056000" cy="2169102"/>
          </a:xfrm>
        </p:grpSpPr>
        <p:sp>
          <p:nvSpPr>
            <p:cNvPr id="134" name="Google Shape;134;p26"/>
            <p:cNvSpPr/>
            <p:nvPr/>
          </p:nvSpPr>
          <p:spPr>
            <a:xfrm>
              <a:off x="7579865" y="1746327"/>
              <a:ext cx="937500" cy="855000"/>
            </a:xfrm>
            <a:prstGeom prst="heart">
              <a:avLst/>
            </a:prstGeom>
            <a:solidFill>
              <a:srgbClr val="FCE5CD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7550801" y="432225"/>
              <a:ext cx="1056000" cy="688375"/>
            </a:xfrm>
            <a:prstGeom prst="flowChartProcess">
              <a:avLst/>
            </a:prstGeom>
            <a:solidFill>
              <a:srgbClr val="FCE5CD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6" name="Google Shape;136;p26"/>
          <p:cNvSpPr/>
          <p:nvPr/>
        </p:nvSpPr>
        <p:spPr>
          <a:xfrm>
            <a:off x="7548960" y="432225"/>
            <a:ext cx="1056000" cy="688375"/>
          </a:xfrm>
          <a:prstGeom prst="flowChartProcess">
            <a:avLst/>
          </a:prstGeom>
          <a:solidFill>
            <a:srgbClr val="FCE5CD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/>
        </p:nvSpPr>
        <p:spPr>
          <a:xfrm>
            <a:off x="123956" y="20028"/>
            <a:ext cx="444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Polygon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 a </a:t>
            </a:r>
            <a:r>
              <a:rPr b="1"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Simple Closed Curve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made up of </a:t>
            </a:r>
            <a:r>
              <a:rPr b="1"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line segments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30716" y="445253"/>
            <a:ext cx="578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many minimum line segments are needed to form a polygon?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3" name="Google Shape;143;p27"/>
          <p:cNvCxnSpPr/>
          <p:nvPr/>
        </p:nvCxnSpPr>
        <p:spPr>
          <a:xfrm>
            <a:off x="647325" y="1293903"/>
            <a:ext cx="9822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7"/>
          <p:cNvSpPr txBox="1"/>
          <p:nvPr/>
        </p:nvSpPr>
        <p:spPr>
          <a:xfrm>
            <a:off x="347500" y="1360178"/>
            <a:ext cx="161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 Line Segment ?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" name="Google Shape;145;p27"/>
          <p:cNvCxnSpPr/>
          <p:nvPr/>
        </p:nvCxnSpPr>
        <p:spPr>
          <a:xfrm>
            <a:off x="641675" y="1293903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46" name="Google Shape;146;p27"/>
          <p:cNvSpPr txBox="1"/>
          <p:nvPr/>
        </p:nvSpPr>
        <p:spPr>
          <a:xfrm>
            <a:off x="234760" y="1592490"/>
            <a:ext cx="17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is not a Polygon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7" name="Google Shape;147;p27"/>
          <p:cNvCxnSpPr/>
          <p:nvPr/>
        </p:nvCxnSpPr>
        <p:spPr>
          <a:xfrm>
            <a:off x="3009525" y="1446303"/>
            <a:ext cx="9822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7"/>
          <p:cNvCxnSpPr/>
          <p:nvPr/>
        </p:nvCxnSpPr>
        <p:spPr>
          <a:xfrm rot="10800000">
            <a:off x="3528500" y="852628"/>
            <a:ext cx="449400" cy="593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7"/>
          <p:cNvSpPr txBox="1"/>
          <p:nvPr/>
        </p:nvSpPr>
        <p:spPr>
          <a:xfrm>
            <a:off x="2709700" y="1436378"/>
            <a:ext cx="161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Line Segments ?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0" name="Google Shape;150;p27"/>
          <p:cNvCxnSpPr/>
          <p:nvPr/>
        </p:nvCxnSpPr>
        <p:spPr>
          <a:xfrm>
            <a:off x="3009525" y="1446303"/>
            <a:ext cx="9822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51" name="Google Shape;151;p27"/>
          <p:cNvCxnSpPr/>
          <p:nvPr/>
        </p:nvCxnSpPr>
        <p:spPr>
          <a:xfrm rot="10800000">
            <a:off x="3511469" y="852628"/>
            <a:ext cx="449400" cy="593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2" name="Google Shape;152;p27"/>
          <p:cNvSpPr txBox="1"/>
          <p:nvPr/>
        </p:nvSpPr>
        <p:spPr>
          <a:xfrm>
            <a:off x="2644865" y="1674323"/>
            <a:ext cx="17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is also not a Polygon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3" name="Google Shape;153;p27"/>
          <p:cNvCxnSpPr/>
          <p:nvPr/>
        </p:nvCxnSpPr>
        <p:spPr>
          <a:xfrm>
            <a:off x="6209925" y="1361587"/>
            <a:ext cx="9822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7"/>
          <p:cNvCxnSpPr/>
          <p:nvPr/>
        </p:nvCxnSpPr>
        <p:spPr>
          <a:xfrm rot="10800000">
            <a:off x="6698700" y="749487"/>
            <a:ext cx="481200" cy="6069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7"/>
          <p:cNvCxnSpPr/>
          <p:nvPr/>
        </p:nvCxnSpPr>
        <p:spPr>
          <a:xfrm flipH="1" rot="10800000">
            <a:off x="6222825" y="740312"/>
            <a:ext cx="483900" cy="623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7"/>
          <p:cNvSpPr txBox="1"/>
          <p:nvPr/>
        </p:nvSpPr>
        <p:spPr>
          <a:xfrm>
            <a:off x="5910100" y="1427862"/>
            <a:ext cx="161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Line Segments ?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5010756" y="1670181"/>
            <a:ext cx="414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is a simple closed curve and also made up of line segments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5823850" y="1862078"/>
            <a:ext cx="17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So, it is  a Polygon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2031725" y="2448700"/>
            <a:ext cx="4659300" cy="396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minimum 3 line segments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are needed to form a polygon.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3352750" y="3725059"/>
            <a:ext cx="483900" cy="286500"/>
          </a:xfrm>
          <a:prstGeom prst="trapezoid">
            <a:avLst>
              <a:gd fmla="val 25000" name="adj"/>
            </a:avLst>
          </a:prstGeom>
          <a:noFill/>
          <a:ln cap="flat" cmpd="sng" w="9525">
            <a:solidFill>
              <a:srgbClr val="FBB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3079100" y="4218215"/>
            <a:ext cx="449400" cy="3693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3009525" y="4760575"/>
            <a:ext cx="406500" cy="286500"/>
          </a:xfrm>
          <a:prstGeom prst="hexagon">
            <a:avLst>
              <a:gd fmla="val 28852" name="adj"/>
              <a:gd fmla="val 115470" name="vf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5456275" y="4018148"/>
            <a:ext cx="32037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 general, an </a:t>
            </a:r>
            <a:r>
              <a:rPr b="1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-sided polygon is called 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n-gon.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255475" y="3267421"/>
            <a:ext cx="275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-sided polygon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is known as a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triangle,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5" name="Google Shape;165;p27"/>
          <p:cNvCxnSpPr/>
          <p:nvPr/>
        </p:nvCxnSpPr>
        <p:spPr>
          <a:xfrm>
            <a:off x="8525" y="3073728"/>
            <a:ext cx="9162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6" name="Google Shape;166;p27"/>
          <p:cNvSpPr txBox="1"/>
          <p:nvPr/>
        </p:nvSpPr>
        <p:spPr>
          <a:xfrm>
            <a:off x="2825825" y="3266696"/>
            <a:ext cx="199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also referred to as a 3-gon.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255475" y="3725056"/>
            <a:ext cx="30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-sided polygon is known as a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quadrilateral</a:t>
            </a:r>
            <a:endParaRPr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255475" y="4241425"/>
            <a:ext cx="30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-sided polygon is known as a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pentagon</a:t>
            </a:r>
            <a:endParaRPr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255475" y="4682035"/>
            <a:ext cx="30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-sided polygon is known as a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hexagon</a:t>
            </a:r>
            <a:endParaRPr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/>
        </p:nvSpPr>
        <p:spPr>
          <a:xfrm>
            <a:off x="355450" y="53475"/>
            <a:ext cx="19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Consider a Pentagon</a:t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2504300" y="541576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Sides: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4182894" y="562271"/>
            <a:ext cx="37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2495050" y="1074976"/>
            <a:ext cx="245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Vertices: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4407108" y="1084227"/>
            <a:ext cx="39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2490024" y="1585726"/>
            <a:ext cx="25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Diagonals: 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447313" y="781200"/>
            <a:ext cx="1508100" cy="12042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1012418" y="1947956"/>
            <a:ext cx="39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1821066" y="1450739"/>
            <a:ext cx="39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1493057" y="645529"/>
            <a:ext cx="39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294500" y="1440703"/>
            <a:ext cx="39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555623" y="686260"/>
            <a:ext cx="39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1594558" y="1924273"/>
            <a:ext cx="125400" cy="11430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1855681" y="1169830"/>
            <a:ext cx="125400" cy="11430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1138749" y="686257"/>
            <a:ext cx="125400" cy="11430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386748" y="1186469"/>
            <a:ext cx="125400" cy="11430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668718" y="1924273"/>
            <a:ext cx="125400" cy="11430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1" name="Google Shape;191;p28"/>
          <p:cNvCxnSpPr/>
          <p:nvPr/>
        </p:nvCxnSpPr>
        <p:spPr>
          <a:xfrm flipH="1">
            <a:off x="737796" y="1228138"/>
            <a:ext cx="1181100" cy="746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8"/>
          <p:cNvCxnSpPr/>
          <p:nvPr/>
        </p:nvCxnSpPr>
        <p:spPr>
          <a:xfrm>
            <a:off x="439454" y="1241971"/>
            <a:ext cx="1209600" cy="7281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8"/>
          <p:cNvCxnSpPr/>
          <p:nvPr/>
        </p:nvCxnSpPr>
        <p:spPr>
          <a:xfrm flipH="1" rot="10800000">
            <a:off x="733789" y="754819"/>
            <a:ext cx="470700" cy="1227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8"/>
          <p:cNvCxnSpPr/>
          <p:nvPr/>
        </p:nvCxnSpPr>
        <p:spPr>
          <a:xfrm rot="10800000">
            <a:off x="1208088" y="756205"/>
            <a:ext cx="439200" cy="1219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8"/>
          <p:cNvCxnSpPr/>
          <p:nvPr/>
        </p:nvCxnSpPr>
        <p:spPr>
          <a:xfrm flipH="1">
            <a:off x="424835" y="1229042"/>
            <a:ext cx="1493700" cy="14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8"/>
          <p:cNvSpPr txBox="1"/>
          <p:nvPr/>
        </p:nvSpPr>
        <p:spPr>
          <a:xfrm>
            <a:off x="4483308" y="1589874"/>
            <a:ext cx="39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7" name="Google Shape;197;p28"/>
          <p:cNvCxnSpPr/>
          <p:nvPr/>
        </p:nvCxnSpPr>
        <p:spPr>
          <a:xfrm>
            <a:off x="788103" y="4042759"/>
            <a:ext cx="241500" cy="669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8" name="Google Shape;198;p28"/>
          <p:cNvSpPr txBox="1"/>
          <p:nvPr/>
        </p:nvSpPr>
        <p:spPr>
          <a:xfrm>
            <a:off x="6030700" y="1622225"/>
            <a:ext cx="2799000" cy="52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diagonal is a line segment that connects two non-adjacent vertices of the polygon.</a:t>
            </a:r>
            <a:endParaRPr sz="1300"/>
          </a:p>
        </p:txBody>
      </p:sp>
      <p:sp>
        <p:nvSpPr>
          <p:cNvPr id="199" name="Google Shape;199;p28"/>
          <p:cNvSpPr txBox="1"/>
          <p:nvPr/>
        </p:nvSpPr>
        <p:spPr>
          <a:xfrm>
            <a:off x="5245275" y="3095726"/>
            <a:ext cx="1608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INTERIOR ANGLES</a:t>
            </a:r>
            <a:endParaRPr b="1" sz="11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591641" y="3031100"/>
            <a:ext cx="1294500" cy="11286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8"/>
          <p:cNvSpPr/>
          <p:nvPr/>
        </p:nvSpPr>
        <p:spPr>
          <a:xfrm rot="2426820">
            <a:off x="1100032" y="2915657"/>
            <a:ext cx="277921" cy="278608"/>
          </a:xfrm>
          <a:prstGeom prst="pie">
            <a:avLst>
              <a:gd fmla="val 21207094" name="adj1"/>
              <a:gd fmla="val 6239939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 rot="6796858">
            <a:off x="1724929" y="3329350"/>
            <a:ext cx="274011" cy="282276"/>
          </a:xfrm>
          <a:prstGeom prst="pie">
            <a:avLst>
              <a:gd fmla="val 21370073" name="adj1"/>
              <a:gd fmla="val 6143836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/>
          <p:nvPr/>
        </p:nvSpPr>
        <p:spPr>
          <a:xfrm rot="-1762269">
            <a:off x="475812" y="3331332"/>
            <a:ext cx="279531" cy="276851"/>
          </a:xfrm>
          <a:prstGeom prst="pie">
            <a:avLst>
              <a:gd fmla="val 21326292" name="adj1"/>
              <a:gd fmla="val 6090493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8"/>
          <p:cNvSpPr/>
          <p:nvPr/>
        </p:nvSpPr>
        <p:spPr>
          <a:xfrm rot="-6258662">
            <a:off x="715180" y="3998799"/>
            <a:ext cx="273074" cy="283351"/>
          </a:xfrm>
          <a:prstGeom prst="pie">
            <a:avLst>
              <a:gd fmla="val 21284922" name="adj1"/>
              <a:gd fmla="val 6244836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 rot="-10459185">
            <a:off x="1484465" y="4003103"/>
            <a:ext cx="281884" cy="274515"/>
          </a:xfrm>
          <a:prstGeom prst="pie">
            <a:avLst>
              <a:gd fmla="val 21246611" name="adj1"/>
              <a:gd fmla="val 6226686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6757575" y="3093475"/>
            <a:ext cx="23121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Angles formed inside the polygon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5360671" y="4043280"/>
            <a:ext cx="1608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EXTERIOR  ANGLES</a:t>
            </a:r>
            <a:endParaRPr b="1" sz="11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8" name="Google Shape;208;p28"/>
          <p:cNvCxnSpPr/>
          <p:nvPr/>
        </p:nvCxnSpPr>
        <p:spPr>
          <a:xfrm>
            <a:off x="1436220" y="4162781"/>
            <a:ext cx="846300" cy="5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8"/>
          <p:cNvCxnSpPr/>
          <p:nvPr/>
        </p:nvCxnSpPr>
        <p:spPr>
          <a:xfrm flipH="1" rot="10800000">
            <a:off x="1824993" y="2696134"/>
            <a:ext cx="338400" cy="9522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660901" y="2618152"/>
            <a:ext cx="669000" cy="474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8"/>
          <p:cNvCxnSpPr/>
          <p:nvPr/>
        </p:nvCxnSpPr>
        <p:spPr>
          <a:xfrm flipH="1" rot="10800000">
            <a:off x="89901" y="3357791"/>
            <a:ext cx="642000" cy="431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2" name="Google Shape;212;p28"/>
          <p:cNvSpPr/>
          <p:nvPr/>
        </p:nvSpPr>
        <p:spPr>
          <a:xfrm rot="-4943820">
            <a:off x="1526799" y="4004880"/>
            <a:ext cx="272092" cy="290549"/>
          </a:xfrm>
          <a:prstGeom prst="pie">
            <a:avLst>
              <a:gd fmla="val 712825" name="adj1"/>
              <a:gd fmla="val 4993855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 rot="7915007">
            <a:off x="1076494" y="2880835"/>
            <a:ext cx="272135" cy="290398"/>
          </a:xfrm>
          <a:prstGeom prst="pie">
            <a:avLst>
              <a:gd fmla="val 831570" name="adj1"/>
              <a:gd fmla="val 5039991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 rot="3745078">
            <a:off x="439626" y="3328939"/>
            <a:ext cx="272128" cy="290781"/>
          </a:xfrm>
          <a:prstGeom prst="pie">
            <a:avLst>
              <a:gd fmla="val 481504" name="adj1"/>
              <a:gd fmla="val 5029786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8"/>
          <p:cNvSpPr/>
          <p:nvPr/>
        </p:nvSpPr>
        <p:spPr>
          <a:xfrm rot="-1612297">
            <a:off x="734474" y="4054903"/>
            <a:ext cx="225667" cy="246195"/>
          </a:xfrm>
          <a:prstGeom prst="pie">
            <a:avLst>
              <a:gd fmla="val 1627478" name="adj1"/>
              <a:gd fmla="val 5838966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6777375" y="4089400"/>
            <a:ext cx="2312100" cy="52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Angles formed outside the polygon by extending one of the sides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8"/>
          <p:cNvSpPr/>
          <p:nvPr/>
        </p:nvSpPr>
        <p:spPr>
          <a:xfrm rot="-9776623">
            <a:off x="1748743" y="3294038"/>
            <a:ext cx="272066" cy="290373"/>
          </a:xfrm>
          <a:prstGeom prst="pie">
            <a:avLst>
              <a:gd fmla="val 956744" name="adj1"/>
              <a:gd fmla="val 5535684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2495051" y="2132527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Angles: 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7089204" y="1307794"/>
            <a:ext cx="66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Recall: </a:t>
            </a:r>
            <a:endParaRPr/>
          </a:p>
        </p:txBody>
      </p:sp>
      <p:grpSp>
        <p:nvGrpSpPr>
          <p:cNvPr id="220" name="Google Shape;220;p28"/>
          <p:cNvGrpSpPr/>
          <p:nvPr/>
        </p:nvGrpSpPr>
        <p:grpSpPr>
          <a:xfrm>
            <a:off x="4220094" y="3291186"/>
            <a:ext cx="1177583" cy="915812"/>
            <a:chOff x="4021475" y="3316025"/>
            <a:chExt cx="1183500" cy="812250"/>
          </a:xfrm>
        </p:grpSpPr>
        <p:cxnSp>
          <p:nvCxnSpPr>
            <p:cNvPr id="221" name="Google Shape;221;p28"/>
            <p:cNvCxnSpPr/>
            <p:nvPr/>
          </p:nvCxnSpPr>
          <p:spPr>
            <a:xfrm flipH="1" rot="10800000">
              <a:off x="4021475" y="3316025"/>
              <a:ext cx="1174200" cy="5130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2" name="Google Shape;222;p28"/>
            <p:cNvCxnSpPr/>
            <p:nvPr/>
          </p:nvCxnSpPr>
          <p:spPr>
            <a:xfrm>
              <a:off x="4021475" y="3838175"/>
              <a:ext cx="1183500" cy="2901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23" name="Google Shape;223;p28"/>
          <p:cNvSpPr txBox="1"/>
          <p:nvPr/>
        </p:nvSpPr>
        <p:spPr>
          <a:xfrm>
            <a:off x="2972952" y="3623237"/>
            <a:ext cx="126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 are two types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of Angles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4288252" y="2137625"/>
            <a:ext cx="2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5 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3931302" y="2385531"/>
            <a:ext cx="150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No!  There are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3909151" y="2606681"/>
            <a:ext cx="150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 me tell you how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7" name="Google Shape;227;p28"/>
          <p:cNvCxnSpPr/>
          <p:nvPr/>
        </p:nvCxnSpPr>
        <p:spPr>
          <a:xfrm flipH="1">
            <a:off x="4341353" y="2216831"/>
            <a:ext cx="164100" cy="2139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8"/>
          <p:cNvSpPr txBox="1"/>
          <p:nvPr/>
        </p:nvSpPr>
        <p:spPr>
          <a:xfrm>
            <a:off x="2707968" y="4743347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Now l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et’s look at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Types of Polygons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/>
        </p:nvSpPr>
        <p:spPr>
          <a:xfrm>
            <a:off x="2767525" y="148025"/>
            <a:ext cx="3233700" cy="4002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Polygons are categorised in </a:t>
            </a: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two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ways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1310025" y="1307950"/>
            <a:ext cx="197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Based on their side length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466135" y="1307956"/>
            <a:ext cx="22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Based on their interior angles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-63250" y="4148532"/>
            <a:ext cx="2534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Its all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sides are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interior angles are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exterior angles are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102350" y="2388575"/>
            <a:ext cx="19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AutoNum type="arabicPeriod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sides and angles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are equal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2473662" y="2399575"/>
            <a:ext cx="19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   All sides and angles 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       are not equal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4917800" y="2386715"/>
            <a:ext cx="164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AutoNum type="arabicPeriod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angles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are 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less than 180</a:t>
            </a:r>
            <a:r>
              <a:rPr b="1" baseline="30000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7128406" y="2376006"/>
            <a:ext cx="164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   At least one angle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is more than 180</a:t>
            </a:r>
            <a:r>
              <a:rPr b="1" baseline="30000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-6" y="628993"/>
            <a:ext cx="33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Can you recall what do we call such polygons?</a:t>
            </a:r>
            <a:endParaRPr b="1" sz="1200">
              <a:solidFill>
                <a:srgbClr val="EAD1D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364025" y="3811261"/>
            <a:ext cx="164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REGULAR POLYGONS</a:t>
            </a:r>
            <a:endParaRPr b="1" sz="11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2463369" y="3814120"/>
            <a:ext cx="186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IRREGULAR POLYGONS</a:t>
            </a:r>
            <a:endParaRPr b="1" sz="11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4" name="Google Shape;244;p29"/>
          <p:cNvCxnSpPr>
            <a:stCxn id="233" idx="2"/>
            <a:endCxn id="234" idx="0"/>
          </p:cNvCxnSpPr>
          <p:nvPr/>
        </p:nvCxnSpPr>
        <p:spPr>
          <a:xfrm flipH="1">
            <a:off x="2298475" y="548225"/>
            <a:ext cx="2085900" cy="759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" name="Google Shape;245;p29"/>
          <p:cNvCxnSpPr>
            <a:stCxn id="233" idx="2"/>
          </p:cNvCxnSpPr>
          <p:nvPr/>
        </p:nvCxnSpPr>
        <p:spPr>
          <a:xfrm>
            <a:off x="4384375" y="548225"/>
            <a:ext cx="2048100" cy="789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" name="Google Shape;246;p29"/>
          <p:cNvCxnSpPr>
            <a:endCxn id="237" idx="0"/>
          </p:cNvCxnSpPr>
          <p:nvPr/>
        </p:nvCxnSpPr>
        <p:spPr>
          <a:xfrm flipH="1">
            <a:off x="1090700" y="1629575"/>
            <a:ext cx="1058700" cy="759000"/>
          </a:xfrm>
          <a:prstGeom prst="straightConnector1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" name="Google Shape;247;p29"/>
          <p:cNvCxnSpPr/>
          <p:nvPr/>
        </p:nvCxnSpPr>
        <p:spPr>
          <a:xfrm>
            <a:off x="2146075" y="1614252"/>
            <a:ext cx="1175700" cy="799800"/>
          </a:xfrm>
          <a:prstGeom prst="straightConnector1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" name="Google Shape;248;p29"/>
          <p:cNvCxnSpPr>
            <a:endCxn id="239" idx="0"/>
          </p:cNvCxnSpPr>
          <p:nvPr/>
        </p:nvCxnSpPr>
        <p:spPr>
          <a:xfrm flipH="1">
            <a:off x="5737850" y="1677215"/>
            <a:ext cx="1005600" cy="709500"/>
          </a:xfrm>
          <a:prstGeom prst="straightConnector1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" name="Google Shape;249;p29"/>
          <p:cNvCxnSpPr/>
          <p:nvPr/>
        </p:nvCxnSpPr>
        <p:spPr>
          <a:xfrm>
            <a:off x="6743535" y="1677256"/>
            <a:ext cx="1118100" cy="699600"/>
          </a:xfrm>
          <a:prstGeom prst="straightConnector1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0" name="Google Shape;250;p29"/>
          <p:cNvSpPr txBox="1"/>
          <p:nvPr/>
        </p:nvSpPr>
        <p:spPr>
          <a:xfrm>
            <a:off x="5123837" y="3797963"/>
            <a:ext cx="158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CONVEX POLYGON</a:t>
            </a:r>
            <a:endParaRPr b="1" sz="11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7372100" y="3802650"/>
            <a:ext cx="158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CONCAVE POLYGON</a:t>
            </a:r>
            <a:endParaRPr b="1" sz="11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2" name="Google Shape;252;p29"/>
          <p:cNvPicPr preferRelativeResize="0"/>
          <p:nvPr/>
        </p:nvPicPr>
        <p:blipFill rotWithShape="1">
          <a:blip r:embed="rId3">
            <a:alphaModFix/>
          </a:blip>
          <a:srcRect b="9332" l="0" r="50879" t="23336"/>
          <a:stretch/>
        </p:blipFill>
        <p:spPr>
          <a:xfrm>
            <a:off x="5482548" y="2957225"/>
            <a:ext cx="1058700" cy="89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 rotWithShape="1">
          <a:blip r:embed="rId3">
            <a:alphaModFix/>
          </a:blip>
          <a:srcRect b="9991" l="48522" r="0" t="22677"/>
          <a:stretch/>
        </p:blipFill>
        <p:spPr>
          <a:xfrm>
            <a:off x="7523200" y="2957347"/>
            <a:ext cx="1151899" cy="89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29"/>
          <p:cNvGrpSpPr/>
          <p:nvPr/>
        </p:nvGrpSpPr>
        <p:grpSpPr>
          <a:xfrm>
            <a:off x="5452917" y="2870449"/>
            <a:ext cx="1151918" cy="1008697"/>
            <a:chOff x="2238556" y="2924244"/>
            <a:chExt cx="1580135" cy="1284801"/>
          </a:xfrm>
        </p:grpSpPr>
        <p:sp>
          <p:nvSpPr>
            <p:cNvPr id="255" name="Google Shape;255;p29"/>
            <p:cNvSpPr/>
            <p:nvPr/>
          </p:nvSpPr>
          <p:spPr>
            <a:xfrm rot="4373836">
              <a:off x="2826181" y="2955695"/>
              <a:ext cx="228505" cy="206497"/>
            </a:xfrm>
            <a:prstGeom prst="pie">
              <a:avLst>
                <a:gd fmla="val 18970912" name="adj1"/>
                <a:gd fmla="val 4201611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 rot="-676013">
              <a:off x="2253692" y="3342354"/>
              <a:ext cx="234928" cy="200739"/>
            </a:xfrm>
            <a:prstGeom prst="pie">
              <a:avLst>
                <a:gd fmla="val 20157593" name="adj1"/>
                <a:gd fmla="val 5238722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 rot="-5517716">
              <a:off x="2421424" y="3991695"/>
              <a:ext cx="227834" cy="207000"/>
            </a:xfrm>
            <a:prstGeom prst="pie">
              <a:avLst>
                <a:gd fmla="val 20847420" name="adj1"/>
                <a:gd fmla="val 4749931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9"/>
            <p:cNvSpPr/>
            <p:nvPr/>
          </p:nvSpPr>
          <p:spPr>
            <a:xfrm rot="7581732">
              <a:off x="3553126" y="3343354"/>
              <a:ext cx="230229" cy="204604"/>
            </a:xfrm>
            <a:prstGeom prst="pie">
              <a:avLst>
                <a:gd fmla="val 20300289" name="adj1"/>
                <a:gd fmla="val 4857797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 flipH="1" rot="5517716">
              <a:off x="3432364" y="3789440"/>
              <a:ext cx="227834" cy="207000"/>
            </a:xfrm>
            <a:prstGeom prst="pie">
              <a:avLst>
                <a:gd fmla="val 20723020" name="adj1"/>
                <a:gd fmla="val 6060662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" name="Google Shape;260;p29"/>
          <p:cNvGrpSpPr/>
          <p:nvPr/>
        </p:nvGrpSpPr>
        <p:grpSpPr>
          <a:xfrm>
            <a:off x="7551016" y="2974475"/>
            <a:ext cx="1112238" cy="853872"/>
            <a:chOff x="2311151" y="2846696"/>
            <a:chExt cx="1839322" cy="1730237"/>
          </a:xfrm>
        </p:grpSpPr>
        <p:sp>
          <p:nvSpPr>
            <p:cNvPr id="261" name="Google Shape;261;p29"/>
            <p:cNvSpPr/>
            <p:nvPr/>
          </p:nvSpPr>
          <p:spPr>
            <a:xfrm rot="6200850">
              <a:off x="3502975" y="2901139"/>
              <a:ext cx="230013" cy="210914"/>
            </a:xfrm>
            <a:prstGeom prst="pie">
              <a:avLst>
                <a:gd fmla="val 19400181" name="adj1"/>
                <a:gd fmla="val 361957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 rot="-676013">
              <a:off x="2610600" y="3097346"/>
              <a:ext cx="234928" cy="200739"/>
            </a:xfrm>
            <a:prstGeom prst="pie">
              <a:avLst>
                <a:gd fmla="val 21450061" name="adj1"/>
                <a:gd fmla="val 7034636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 rot="-5517716">
              <a:off x="2304634" y="4312561"/>
              <a:ext cx="227834" cy="207000"/>
            </a:xfrm>
            <a:prstGeom prst="pie">
              <a:avLst>
                <a:gd fmla="val 748467" name="adj1"/>
                <a:gd fmla="val 4137578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 rot="-9775997">
              <a:off x="3934937" y="4317630"/>
              <a:ext cx="210573" cy="228807"/>
            </a:xfrm>
            <a:prstGeom prst="pie">
              <a:avLst>
                <a:gd fmla="val 361573" name="adj1"/>
                <a:gd fmla="val 4215762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 flipH="1" rot="7097406">
              <a:off x="3106004" y="3943608"/>
              <a:ext cx="218384" cy="217099"/>
            </a:xfrm>
            <a:prstGeom prst="pie">
              <a:avLst>
                <a:gd fmla="val 16853499" name="adj1"/>
                <a:gd fmla="val 8610345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29"/>
          <p:cNvSpPr txBox="1"/>
          <p:nvPr/>
        </p:nvSpPr>
        <p:spPr>
          <a:xfrm>
            <a:off x="6164332" y="661235"/>
            <a:ext cx="288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Our syllabus only has Convex Polygons</a:t>
            </a:r>
            <a:endParaRPr b="1" sz="1200">
              <a:solidFill>
                <a:srgbClr val="EAD1D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612421" y="3039578"/>
            <a:ext cx="1022400" cy="6996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2799643" y="3038329"/>
            <a:ext cx="1022400" cy="699600"/>
          </a:xfrm>
          <a:prstGeom prst="triangle">
            <a:avLst>
              <a:gd fmla="val 82241" name="adj"/>
            </a:avLst>
          </a:prstGeom>
          <a:noFill/>
          <a:ln cap="flat" cmpd="sng" w="19050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9" name="Google Shape;269;p29"/>
          <p:cNvGrpSpPr/>
          <p:nvPr/>
        </p:nvGrpSpPr>
        <p:grpSpPr>
          <a:xfrm>
            <a:off x="829556" y="3301152"/>
            <a:ext cx="619891" cy="511132"/>
            <a:chOff x="829556" y="3301152"/>
            <a:chExt cx="619891" cy="511132"/>
          </a:xfrm>
        </p:grpSpPr>
        <p:cxnSp>
          <p:nvCxnSpPr>
            <p:cNvPr id="270" name="Google Shape;270;p29"/>
            <p:cNvCxnSpPr/>
            <p:nvPr/>
          </p:nvCxnSpPr>
          <p:spPr>
            <a:xfrm flipH="1" rot="10800000">
              <a:off x="1300947" y="3317966"/>
              <a:ext cx="148500" cy="105300"/>
            </a:xfrm>
            <a:prstGeom prst="straightConnector1">
              <a:avLst/>
            </a:prstGeom>
            <a:noFill/>
            <a:ln cap="flat" cmpd="sng" w="19050">
              <a:solidFill>
                <a:srgbClr val="00FF1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29"/>
            <p:cNvCxnSpPr/>
            <p:nvPr/>
          </p:nvCxnSpPr>
          <p:spPr>
            <a:xfrm flipH="1" rot="-5400000">
              <a:off x="807956" y="3322752"/>
              <a:ext cx="148500" cy="105300"/>
            </a:xfrm>
            <a:prstGeom prst="straightConnector1">
              <a:avLst/>
            </a:prstGeom>
            <a:noFill/>
            <a:ln cap="flat" cmpd="sng" w="19050">
              <a:solidFill>
                <a:srgbClr val="00FF1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29"/>
            <p:cNvCxnSpPr/>
            <p:nvPr/>
          </p:nvCxnSpPr>
          <p:spPr>
            <a:xfrm>
              <a:off x="1128794" y="3657784"/>
              <a:ext cx="0" cy="154500"/>
            </a:xfrm>
            <a:prstGeom prst="straightConnector1">
              <a:avLst/>
            </a:prstGeom>
            <a:noFill/>
            <a:ln cap="flat" cmpd="sng" w="19050">
              <a:solidFill>
                <a:srgbClr val="00FF1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3" name="Google Shape;273;p29"/>
          <p:cNvGrpSpPr/>
          <p:nvPr/>
        </p:nvGrpSpPr>
        <p:grpSpPr>
          <a:xfrm>
            <a:off x="3141243" y="3243536"/>
            <a:ext cx="663970" cy="553961"/>
            <a:chOff x="3141243" y="3243536"/>
            <a:chExt cx="663970" cy="553961"/>
          </a:xfrm>
        </p:grpSpPr>
        <p:grpSp>
          <p:nvGrpSpPr>
            <p:cNvPr id="274" name="Google Shape;274;p29"/>
            <p:cNvGrpSpPr/>
            <p:nvPr/>
          </p:nvGrpSpPr>
          <p:grpSpPr>
            <a:xfrm>
              <a:off x="3141243" y="3286365"/>
              <a:ext cx="619891" cy="511132"/>
              <a:chOff x="829556" y="3301152"/>
              <a:chExt cx="619891" cy="511132"/>
            </a:xfrm>
          </p:grpSpPr>
          <p:cxnSp>
            <p:nvCxnSpPr>
              <p:cNvPr id="275" name="Google Shape;275;p29"/>
              <p:cNvCxnSpPr/>
              <p:nvPr/>
            </p:nvCxnSpPr>
            <p:spPr>
              <a:xfrm flipH="1" rot="10800000">
                <a:off x="1300947" y="3317966"/>
                <a:ext cx="148500" cy="105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FF1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" name="Google Shape;276;p29"/>
              <p:cNvCxnSpPr/>
              <p:nvPr/>
            </p:nvCxnSpPr>
            <p:spPr>
              <a:xfrm flipH="1" rot="-5400000">
                <a:off x="807956" y="3322752"/>
                <a:ext cx="148500" cy="105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FF1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" name="Google Shape;277;p29"/>
              <p:cNvCxnSpPr/>
              <p:nvPr/>
            </p:nvCxnSpPr>
            <p:spPr>
              <a:xfrm>
                <a:off x="1128794" y="3657784"/>
                <a:ext cx="0" cy="154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FF1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78" name="Google Shape;278;p29"/>
            <p:cNvCxnSpPr/>
            <p:nvPr/>
          </p:nvCxnSpPr>
          <p:spPr>
            <a:xfrm flipH="1" rot="10800000">
              <a:off x="3656713" y="3336549"/>
              <a:ext cx="148500" cy="105300"/>
            </a:xfrm>
            <a:prstGeom prst="straightConnector1">
              <a:avLst/>
            </a:prstGeom>
            <a:noFill/>
            <a:ln cap="flat" cmpd="sng" w="19050">
              <a:solidFill>
                <a:srgbClr val="00FF1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29"/>
            <p:cNvCxnSpPr/>
            <p:nvPr/>
          </p:nvCxnSpPr>
          <p:spPr>
            <a:xfrm flipH="1" rot="-5400000">
              <a:off x="3162472" y="3286550"/>
              <a:ext cx="148500" cy="105300"/>
            </a:xfrm>
            <a:prstGeom prst="straightConnector1">
              <a:avLst/>
            </a:prstGeom>
            <a:noFill/>
            <a:ln cap="flat" cmpd="sng" w="19050">
              <a:solidFill>
                <a:srgbClr val="00FF1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29"/>
            <p:cNvCxnSpPr/>
            <p:nvPr/>
          </p:nvCxnSpPr>
          <p:spPr>
            <a:xfrm flipH="1" rot="-5400000">
              <a:off x="3216008" y="3265136"/>
              <a:ext cx="148500" cy="105300"/>
            </a:xfrm>
            <a:prstGeom prst="straightConnector1">
              <a:avLst/>
            </a:prstGeom>
            <a:noFill/>
            <a:ln cap="flat" cmpd="sng" w="19050">
              <a:solidFill>
                <a:srgbClr val="00FF1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1" name="Google Shape;281;p29"/>
          <p:cNvGrpSpPr/>
          <p:nvPr/>
        </p:nvGrpSpPr>
        <p:grpSpPr>
          <a:xfrm>
            <a:off x="518943" y="2943649"/>
            <a:ext cx="1209218" cy="904217"/>
            <a:chOff x="518943" y="2943649"/>
            <a:chExt cx="1209218" cy="904217"/>
          </a:xfrm>
        </p:grpSpPr>
        <p:sp>
          <p:nvSpPr>
            <p:cNvPr id="282" name="Google Shape;282;p29"/>
            <p:cNvSpPr/>
            <p:nvPr/>
          </p:nvSpPr>
          <p:spPr>
            <a:xfrm rot="3370276">
              <a:off x="1037665" y="2977032"/>
              <a:ext cx="171902" cy="157333"/>
            </a:xfrm>
            <a:prstGeom prst="pie">
              <a:avLst>
                <a:gd fmla="val 21401105" name="adj1"/>
                <a:gd fmla="val 4081698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 rot="-3353613">
              <a:off x="544223" y="3651007"/>
              <a:ext cx="171740" cy="157320"/>
            </a:xfrm>
            <a:prstGeom prst="pie">
              <a:avLst>
                <a:gd fmla="val 116603" name="adj1"/>
                <a:gd fmla="val 3318416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 flipH="1" rot="3353613">
              <a:off x="1531140" y="3650901"/>
              <a:ext cx="171740" cy="157320"/>
            </a:xfrm>
            <a:prstGeom prst="pie">
              <a:avLst>
                <a:gd fmla="val 116603" name="adj1"/>
                <a:gd fmla="val 3318416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2728339" y="2940858"/>
            <a:ext cx="1195183" cy="904135"/>
            <a:chOff x="2728339" y="2940858"/>
            <a:chExt cx="1195183" cy="904135"/>
          </a:xfrm>
        </p:grpSpPr>
        <p:sp>
          <p:nvSpPr>
            <p:cNvPr id="286" name="Google Shape;286;p29"/>
            <p:cNvSpPr/>
            <p:nvPr/>
          </p:nvSpPr>
          <p:spPr>
            <a:xfrm flipH="1" rot="-2823179">
              <a:off x="3549213" y="2975909"/>
              <a:ext cx="171725" cy="157299"/>
            </a:xfrm>
            <a:prstGeom prst="pie">
              <a:avLst>
                <a:gd fmla="val 21156614" name="adj1"/>
                <a:gd fmla="val 3407198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9"/>
            <p:cNvSpPr/>
            <p:nvPr/>
          </p:nvSpPr>
          <p:spPr>
            <a:xfrm flipH="1" rot="10475288">
              <a:off x="2739056" y="3650787"/>
              <a:ext cx="171766" cy="157275"/>
            </a:xfrm>
            <a:prstGeom prst="pie">
              <a:avLst>
                <a:gd fmla="val 21275328" name="adj1"/>
                <a:gd fmla="val 2074485" name="adj2"/>
              </a:avLst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 flipH="1" rot="2253017">
              <a:off x="3724526" y="3649497"/>
              <a:ext cx="171792" cy="157293"/>
            </a:xfrm>
            <a:prstGeom prst="pie">
              <a:avLst>
                <a:gd fmla="val 19314407" name="adj1"/>
                <a:gd fmla="val 2257322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9"/>
          <p:cNvSpPr txBox="1"/>
          <p:nvPr/>
        </p:nvSpPr>
        <p:spPr>
          <a:xfrm>
            <a:off x="2298950" y="4148525"/>
            <a:ext cx="288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Its all sides are not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interior angles are not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exterior angles are not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/>
          <p:nvPr/>
        </p:nvSpPr>
        <p:spPr>
          <a:xfrm>
            <a:off x="4931099" y="1277900"/>
            <a:ext cx="2767500" cy="5982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ato"/>
                <a:ea typeface="Lato"/>
                <a:cs typeface="Lato"/>
                <a:sym typeface="Lato"/>
              </a:rPr>
              <a:t>1.  Diagonals of a Polygon</a:t>
            </a:r>
            <a:endParaRPr b="1"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4931099" y="2040330"/>
            <a:ext cx="2767500" cy="658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ato"/>
                <a:ea typeface="Lato"/>
                <a:cs typeface="Lato"/>
                <a:sym typeface="Lato"/>
              </a:rPr>
              <a:t>2.  Interior angles of a Polygon</a:t>
            </a:r>
            <a:endParaRPr b="1" sz="1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6" name="Google Shape;296;p30"/>
          <p:cNvPicPr preferRelativeResize="0"/>
          <p:nvPr/>
        </p:nvPicPr>
        <p:blipFill rotWithShape="1">
          <a:blip r:embed="rId3">
            <a:alphaModFix/>
          </a:blip>
          <a:srcRect b="6985" l="0" r="0" t="0"/>
          <a:stretch/>
        </p:blipFill>
        <p:spPr>
          <a:xfrm>
            <a:off x="229275" y="757526"/>
            <a:ext cx="2360615" cy="298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0"/>
          <p:cNvSpPr txBox="1"/>
          <p:nvPr/>
        </p:nvSpPr>
        <p:spPr>
          <a:xfrm>
            <a:off x="2808075" y="818700"/>
            <a:ext cx="20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this chapter ‘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Polygons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’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4512474" y="810200"/>
            <a:ext cx="3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 need to learn 4 things to solve the problems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4906702" y="2868349"/>
            <a:ext cx="2767500" cy="6582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lang="en-GB" sz="1200">
                <a:latin typeface="Lato"/>
                <a:ea typeface="Lato"/>
                <a:cs typeface="Lato"/>
                <a:sym typeface="Lato"/>
              </a:rPr>
              <a:t>.  Exterior angles of a Polygon</a:t>
            </a:r>
            <a:endParaRPr b="1"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1078350" y="4288500"/>
            <a:ext cx="37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is one of the easier chapters of grade 8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1090257" y="4549344"/>
            <a:ext cx="31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you’ll master these, all marks are yours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1910499" y="4774205"/>
            <a:ext cx="13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get started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1195115" y="233993"/>
            <a:ext cx="556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have already learnt about </a:t>
            </a:r>
            <a:r>
              <a:rPr b="1"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1"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ides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Vertices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of Polygons in earlier grades.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4906701" y="3674425"/>
            <a:ext cx="2791800" cy="658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ato"/>
                <a:ea typeface="Lato"/>
                <a:cs typeface="Lato"/>
                <a:sym typeface="Lato"/>
              </a:rPr>
              <a:t>4</a:t>
            </a:r>
            <a:r>
              <a:rPr b="1" lang="en-GB" sz="1200">
                <a:latin typeface="Lato"/>
                <a:ea typeface="Lato"/>
                <a:cs typeface="Lato"/>
                <a:sym typeface="Lato"/>
              </a:rPr>
              <a:t>.  Relationship between Interior and corresponding Exterior angle</a:t>
            </a:r>
            <a:endParaRPr b="1" sz="1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/>
          <p:nvPr/>
        </p:nvSpPr>
        <p:spPr>
          <a:xfrm>
            <a:off x="2107379" y="4529164"/>
            <a:ext cx="4620000" cy="5316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533600" y="1803150"/>
            <a:ext cx="1188600" cy="10662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2660500" y="1837975"/>
            <a:ext cx="1554900" cy="1066200"/>
          </a:xfrm>
          <a:prstGeom prst="trapezoid">
            <a:avLst>
              <a:gd fmla="val 25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5198200" y="1849369"/>
            <a:ext cx="1294500" cy="10662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7363725" y="1849419"/>
            <a:ext cx="1229400" cy="1066200"/>
          </a:xfrm>
          <a:prstGeom prst="hexagon">
            <a:avLst>
              <a:gd fmla="val 28852" name="adj"/>
              <a:gd fmla="val 115470" name="vf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560500" y="1336775"/>
            <a:ext cx="108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1A957"/>
                </a:solidFill>
                <a:latin typeface="Lato"/>
                <a:ea typeface="Lato"/>
                <a:cs typeface="Lato"/>
                <a:sym typeface="Lato"/>
              </a:rPr>
              <a:t>Triangle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304800" y="3023175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Diagonals:  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1572448" y="3030150"/>
            <a:ext cx="34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31"/>
          <p:cNvSpPr txBox="1"/>
          <p:nvPr/>
        </p:nvSpPr>
        <p:spPr>
          <a:xfrm>
            <a:off x="2873204" y="1371600"/>
            <a:ext cx="108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1A957"/>
                </a:solidFill>
                <a:latin typeface="Lato"/>
                <a:ea typeface="Lato"/>
                <a:cs typeface="Lato"/>
                <a:sym typeface="Lato"/>
              </a:rPr>
              <a:t>Quadrilateral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2656700" y="3058000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Diagonals:  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9" name="Google Shape;319;p31"/>
          <p:cNvCxnSpPr/>
          <p:nvPr/>
        </p:nvCxnSpPr>
        <p:spPr>
          <a:xfrm flipH="1" rot="10800000">
            <a:off x="2670250" y="1855725"/>
            <a:ext cx="1278300" cy="105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1"/>
          <p:cNvCxnSpPr/>
          <p:nvPr/>
        </p:nvCxnSpPr>
        <p:spPr>
          <a:xfrm>
            <a:off x="2926050" y="1848425"/>
            <a:ext cx="1282800" cy="1057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31"/>
          <p:cNvSpPr txBox="1"/>
          <p:nvPr/>
        </p:nvSpPr>
        <p:spPr>
          <a:xfrm>
            <a:off x="3952100" y="3064975"/>
            <a:ext cx="160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5274600" y="1383044"/>
            <a:ext cx="108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1A957"/>
                </a:solidFill>
                <a:latin typeface="Lato"/>
                <a:ea typeface="Lato"/>
                <a:cs typeface="Lato"/>
                <a:sym typeface="Lato"/>
              </a:rPr>
              <a:t>Pentagon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5018900" y="3069444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Diagonals:  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4" name="Google Shape;324;p31"/>
          <p:cNvCxnSpPr>
            <a:stCxn id="312" idx="2"/>
            <a:endCxn id="312" idx="0"/>
          </p:cNvCxnSpPr>
          <p:nvPr/>
        </p:nvCxnSpPr>
        <p:spPr>
          <a:xfrm flipH="1" rot="10800000">
            <a:off x="5445428" y="1849366"/>
            <a:ext cx="399900" cy="1066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1"/>
          <p:cNvCxnSpPr>
            <a:stCxn id="312" idx="2"/>
            <a:endCxn id="312" idx="5"/>
          </p:cNvCxnSpPr>
          <p:nvPr/>
        </p:nvCxnSpPr>
        <p:spPr>
          <a:xfrm flipH="1" rot="10800000">
            <a:off x="5445428" y="2256766"/>
            <a:ext cx="1047300" cy="658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1"/>
          <p:cNvCxnSpPr>
            <a:stCxn id="312" idx="4"/>
            <a:endCxn id="312" idx="1"/>
          </p:cNvCxnSpPr>
          <p:nvPr/>
        </p:nvCxnSpPr>
        <p:spPr>
          <a:xfrm rot="10800000">
            <a:off x="5198172" y="2256766"/>
            <a:ext cx="1047300" cy="658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1"/>
          <p:cNvCxnSpPr>
            <a:stCxn id="312" idx="4"/>
          </p:cNvCxnSpPr>
          <p:nvPr/>
        </p:nvCxnSpPr>
        <p:spPr>
          <a:xfrm rot="10800000">
            <a:off x="5845572" y="1849366"/>
            <a:ext cx="399900" cy="1066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1"/>
          <p:cNvCxnSpPr>
            <a:stCxn id="312" idx="1"/>
            <a:endCxn id="312" idx="5"/>
          </p:cNvCxnSpPr>
          <p:nvPr/>
        </p:nvCxnSpPr>
        <p:spPr>
          <a:xfrm>
            <a:off x="5198201" y="2256620"/>
            <a:ext cx="1294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31"/>
          <p:cNvSpPr txBox="1"/>
          <p:nvPr/>
        </p:nvSpPr>
        <p:spPr>
          <a:xfrm>
            <a:off x="6314300" y="3076419"/>
            <a:ext cx="160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7408200" y="1383044"/>
            <a:ext cx="108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1A957"/>
                </a:solidFill>
                <a:latin typeface="Lato"/>
                <a:ea typeface="Lato"/>
                <a:cs typeface="Lato"/>
                <a:sym typeface="Lato"/>
              </a:rPr>
              <a:t>Hexagon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7152500" y="3069444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Diagonals:  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2" name="Google Shape;332;p31"/>
          <p:cNvCxnSpPr>
            <a:stCxn id="313" idx="2"/>
            <a:endCxn id="313" idx="4"/>
          </p:cNvCxnSpPr>
          <p:nvPr/>
        </p:nvCxnSpPr>
        <p:spPr>
          <a:xfrm rot="10800000">
            <a:off x="7671345" y="1849418"/>
            <a:ext cx="0" cy="1066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1"/>
          <p:cNvCxnSpPr>
            <a:stCxn id="313" idx="2"/>
          </p:cNvCxnSpPr>
          <p:nvPr/>
        </p:nvCxnSpPr>
        <p:spPr>
          <a:xfrm flipH="1" rot="10800000">
            <a:off x="7671345" y="1834718"/>
            <a:ext cx="591900" cy="1080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1"/>
          <p:cNvCxnSpPr>
            <a:stCxn id="313" idx="2"/>
          </p:cNvCxnSpPr>
          <p:nvPr/>
        </p:nvCxnSpPr>
        <p:spPr>
          <a:xfrm flipH="1" rot="10800000">
            <a:off x="7671345" y="2382518"/>
            <a:ext cx="921900" cy="533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1"/>
          <p:cNvCxnSpPr>
            <a:stCxn id="313" idx="1"/>
          </p:cNvCxnSpPr>
          <p:nvPr/>
        </p:nvCxnSpPr>
        <p:spPr>
          <a:xfrm rot="10800000">
            <a:off x="7363605" y="2382518"/>
            <a:ext cx="921900" cy="533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31"/>
          <p:cNvCxnSpPr>
            <a:stCxn id="313" idx="1"/>
          </p:cNvCxnSpPr>
          <p:nvPr/>
        </p:nvCxnSpPr>
        <p:spPr>
          <a:xfrm rot="10800000">
            <a:off x="7671405" y="1849418"/>
            <a:ext cx="614100" cy="1066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1"/>
          <p:cNvCxnSpPr>
            <a:stCxn id="313" idx="1"/>
          </p:cNvCxnSpPr>
          <p:nvPr/>
        </p:nvCxnSpPr>
        <p:spPr>
          <a:xfrm rot="10800000">
            <a:off x="8285505" y="1849418"/>
            <a:ext cx="0" cy="1066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1"/>
          <p:cNvCxnSpPr>
            <a:stCxn id="313" idx="3"/>
          </p:cNvCxnSpPr>
          <p:nvPr/>
        </p:nvCxnSpPr>
        <p:spPr>
          <a:xfrm flipH="1" rot="10800000">
            <a:off x="7363725" y="1850919"/>
            <a:ext cx="915600" cy="531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31"/>
          <p:cNvCxnSpPr>
            <a:stCxn id="313" idx="3"/>
            <a:endCxn id="313" idx="0"/>
          </p:cNvCxnSpPr>
          <p:nvPr/>
        </p:nvCxnSpPr>
        <p:spPr>
          <a:xfrm>
            <a:off x="7363725" y="2382519"/>
            <a:ext cx="122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1"/>
          <p:cNvCxnSpPr>
            <a:stCxn id="313" idx="0"/>
            <a:endCxn id="313" idx="4"/>
          </p:cNvCxnSpPr>
          <p:nvPr/>
        </p:nvCxnSpPr>
        <p:spPr>
          <a:xfrm rot="10800000">
            <a:off x="7671225" y="1849419"/>
            <a:ext cx="921900" cy="533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1"/>
          <p:cNvSpPr txBox="1"/>
          <p:nvPr/>
        </p:nvSpPr>
        <p:spPr>
          <a:xfrm>
            <a:off x="8447900" y="3076419"/>
            <a:ext cx="160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4961700" y="3612075"/>
            <a:ext cx="1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 30-sided polygon?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241100" y="919022"/>
            <a:ext cx="31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look at diagonals of some polygons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3330325" y="120272"/>
            <a:ext cx="1517100" cy="369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ato"/>
                <a:ea typeface="Lato"/>
                <a:cs typeface="Lato"/>
                <a:sym typeface="Lato"/>
              </a:rPr>
              <a:t>Diagonals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2941599" y="919025"/>
            <a:ext cx="26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tarting with the least sided polygon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464125" y="3615199"/>
            <a:ext cx="476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Can you find how many diagonals will be there in 15-sided polygon?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6439190" y="3609649"/>
            <a:ext cx="1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 99-sided polygon?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2808748" y="399821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Tricky, right?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3722388" y="3998213"/>
            <a:ext cx="24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if there was a formula?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2225129" y="4600072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n-sided polygon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3854201" y="4600072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 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diagonals      =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font&quot;:{&quot;size&quot;:12,&quot;family&quot;:&quot;Arial&quot;,&quot;color&quot;:&quot;#ffffff&quot;},&quot;type&quot;:&quot;$$&quot;,&quot;id&quot;:&quot;12&quot;,&quot;code&quot;:&quot;$$\\c{ffeb3b}{\\frac{\\text{n(n-3)}}{2}}$$&quot;,&quot;aid&quot;:null,&quot;ts&quot;:1717229668832,&quot;cs&quot;:&quot;D1wc2gBFyvNpjE6FPfjjxQ==&quot;,&quot;size&quot;:{&quot;width&quot;:55,&quot;height&quot;:40.333333333333336}}" id="352" name="Google Shape;3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965" y="4603345"/>
            <a:ext cx="523875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1"/>
          <p:cNvSpPr txBox="1"/>
          <p:nvPr/>
        </p:nvSpPr>
        <p:spPr>
          <a:xfrm>
            <a:off x="249532" y="621367"/>
            <a:ext cx="218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recall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 diagonal is.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2242624" y="621375"/>
            <a:ext cx="52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Diagonal is a 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line segment joining non-adjacent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(non neighbouring)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vertices.</a:t>
            </a:r>
            <a:endParaRPr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/>
          <p:nvPr/>
        </p:nvSpPr>
        <p:spPr>
          <a:xfrm>
            <a:off x="142100" y="344746"/>
            <a:ext cx="20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verify this formula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1913628" y="1133673"/>
            <a:ext cx="1188600" cy="10662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32"/>
          <p:cNvSpPr txBox="1"/>
          <p:nvPr/>
        </p:nvSpPr>
        <p:spPr>
          <a:xfrm>
            <a:off x="-65422" y="1482125"/>
            <a:ext cx="155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1A957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rgbClr val="F1A957"/>
                </a:solidFill>
                <a:latin typeface="Lato"/>
                <a:ea typeface="Lato"/>
                <a:cs typeface="Lato"/>
                <a:sym typeface="Lato"/>
              </a:rPr>
              <a:t>Triangle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3578150" y="1229200"/>
            <a:ext cx="18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vertices (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3578150" y="1610200"/>
            <a:ext cx="187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 diagonals     =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font&quot;:{&quot;size&quot;:12,&quot;family&quot;:&quot;Arial&quot;,&quot;color&quot;:&quot;#ffffff&quot;},&quot;type&quot;:&quot;$$&quot;,&quot;id&quot;:&quot;12&quot;,&quot;code&quot;:&quot;$$\\c{ffeb3b}{\\frac{\\text{n(n-3)}}{2}}$$&quot;,&quot;aid&quot;:null,&quot;ts&quot;:1717229668832,&quot;cs&quot;:&quot;D1wc2gBFyvNpjE6FPfjjxQ==&quot;,&quot;size&quot;:{&quot;width&quot;:55,&quot;height&quot;:40.333333333333336}}" id="364" name="Google Shape;3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758" y="1610563"/>
            <a:ext cx="523875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12,&quot;color&quot;:&quot;#ffffff&quot;},&quot;id&quot;:&quot;12&quot;,&quot;backgroundColor&quot;:&quot;#000000&quot;,&quot;code&quot;:&quot;$$\\c{ffeb3b}{=}\\c{ffeb3b}{\\frac{\\text{3(3-3)}}{2}=\\,0}$$&quot;,&quot;type&quot;:&quot;$$&quot;,&quot;aid&quot;:null,&quot;ts&quot;:1717230512861,&quot;cs&quot;:&quot;bSMSRCxdShagkcmhwR88JA==&quot;,&quot;size&quot;:{&quot;width&quot;:112.83333333333333,&quot;height&quot;:40.333333333333336}}" id="365" name="Google Shape;365;p32"/>
          <p:cNvPicPr preferRelativeResize="0"/>
          <p:nvPr/>
        </p:nvPicPr>
        <p:blipFill rotWithShape="1">
          <a:blip r:embed="rId4">
            <a:alphaModFix/>
          </a:blip>
          <a:srcRect b="0" l="0" r="28835" t="0"/>
          <a:stretch/>
        </p:blipFill>
        <p:spPr>
          <a:xfrm>
            <a:off x="6135552" y="1632825"/>
            <a:ext cx="764826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2"/>
          <p:cNvSpPr/>
          <p:nvPr/>
        </p:nvSpPr>
        <p:spPr>
          <a:xfrm>
            <a:off x="1773853" y="2505273"/>
            <a:ext cx="1554900" cy="1066200"/>
          </a:xfrm>
          <a:prstGeom prst="trapezoid">
            <a:avLst>
              <a:gd fmla="val 25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7" name="Google Shape;367;p32"/>
          <p:cNvSpPr txBox="1"/>
          <p:nvPr/>
        </p:nvSpPr>
        <p:spPr>
          <a:xfrm>
            <a:off x="119749" y="2776073"/>
            <a:ext cx="15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1A957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rgbClr val="F1A957"/>
                </a:solidFill>
                <a:latin typeface="Lato"/>
                <a:ea typeface="Lato"/>
                <a:cs typeface="Lato"/>
                <a:sym typeface="Lato"/>
              </a:rPr>
              <a:t>Quadrilateral</a:t>
            </a:r>
            <a:endParaRPr/>
          </a:p>
        </p:txBody>
      </p:sp>
      <p:cxnSp>
        <p:nvCxnSpPr>
          <p:cNvPr id="368" name="Google Shape;368;p32"/>
          <p:cNvCxnSpPr/>
          <p:nvPr/>
        </p:nvCxnSpPr>
        <p:spPr>
          <a:xfrm flipH="1" rot="10800000">
            <a:off x="1783603" y="2523023"/>
            <a:ext cx="1278300" cy="105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2"/>
          <p:cNvCxnSpPr/>
          <p:nvPr/>
        </p:nvCxnSpPr>
        <p:spPr>
          <a:xfrm>
            <a:off x="2039403" y="2515723"/>
            <a:ext cx="1282800" cy="1057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2"/>
          <p:cNvSpPr txBox="1"/>
          <p:nvPr/>
        </p:nvSpPr>
        <p:spPr>
          <a:xfrm>
            <a:off x="3578150" y="2600800"/>
            <a:ext cx="18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vertices (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32"/>
          <p:cNvSpPr txBox="1"/>
          <p:nvPr/>
        </p:nvSpPr>
        <p:spPr>
          <a:xfrm>
            <a:off x="3578153" y="2981800"/>
            <a:ext cx="18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 diagonals    =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font&quot;:{&quot;size&quot;:12,&quot;family&quot;:&quot;Arial&quot;,&quot;color&quot;:&quot;#ffffff&quot;},&quot;type&quot;:&quot;$$&quot;,&quot;id&quot;:&quot;12&quot;,&quot;code&quot;:&quot;$$\\c{ffeb3b}{\\frac{\\text{n(n-3)}}{2}}$$&quot;,&quot;aid&quot;:null,&quot;ts&quot;:1717229668832,&quot;cs&quot;:&quot;D1wc2gBFyvNpjE6FPfjjxQ==&quot;,&quot;size&quot;:{&quot;width&quot;:55,&quot;height&quot;:40.333333333333336}}" id="372" name="Google Shape;3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758" y="2982163"/>
            <a:ext cx="523875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2&quot;,&quot;backgroundColor&quot;:&quot;#000000&quot;,&quot;font&quot;:{&quot;color&quot;:&quot;#ffffff&quot;,&quot;family&quot;:&quot;Arial&quot;,&quot;size&quot;:12},&quot;code&quot;:&quot;$$\\c{ffeb3b}{=}\\c{ffeb3b}{\\frac{\\text{4(4-3)}}{2}=\\,2}$$&quot;,&quot;type&quot;:&quot;$$&quot;,&quot;aid&quot;:null,&quot;ts&quot;:1717230655442,&quot;cs&quot;:&quot;8occ6LBzE+0Z5qIO8B0UeA==&quot;,&quot;size&quot;:{&quot;width&quot;:112.66666666666667,&quot;height&quot;:40.333333333333336}}" id="373" name="Google Shape;373;p32"/>
          <p:cNvPicPr preferRelativeResize="0"/>
          <p:nvPr/>
        </p:nvPicPr>
        <p:blipFill rotWithShape="1">
          <a:blip r:embed="rId5">
            <a:alphaModFix/>
          </a:blip>
          <a:srcRect b="0" l="0" r="28729" t="0"/>
          <a:stretch/>
        </p:blipFill>
        <p:spPr>
          <a:xfrm>
            <a:off x="6136351" y="3004425"/>
            <a:ext cx="764825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2"/>
          <p:cNvSpPr/>
          <p:nvPr/>
        </p:nvSpPr>
        <p:spPr>
          <a:xfrm>
            <a:off x="1905078" y="3876873"/>
            <a:ext cx="1229400" cy="1066200"/>
          </a:xfrm>
          <a:prstGeom prst="hexagon">
            <a:avLst>
              <a:gd fmla="val 28852" name="adj"/>
              <a:gd fmla="val 115470" name="vf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32"/>
          <p:cNvSpPr txBox="1"/>
          <p:nvPr/>
        </p:nvSpPr>
        <p:spPr>
          <a:xfrm>
            <a:off x="-39895" y="4107024"/>
            <a:ext cx="157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1A957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rgbClr val="F1A957"/>
                </a:solidFill>
                <a:latin typeface="Lato"/>
                <a:ea typeface="Lato"/>
                <a:cs typeface="Lato"/>
                <a:sym typeface="Lato"/>
              </a:rPr>
              <a:t>Hexagon</a:t>
            </a:r>
            <a:endParaRPr/>
          </a:p>
        </p:txBody>
      </p:sp>
      <p:grpSp>
        <p:nvGrpSpPr>
          <p:cNvPr id="376" name="Google Shape;376;p32"/>
          <p:cNvGrpSpPr/>
          <p:nvPr/>
        </p:nvGrpSpPr>
        <p:grpSpPr>
          <a:xfrm>
            <a:off x="1904958" y="3862173"/>
            <a:ext cx="1229640" cy="1080900"/>
            <a:chOff x="1904958" y="3862173"/>
            <a:chExt cx="1229640" cy="1080900"/>
          </a:xfrm>
        </p:grpSpPr>
        <p:cxnSp>
          <p:nvCxnSpPr>
            <p:cNvPr id="377" name="Google Shape;377;p32"/>
            <p:cNvCxnSpPr>
              <a:stCxn id="374" idx="2"/>
              <a:endCxn id="374" idx="4"/>
            </p:cNvCxnSpPr>
            <p:nvPr/>
          </p:nvCxnSpPr>
          <p:spPr>
            <a:xfrm rot="10800000">
              <a:off x="2212698" y="3876873"/>
              <a:ext cx="0" cy="106620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32"/>
            <p:cNvCxnSpPr>
              <a:stCxn id="374" idx="2"/>
            </p:cNvCxnSpPr>
            <p:nvPr/>
          </p:nvCxnSpPr>
          <p:spPr>
            <a:xfrm flipH="1" rot="10800000">
              <a:off x="2212698" y="3862173"/>
              <a:ext cx="591900" cy="108090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32"/>
            <p:cNvCxnSpPr>
              <a:stCxn id="374" idx="2"/>
            </p:cNvCxnSpPr>
            <p:nvPr/>
          </p:nvCxnSpPr>
          <p:spPr>
            <a:xfrm flipH="1" rot="10800000">
              <a:off x="2212698" y="4409973"/>
              <a:ext cx="921900" cy="53310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32"/>
            <p:cNvCxnSpPr>
              <a:stCxn id="374" idx="1"/>
            </p:cNvCxnSpPr>
            <p:nvPr/>
          </p:nvCxnSpPr>
          <p:spPr>
            <a:xfrm rot="10800000">
              <a:off x="1904958" y="4409973"/>
              <a:ext cx="921900" cy="53310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32"/>
            <p:cNvCxnSpPr>
              <a:stCxn id="374" idx="1"/>
            </p:cNvCxnSpPr>
            <p:nvPr/>
          </p:nvCxnSpPr>
          <p:spPr>
            <a:xfrm rot="10800000">
              <a:off x="2212758" y="3876873"/>
              <a:ext cx="614100" cy="106620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32"/>
            <p:cNvCxnSpPr>
              <a:stCxn id="374" idx="1"/>
            </p:cNvCxnSpPr>
            <p:nvPr/>
          </p:nvCxnSpPr>
          <p:spPr>
            <a:xfrm rot="10800000">
              <a:off x="2826858" y="3876873"/>
              <a:ext cx="0" cy="106620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32"/>
            <p:cNvCxnSpPr>
              <a:stCxn id="374" idx="3"/>
            </p:cNvCxnSpPr>
            <p:nvPr/>
          </p:nvCxnSpPr>
          <p:spPr>
            <a:xfrm flipH="1" rot="10800000">
              <a:off x="1905078" y="3878373"/>
              <a:ext cx="915600" cy="53160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32"/>
            <p:cNvCxnSpPr>
              <a:stCxn id="374" idx="3"/>
              <a:endCxn id="374" idx="0"/>
            </p:cNvCxnSpPr>
            <p:nvPr/>
          </p:nvCxnSpPr>
          <p:spPr>
            <a:xfrm>
              <a:off x="1905078" y="4409973"/>
              <a:ext cx="122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32"/>
            <p:cNvCxnSpPr>
              <a:stCxn id="374" idx="0"/>
              <a:endCxn id="374" idx="4"/>
            </p:cNvCxnSpPr>
            <p:nvPr/>
          </p:nvCxnSpPr>
          <p:spPr>
            <a:xfrm rot="10800000">
              <a:off x="2212578" y="3876873"/>
              <a:ext cx="921900" cy="53310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6" name="Google Shape;386;p32"/>
          <p:cNvSpPr txBox="1"/>
          <p:nvPr/>
        </p:nvSpPr>
        <p:spPr>
          <a:xfrm>
            <a:off x="3578153" y="3972400"/>
            <a:ext cx="18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vertices (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32"/>
          <p:cNvSpPr txBox="1"/>
          <p:nvPr/>
        </p:nvSpPr>
        <p:spPr>
          <a:xfrm>
            <a:off x="3578153" y="4353400"/>
            <a:ext cx="187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 diagonals     =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font&quot;:{&quot;size&quot;:12,&quot;family&quot;:&quot;Arial&quot;,&quot;color&quot;:&quot;#ffffff&quot;},&quot;type&quot;:&quot;$$&quot;,&quot;id&quot;:&quot;12&quot;,&quot;code&quot;:&quot;$$\\c{ffeb3b}{\\frac{\\text{n(n-3)}}{2}}$$&quot;,&quot;aid&quot;:null,&quot;ts&quot;:1717229668832,&quot;cs&quot;:&quot;D1wc2gBFyvNpjE6FPfjjxQ==&quot;,&quot;size&quot;:{&quot;width&quot;:55,&quot;height&quot;:40.333333333333336}}" id="388" name="Google Shape;3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758" y="4353763"/>
            <a:ext cx="523875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code&quot;:&quot;$$\\c{ffeb3b}{=}\\c{ffeb3b}{\\frac{\\text{6(6-3)}}{2}=\\,9}$$&quot;,&quot;font&quot;:{&quot;color&quot;:&quot;#ffffff&quot;,&quot;size&quot;:12,&quot;family&quot;:&quot;Arial&quot;},&quot;backgroundColor&quot;:&quot;#000000&quot;,&quot;id&quot;:&quot;12&quot;,&quot;backgroundColorModified&quot;:false,&quot;ts&quot;:1717230889880,&quot;cs&quot;:&quot;i/rf1KGjlTU9rFy3Ouctgg==&quot;,&quot;size&quot;:{&quot;width&quot;:112.83333333333333,&quot;height&quot;:40.333333333333336}}" id="389" name="Google Shape;389;p32"/>
          <p:cNvPicPr preferRelativeResize="0"/>
          <p:nvPr/>
        </p:nvPicPr>
        <p:blipFill rotWithShape="1">
          <a:blip r:embed="rId6">
            <a:alphaModFix/>
          </a:blip>
          <a:srcRect b="0" l="0" r="28835" t="0"/>
          <a:stretch/>
        </p:blipFill>
        <p:spPr>
          <a:xfrm>
            <a:off x="6136351" y="4376300"/>
            <a:ext cx="764826" cy="384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32"/>
          <p:cNvGrpSpPr/>
          <p:nvPr/>
        </p:nvGrpSpPr>
        <p:grpSpPr>
          <a:xfrm>
            <a:off x="1945525" y="170900"/>
            <a:ext cx="2068800" cy="738900"/>
            <a:chOff x="1945525" y="170900"/>
            <a:chExt cx="2068800" cy="738900"/>
          </a:xfrm>
        </p:grpSpPr>
        <p:sp>
          <p:nvSpPr>
            <p:cNvPr id="391" name="Google Shape;391;p32"/>
            <p:cNvSpPr txBox="1"/>
            <p:nvPr/>
          </p:nvSpPr>
          <p:spPr>
            <a:xfrm>
              <a:off x="1945525" y="170900"/>
              <a:ext cx="2068800" cy="738900"/>
            </a:xfrm>
            <a:prstGeom prst="rect">
              <a:avLst/>
            </a:prstGeom>
            <a:noFill/>
            <a:ln cap="flat" cmpd="sng" w="9525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00"/>
                  </a:solidFill>
                  <a:latin typeface="Lato"/>
                  <a:ea typeface="Lato"/>
                  <a:cs typeface="Lato"/>
                  <a:sym typeface="Lato"/>
                </a:rPr>
                <a:t>No. of diagonals =      </a:t>
              </a:r>
              <a:endParaRPr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00"/>
                  </a:solidFill>
                  <a:latin typeface="Lato"/>
                  <a:ea typeface="Lato"/>
                  <a:cs typeface="Lato"/>
                  <a:sym typeface="Lato"/>
                </a:rPr>
                <a:t>    </a:t>
              </a:r>
              <a:endParaRPr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descr="{&quot;backgroundColor&quot;:&quot;#000000&quot;,&quot;font&quot;:{&quot;size&quot;:12,&quot;family&quot;:&quot;Arial&quot;,&quot;color&quot;:&quot;#ffffff&quot;},&quot;type&quot;:&quot;$$&quot;,&quot;id&quot;:&quot;12&quot;,&quot;code&quot;:&quot;$$\\c{ffeb3b}{\\frac{\\text{n(n-3)}}{2}}$$&quot;,&quot;aid&quot;:null,&quot;ts&quot;:1717229668832,&quot;cs&quot;:&quot;D1wc2gBFyvNpjE6FPfjjxQ==&quot;,&quot;size&quot;:{&quot;width&quot;:55,&quot;height&quot;:40.333333333333336}}" id="392" name="Google Shape;392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08772" y="348255"/>
              <a:ext cx="523875" cy="38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3" name="Google Shape;393;p32"/>
          <p:cNvSpPr txBox="1"/>
          <p:nvPr/>
        </p:nvSpPr>
        <p:spPr>
          <a:xfrm>
            <a:off x="4124375" y="335000"/>
            <a:ext cx="468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Consider a few polygons whose diagonals we’ve found earlier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id&quot;:&quot;12&quot;,&quot;backgroundColor&quot;:&quot;#000000&quot;,&quot;font&quot;:{&quot;color&quot;:&quot;#ffffff&quot;,&quot;family&quot;:&quot;Arial&quot;,&quot;size&quot;:12},&quot;code&quot;:&quot;$$\\c{ffeb3b}{=}\\c{ffeb3b}{\\frac{\\text{4(4-3)}}{2}=\\,2}$$&quot;,&quot;type&quot;:&quot;$$&quot;,&quot;aid&quot;:null,&quot;ts&quot;:1717230655442,&quot;cs&quot;:&quot;8occ6LBzE+0Z5qIO8B0UeA==&quot;,&quot;size&quot;:{&quot;width&quot;:112.66666666666667,&quot;height&quot;:40.333333333333336}}" id="394" name="Google Shape;394;p32"/>
          <p:cNvPicPr preferRelativeResize="0"/>
          <p:nvPr/>
        </p:nvPicPr>
        <p:blipFill rotWithShape="1">
          <a:blip r:embed="rId5">
            <a:alphaModFix/>
          </a:blip>
          <a:srcRect b="0" l="68273" r="0" t="0"/>
          <a:stretch/>
        </p:blipFill>
        <p:spPr>
          <a:xfrm>
            <a:off x="7005121" y="2976810"/>
            <a:ext cx="340474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12,&quot;color&quot;:&quot;#ffffff&quot;},&quot;id&quot;:&quot;12&quot;,&quot;backgroundColor&quot;:&quot;#000000&quot;,&quot;code&quot;:&quot;$$\\c{ffeb3b}{=}\\c{ffeb3b}{\\frac{\\text{3(3-3)}}{2}=\\,0}$$&quot;,&quot;type&quot;:&quot;$$&quot;,&quot;aid&quot;:null,&quot;ts&quot;:1717230512861,&quot;cs&quot;:&quot;bSMSRCxdShagkcmhwR88JA==&quot;,&quot;size&quot;:{&quot;width&quot;:112.83333333333333,&quot;height&quot;:40.333333333333336}}" id="395" name="Google Shape;395;p32"/>
          <p:cNvPicPr preferRelativeResize="0"/>
          <p:nvPr/>
        </p:nvPicPr>
        <p:blipFill rotWithShape="1">
          <a:blip r:embed="rId4">
            <a:alphaModFix/>
          </a:blip>
          <a:srcRect b="0" l="68320" r="0" t="0"/>
          <a:stretch/>
        </p:blipFill>
        <p:spPr>
          <a:xfrm>
            <a:off x="6970072" y="1632550"/>
            <a:ext cx="340475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code&quot;:&quot;$$\\c{ffeb3b}{=}\\c{ffeb3b}{\\frac{\\text{6(6-3)}}{2}=\\,9}$$&quot;,&quot;font&quot;:{&quot;color&quot;:&quot;#ffffff&quot;,&quot;size&quot;:12,&quot;family&quot;:&quot;Arial&quot;},&quot;backgroundColor&quot;:&quot;#000000&quot;,&quot;id&quot;:&quot;12&quot;,&quot;backgroundColorModified&quot;:false,&quot;ts&quot;:1717230889880,&quot;cs&quot;:&quot;i/rf1KGjlTU9rFy3Ouctgg==&quot;,&quot;size&quot;:{&quot;width&quot;:112.83333333333333,&quot;height&quot;:40.333333333333336}}" id="396" name="Google Shape;396;p32"/>
          <p:cNvPicPr preferRelativeResize="0"/>
          <p:nvPr/>
        </p:nvPicPr>
        <p:blipFill rotWithShape="1">
          <a:blip r:embed="rId6">
            <a:alphaModFix/>
          </a:blip>
          <a:srcRect b="0" l="68320" r="0" t="0"/>
          <a:stretch/>
        </p:blipFill>
        <p:spPr>
          <a:xfrm>
            <a:off x="6898496" y="4376025"/>
            <a:ext cx="340475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2"/>
          <p:cNvSpPr txBox="1"/>
          <p:nvPr/>
        </p:nvSpPr>
        <p:spPr>
          <a:xfrm>
            <a:off x="5287275" y="1229200"/>
            <a:ext cx="3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3 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98" name="Google Shape;398;p32"/>
          <p:cNvSpPr txBox="1"/>
          <p:nvPr/>
        </p:nvSpPr>
        <p:spPr>
          <a:xfrm>
            <a:off x="5287275" y="2600800"/>
            <a:ext cx="3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4 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" name="Google Shape;399;p32"/>
          <p:cNvSpPr txBox="1"/>
          <p:nvPr/>
        </p:nvSpPr>
        <p:spPr>
          <a:xfrm>
            <a:off x="5287275" y="3972400"/>
            <a:ext cx="3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6 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 txBox="1"/>
          <p:nvPr/>
        </p:nvSpPr>
        <p:spPr>
          <a:xfrm>
            <a:off x="3325479" y="196723"/>
            <a:ext cx="236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 30-sided polygon.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3"/>
          <p:cNvSpPr txBox="1"/>
          <p:nvPr/>
        </p:nvSpPr>
        <p:spPr>
          <a:xfrm>
            <a:off x="710683" y="2233501"/>
            <a:ext cx="14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   =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code&quot;:&quot;$$\\c{ffeb3b}{=\\frac{\\text{30(30-3)}}{2}}=\\frac{30\\,\\text{x}\\;\\text{27}}{2}$$&quot;,&quot;type&quot;:&quot;$$&quot;,&quot;id&quot;:&quot;12&quot;,&quot;backgroundColorModified&quot;:false,&quot;aid&quot;:null,&quot;font&quot;:{&quot;size&quot;:12,&quot;family&quot;:&quot;Arial&quot;,&quot;color&quot;:&quot;#ffffff&quot;},&quot;ts&quot;:1717243351199,&quot;cs&quot;:&quot;y3nRD4pYisQU220fy5Nb1A==&quot;,&quot;size&quot;:{&quot;width&quot;:181.66666666666666,&quot;height&quot;:40.333333333333336}}" id="406" name="Google Shape;406;p33"/>
          <p:cNvPicPr preferRelativeResize="0"/>
          <p:nvPr/>
        </p:nvPicPr>
        <p:blipFill rotWithShape="1">
          <a:blip r:embed="rId3">
            <a:alphaModFix/>
          </a:blip>
          <a:srcRect b="0" l="12033" r="45443" t="0"/>
          <a:stretch/>
        </p:blipFill>
        <p:spPr>
          <a:xfrm>
            <a:off x="2172401" y="2939725"/>
            <a:ext cx="735799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3"/>
          <p:cNvSpPr txBox="1"/>
          <p:nvPr/>
        </p:nvSpPr>
        <p:spPr>
          <a:xfrm>
            <a:off x="1848844" y="4218577"/>
            <a:ext cx="6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405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font&quot;:{&quot;size&quot;:12,&quot;family&quot;:&quot;Arial&quot;,&quot;color&quot;:&quot;#ffffff&quot;},&quot;type&quot;:&quot;$$&quot;,&quot;id&quot;:&quot;12&quot;,&quot;code&quot;:&quot;$$\\c{ffeb3b}{\\frac{\\text{n(n-3)}}{2}}$$&quot;,&quot;aid&quot;:null,&quot;ts&quot;:1717229668832,&quot;cs&quot;:&quot;D1wc2gBFyvNpjE6FPfjjxQ==&quot;,&quot;size&quot;:{&quot;width&quot;:55,&quot;height&quot;:40.333333333333336}}" id="408" name="Google Shape;40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3108" y="2238898"/>
            <a:ext cx="523875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3"/>
          <p:cNvSpPr txBox="1"/>
          <p:nvPr/>
        </p:nvSpPr>
        <p:spPr>
          <a:xfrm>
            <a:off x="550075" y="196725"/>
            <a:ext cx="297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out the number of diagonals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33"/>
          <p:cNvSpPr txBox="1"/>
          <p:nvPr/>
        </p:nvSpPr>
        <p:spPr>
          <a:xfrm>
            <a:off x="702475" y="1668973"/>
            <a:ext cx="23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 30-sided polygon,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1" name="Google Shape;411;p33"/>
          <p:cNvSpPr txBox="1"/>
          <p:nvPr/>
        </p:nvSpPr>
        <p:spPr>
          <a:xfrm>
            <a:off x="2303149" y="1668972"/>
            <a:ext cx="14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= 30</a:t>
            </a:r>
            <a:endParaRPr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code&quot;:&quot;$$\\c{ffeb3b}{=\\frac{\\text{30(30-3)}}{2}}=\\frac{30\\,\\text{x}\\;\\text{27}}{2}$$&quot;,&quot;type&quot;:&quot;$$&quot;,&quot;id&quot;:&quot;12&quot;,&quot;backgroundColorModified&quot;:false,&quot;aid&quot;:null,&quot;font&quot;:{&quot;size&quot;:12,&quot;family&quot;:&quot;Arial&quot;,&quot;color&quot;:&quot;#ffffff&quot;},&quot;ts&quot;:1717243351199,&quot;cs&quot;:&quot;y3nRD4pYisQU220fy5Nb1A==&quot;,&quot;size&quot;:{&quot;width&quot;:181.66666666666666,&quot;height&quot;:40.333333333333336}}" id="412" name="Google Shape;412;p33"/>
          <p:cNvPicPr preferRelativeResize="0"/>
          <p:nvPr/>
        </p:nvPicPr>
        <p:blipFill rotWithShape="1">
          <a:blip r:embed="rId3">
            <a:alphaModFix/>
          </a:blip>
          <a:srcRect b="0" l="64272" r="-2483" t="0"/>
          <a:stretch/>
        </p:blipFill>
        <p:spPr>
          <a:xfrm>
            <a:off x="2075675" y="3608425"/>
            <a:ext cx="661199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3"/>
          <p:cNvSpPr txBox="1"/>
          <p:nvPr/>
        </p:nvSpPr>
        <p:spPr>
          <a:xfrm>
            <a:off x="193669" y="196727"/>
            <a:ext cx="66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</a:t>
            </a:r>
            <a:endParaRPr b="1" sz="15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33"/>
          <p:cNvSpPr txBox="1"/>
          <p:nvPr/>
        </p:nvSpPr>
        <p:spPr>
          <a:xfrm>
            <a:off x="193677" y="882525"/>
            <a:ext cx="951900" cy="4155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ato"/>
                <a:ea typeface="Lato"/>
                <a:cs typeface="Lato"/>
                <a:sym typeface="Lato"/>
              </a:rPr>
              <a:t>Solution: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" name="Google Shape;415;p33"/>
          <p:cNvSpPr txBox="1"/>
          <p:nvPr/>
        </p:nvSpPr>
        <p:spPr>
          <a:xfrm>
            <a:off x="1848856" y="2943907"/>
            <a:ext cx="3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6" name="Google Shape;416;p33"/>
          <p:cNvSpPr txBox="1"/>
          <p:nvPr/>
        </p:nvSpPr>
        <p:spPr>
          <a:xfrm>
            <a:off x="1848856" y="3629707"/>
            <a:ext cx="3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4"/>
          <p:cNvSpPr txBox="1"/>
          <p:nvPr/>
        </p:nvSpPr>
        <p:spPr>
          <a:xfrm>
            <a:off x="0" y="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bddc4e6c-540b-48e1-a11a-373189b9bff6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 txBox="1"/>
          <p:nvPr/>
        </p:nvSpPr>
        <p:spPr>
          <a:xfrm>
            <a:off x="1126225" y="1945250"/>
            <a:ext cx="661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look at </a:t>
            </a:r>
            <a:r>
              <a:rPr b="1" lang="en-GB" sz="26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Interio</a:t>
            </a:r>
            <a:r>
              <a:rPr b="1" lang="en-GB" sz="26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 Angles</a:t>
            </a:r>
            <a:r>
              <a:rPr b="1" lang="en-GB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of a Polygon</a:t>
            </a:r>
            <a:endParaRPr b="1" sz="26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1" name="Google Shape;431;p36"/>
          <p:cNvCxnSpPr/>
          <p:nvPr/>
        </p:nvCxnSpPr>
        <p:spPr>
          <a:xfrm flipH="1" rot="10800000">
            <a:off x="461100" y="3364875"/>
            <a:ext cx="1010700" cy="8196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36"/>
          <p:cNvSpPr txBox="1"/>
          <p:nvPr/>
        </p:nvSpPr>
        <p:spPr>
          <a:xfrm>
            <a:off x="66950" y="386150"/>
            <a:ext cx="26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Let's begin with Interior angles now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-66948" y="847800"/>
            <a:ext cx="21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Consider a triangle 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615110" y="1417854"/>
            <a:ext cx="971100" cy="8886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5" name="Google Shape;435;p36"/>
          <p:cNvSpPr/>
          <p:nvPr/>
        </p:nvSpPr>
        <p:spPr>
          <a:xfrm rot="-5516208">
            <a:off x="444470" y="2119369"/>
            <a:ext cx="372813" cy="354900"/>
          </a:xfrm>
          <a:prstGeom prst="pie">
            <a:avLst>
              <a:gd fmla="val 1801696" name="adj1"/>
              <a:gd fmla="val 5426051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6"/>
          <p:cNvSpPr/>
          <p:nvPr/>
        </p:nvSpPr>
        <p:spPr>
          <a:xfrm flipH="1" rot="5516208">
            <a:off x="1385621" y="2119809"/>
            <a:ext cx="372813" cy="354900"/>
          </a:xfrm>
          <a:prstGeom prst="pie">
            <a:avLst>
              <a:gd fmla="val 1810775" name="adj1"/>
              <a:gd fmla="val 5381471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 rot="1871442">
            <a:off x="931721" y="1241678"/>
            <a:ext cx="337718" cy="392444"/>
          </a:xfrm>
          <a:prstGeom prst="pie">
            <a:avLst>
              <a:gd fmla="val 1886143" name="adj1"/>
              <a:gd fmla="val 548492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 txBox="1"/>
          <p:nvPr/>
        </p:nvSpPr>
        <p:spPr>
          <a:xfrm>
            <a:off x="2419898" y="1219200"/>
            <a:ext cx="226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triangle has 3 interior angles.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598161" y="2077772"/>
            <a:ext cx="16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" name="Google Shape;440;p36"/>
          <p:cNvSpPr txBox="1"/>
          <p:nvPr/>
        </p:nvSpPr>
        <p:spPr>
          <a:xfrm>
            <a:off x="1353361" y="2079539"/>
            <a:ext cx="16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1" name="Google Shape;441;p36"/>
          <p:cNvSpPr txBox="1"/>
          <p:nvPr/>
        </p:nvSpPr>
        <p:spPr>
          <a:xfrm>
            <a:off x="979375" y="1393750"/>
            <a:ext cx="1752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2" name="Google Shape;442;p36"/>
          <p:cNvSpPr txBox="1"/>
          <p:nvPr/>
        </p:nvSpPr>
        <p:spPr>
          <a:xfrm>
            <a:off x="4561048" y="1219353"/>
            <a:ext cx="32985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Can you recall the sum of its 3 interior angles?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3" name="Google Shape;443;p36"/>
          <p:cNvSpPr txBox="1"/>
          <p:nvPr/>
        </p:nvSpPr>
        <p:spPr>
          <a:xfrm>
            <a:off x="2935748" y="1614250"/>
            <a:ext cx="47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interior angles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of a triangle    =    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∠1 +  ∠2 +  ∠3 = 180</a:t>
            </a:r>
            <a:r>
              <a:rPr baseline="30000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" name="Google Shape;444;p36"/>
          <p:cNvSpPr txBox="1"/>
          <p:nvPr/>
        </p:nvSpPr>
        <p:spPr>
          <a:xfrm>
            <a:off x="-94701" y="2619124"/>
            <a:ext cx="272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Now consider a Quadrilateral 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450700" y="3361975"/>
            <a:ext cx="1228500" cy="831300"/>
          </a:xfrm>
          <a:prstGeom prst="trapezoid">
            <a:avLst>
              <a:gd fmla="val 25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2376522" y="3075753"/>
            <a:ext cx="34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quadrilateral can be divided into two triangles 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2362200" y="3358800"/>
            <a:ext cx="307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∠1 +  ∠2 +  ∠3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= 180</a:t>
            </a:r>
            <a:r>
              <a:rPr baseline="30000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2313750" y="3968400"/>
            <a:ext cx="329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∠1 +  ∠2  +  ∠3  +  ∠4  +  ∠5 +  ∠6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= 180</a:t>
            </a:r>
            <a:r>
              <a:rPr baseline="30000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+ 180</a:t>
            </a:r>
            <a:r>
              <a:rPr baseline="30000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                       = 360</a:t>
            </a:r>
            <a:r>
              <a:rPr baseline="30000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9" name="Google Shape;449;p36"/>
          <p:cNvSpPr/>
          <p:nvPr/>
        </p:nvSpPr>
        <p:spPr>
          <a:xfrm>
            <a:off x="3561600" y="101772"/>
            <a:ext cx="1517100" cy="369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ato"/>
                <a:ea typeface="Lato"/>
                <a:cs typeface="Lato"/>
                <a:sym typeface="Lato"/>
              </a:rPr>
              <a:t>Angles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" name="Google Shape;450;p36"/>
          <p:cNvSpPr txBox="1"/>
          <p:nvPr/>
        </p:nvSpPr>
        <p:spPr>
          <a:xfrm>
            <a:off x="7637749" y="1227572"/>
            <a:ext cx="11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Yes! Its 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180°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2422298" y="1605000"/>
            <a:ext cx="68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That is, 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" name="Google Shape;452;p36"/>
          <p:cNvSpPr/>
          <p:nvPr/>
        </p:nvSpPr>
        <p:spPr>
          <a:xfrm>
            <a:off x="5796492" y="1600397"/>
            <a:ext cx="1568100" cy="369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36"/>
          <p:cNvSpPr txBox="1"/>
          <p:nvPr/>
        </p:nvSpPr>
        <p:spPr>
          <a:xfrm>
            <a:off x="5279548" y="1924330"/>
            <a:ext cx="365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is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ANGLE SUM PROPERTY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of the triangle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4" name="Google Shape;454;p36"/>
          <p:cNvSpPr txBox="1"/>
          <p:nvPr/>
        </p:nvSpPr>
        <p:spPr>
          <a:xfrm>
            <a:off x="5587072" y="3073800"/>
            <a:ext cx="184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using a diagonal 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" name="Google Shape;455;p36"/>
          <p:cNvSpPr txBox="1"/>
          <p:nvPr/>
        </p:nvSpPr>
        <p:spPr>
          <a:xfrm>
            <a:off x="2354496" y="3605188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∠4 +  ∠5 +  ∠6 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= 180</a:t>
            </a:r>
            <a:r>
              <a:rPr baseline="30000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56" name="Google Shape;456;p36"/>
          <p:cNvGrpSpPr/>
          <p:nvPr/>
        </p:nvGrpSpPr>
        <p:grpSpPr>
          <a:xfrm>
            <a:off x="350167" y="3212318"/>
            <a:ext cx="1259561" cy="1097193"/>
            <a:chOff x="349217" y="3517118"/>
            <a:chExt cx="1259561" cy="1097193"/>
          </a:xfrm>
        </p:grpSpPr>
        <p:sp>
          <p:nvSpPr>
            <p:cNvPr id="457" name="Google Shape;457;p36"/>
            <p:cNvSpPr/>
            <p:nvPr/>
          </p:nvSpPr>
          <p:spPr>
            <a:xfrm rot="464812">
              <a:off x="539083" y="3564921"/>
              <a:ext cx="253716" cy="223075"/>
            </a:xfrm>
            <a:prstGeom prst="pie">
              <a:avLst>
                <a:gd fmla="val 21121615" name="adj1"/>
                <a:gd fmla="val 5679244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 rot="-5273938">
              <a:off x="338331" y="4368188"/>
              <a:ext cx="253671" cy="223146"/>
            </a:xfrm>
            <a:prstGeom prst="pie">
              <a:avLst>
                <a:gd fmla="val 689073" name="adj1"/>
                <a:gd fmla="val 2909169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 rot="7790572">
              <a:off x="1338829" y="3573610"/>
              <a:ext cx="235998" cy="205016"/>
            </a:xfrm>
            <a:prstGeom prst="pie">
              <a:avLst>
                <a:gd fmla="val 657502" name="adj1"/>
                <a:gd fmla="val 2973284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36"/>
          <p:cNvGrpSpPr/>
          <p:nvPr/>
        </p:nvGrpSpPr>
        <p:grpSpPr>
          <a:xfrm>
            <a:off x="303674" y="3228275"/>
            <a:ext cx="1499171" cy="1127446"/>
            <a:chOff x="303674" y="3533075"/>
            <a:chExt cx="1499171" cy="1127446"/>
          </a:xfrm>
        </p:grpSpPr>
        <p:sp>
          <p:nvSpPr>
            <p:cNvPr id="461" name="Google Shape;461;p36"/>
            <p:cNvSpPr/>
            <p:nvPr/>
          </p:nvSpPr>
          <p:spPr>
            <a:xfrm rot="-3013748">
              <a:off x="341371" y="4377108"/>
              <a:ext cx="253705" cy="223326"/>
            </a:xfrm>
            <a:prstGeom prst="pie">
              <a:avLst>
                <a:gd fmla="val 689073" name="adj1"/>
                <a:gd fmla="val 2962161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 rot="3882348">
              <a:off x="1347325" y="3577826"/>
              <a:ext cx="235918" cy="204799"/>
            </a:xfrm>
            <a:prstGeom prst="pie">
              <a:avLst>
                <a:gd fmla="val 657502" name="adj1"/>
                <a:gd fmla="val 4465607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 rot="10400734">
              <a:off x="1540840" y="4376934"/>
              <a:ext cx="253709" cy="223052"/>
            </a:xfrm>
            <a:prstGeom prst="pie">
              <a:avLst>
                <a:gd fmla="val 405083" name="adj1"/>
                <a:gd fmla="val 4843524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36"/>
          <p:cNvSpPr txBox="1"/>
          <p:nvPr/>
        </p:nvSpPr>
        <p:spPr>
          <a:xfrm>
            <a:off x="802897" y="4595575"/>
            <a:ext cx="9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</a:t>
            </a:r>
            <a:endParaRPr/>
          </a:p>
        </p:txBody>
      </p:sp>
      <p:sp>
        <p:nvSpPr>
          <p:cNvPr id="465" name="Google Shape;465;p36"/>
          <p:cNvSpPr txBox="1"/>
          <p:nvPr/>
        </p:nvSpPr>
        <p:spPr>
          <a:xfrm>
            <a:off x="1575597" y="4595575"/>
            <a:ext cx="3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 find Sum of Interior Angles of a Polygon</a:t>
            </a:r>
            <a:endParaRPr/>
          </a:p>
        </p:txBody>
      </p:sp>
      <p:sp>
        <p:nvSpPr>
          <p:cNvPr id="466" name="Google Shape;466;p36"/>
          <p:cNvSpPr txBox="1"/>
          <p:nvPr/>
        </p:nvSpPr>
        <p:spPr>
          <a:xfrm>
            <a:off x="4418525" y="4595575"/>
            <a:ext cx="42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ust see how many triangles the polygon can be divided into.</a:t>
            </a:r>
            <a:endParaRPr/>
          </a:p>
        </p:txBody>
      </p:sp>
      <p:grpSp>
        <p:nvGrpSpPr>
          <p:cNvPr id="467" name="Google Shape;467;p36"/>
          <p:cNvGrpSpPr/>
          <p:nvPr/>
        </p:nvGrpSpPr>
        <p:grpSpPr>
          <a:xfrm>
            <a:off x="447950" y="3281750"/>
            <a:ext cx="1009200" cy="856500"/>
            <a:chOff x="447950" y="3281750"/>
            <a:chExt cx="1009200" cy="856500"/>
          </a:xfrm>
        </p:grpSpPr>
        <p:sp>
          <p:nvSpPr>
            <p:cNvPr id="468" name="Google Shape;468;p36"/>
            <p:cNvSpPr txBox="1"/>
            <p:nvPr/>
          </p:nvSpPr>
          <p:spPr>
            <a:xfrm>
              <a:off x="447950" y="3815150"/>
              <a:ext cx="32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 sz="9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9" name="Google Shape;469;p36"/>
            <p:cNvSpPr txBox="1"/>
            <p:nvPr/>
          </p:nvSpPr>
          <p:spPr>
            <a:xfrm>
              <a:off x="676550" y="3357950"/>
              <a:ext cx="32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endParaRPr sz="9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0" name="Google Shape;470;p36"/>
            <p:cNvSpPr txBox="1"/>
            <p:nvPr/>
          </p:nvSpPr>
          <p:spPr>
            <a:xfrm>
              <a:off x="1133750" y="3281750"/>
              <a:ext cx="32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endParaRPr sz="9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71" name="Google Shape;471;p36"/>
          <p:cNvGrpSpPr/>
          <p:nvPr/>
        </p:nvGrpSpPr>
        <p:grpSpPr>
          <a:xfrm>
            <a:off x="524150" y="3434150"/>
            <a:ext cx="1161600" cy="856500"/>
            <a:chOff x="524150" y="3434150"/>
            <a:chExt cx="1161600" cy="856500"/>
          </a:xfrm>
        </p:grpSpPr>
        <p:sp>
          <p:nvSpPr>
            <p:cNvPr id="472" name="Google Shape;472;p36"/>
            <p:cNvSpPr txBox="1"/>
            <p:nvPr/>
          </p:nvSpPr>
          <p:spPr>
            <a:xfrm>
              <a:off x="524150" y="3967550"/>
              <a:ext cx="32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4</a:t>
              </a:r>
              <a:endParaRPr sz="9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3" name="Google Shape;473;p36"/>
            <p:cNvSpPr txBox="1"/>
            <p:nvPr/>
          </p:nvSpPr>
          <p:spPr>
            <a:xfrm>
              <a:off x="1362350" y="3891350"/>
              <a:ext cx="32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5</a:t>
              </a:r>
              <a:endParaRPr sz="9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4" name="Google Shape;474;p36"/>
            <p:cNvSpPr txBox="1"/>
            <p:nvPr/>
          </p:nvSpPr>
          <p:spPr>
            <a:xfrm>
              <a:off x="1286150" y="3434150"/>
              <a:ext cx="32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6</a:t>
              </a:r>
              <a:endParaRPr sz="9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75" name="Google Shape;475;p36"/>
          <p:cNvGrpSpPr/>
          <p:nvPr/>
        </p:nvGrpSpPr>
        <p:grpSpPr>
          <a:xfrm>
            <a:off x="822525" y="4260220"/>
            <a:ext cx="8017649" cy="741581"/>
            <a:chOff x="498625" y="4367469"/>
            <a:chExt cx="8017649" cy="741581"/>
          </a:xfrm>
        </p:grpSpPr>
        <p:sp>
          <p:nvSpPr>
            <p:cNvPr id="476" name="Google Shape;476;p36"/>
            <p:cNvSpPr/>
            <p:nvPr/>
          </p:nvSpPr>
          <p:spPr>
            <a:xfrm>
              <a:off x="498625" y="4708850"/>
              <a:ext cx="7666800" cy="400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7" name="Google Shape;477;p36"/>
            <p:cNvSpPr/>
            <p:nvPr/>
          </p:nvSpPr>
          <p:spPr>
            <a:xfrm rot="221058">
              <a:off x="7953659" y="4384471"/>
              <a:ext cx="546229" cy="524596"/>
            </a:xfrm>
            <a:prstGeom prst="star4">
              <a:avLst>
                <a:gd fmla="val 12500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2" name="Google Shape;482;p37"/>
          <p:cNvGraphicFramePr/>
          <p:nvPr/>
        </p:nvGraphicFramePr>
        <p:xfrm>
          <a:off x="152300" y="19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{73361C88-4CD8-44AF-877B-B7A2A19D6806}</a:tableStyleId>
              </a:tblPr>
              <a:tblGrid>
                <a:gridCol w="1654800"/>
                <a:gridCol w="1654800"/>
                <a:gridCol w="1654800"/>
                <a:gridCol w="1654800"/>
              </a:tblGrid>
              <a:tr h="79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Polygon</a:t>
                      </a:r>
                      <a:endParaRPr b="1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No. of sides</a:t>
                      </a:r>
                      <a:endParaRPr b="1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</a:t>
                      </a:r>
                      <a:r>
                        <a:rPr i="1" lang="en-GB">
                          <a:solidFill>
                            <a:srgbClr val="FFFF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</a:t>
                      </a:r>
                      <a:r>
                        <a:rPr b="1" lang="en-GB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b="1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No. of triangles the polygon can be divided</a:t>
                      </a:r>
                      <a:endParaRPr b="1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 of Interior Angles</a:t>
                      </a:r>
                      <a:endParaRPr b="1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7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3" name="Google Shape;483;p37"/>
          <p:cNvSpPr/>
          <p:nvPr/>
        </p:nvSpPr>
        <p:spPr>
          <a:xfrm>
            <a:off x="485603" y="1087029"/>
            <a:ext cx="651900" cy="5157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4" name="Google Shape;484;p37"/>
          <p:cNvSpPr/>
          <p:nvPr/>
        </p:nvSpPr>
        <p:spPr>
          <a:xfrm>
            <a:off x="401000" y="1927600"/>
            <a:ext cx="899700" cy="515700"/>
          </a:xfrm>
          <a:prstGeom prst="trapezoid">
            <a:avLst>
              <a:gd fmla="val 25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" name="Google Shape;485;p37"/>
          <p:cNvSpPr/>
          <p:nvPr/>
        </p:nvSpPr>
        <p:spPr>
          <a:xfrm>
            <a:off x="485600" y="2673300"/>
            <a:ext cx="730500" cy="5631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37"/>
          <p:cNvSpPr/>
          <p:nvPr/>
        </p:nvSpPr>
        <p:spPr>
          <a:xfrm>
            <a:off x="432500" y="3466400"/>
            <a:ext cx="836700" cy="600900"/>
          </a:xfrm>
          <a:prstGeom prst="hexagon">
            <a:avLst>
              <a:gd fmla="val 28852" name="adj"/>
              <a:gd fmla="val 115470" name="vf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" name="Google Shape;487;p37"/>
          <p:cNvSpPr/>
          <p:nvPr/>
        </p:nvSpPr>
        <p:spPr>
          <a:xfrm>
            <a:off x="525075" y="4240575"/>
            <a:ext cx="751500" cy="657600"/>
          </a:xfrm>
          <a:prstGeom prst="heptagon">
            <a:avLst>
              <a:gd fmla="val 102572" name="hf"/>
              <a:gd fmla="val 105210" name="vf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37"/>
          <p:cNvSpPr txBox="1"/>
          <p:nvPr/>
        </p:nvSpPr>
        <p:spPr>
          <a:xfrm>
            <a:off x="2439157" y="1170932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1"/>
          </a:p>
        </p:txBody>
      </p:sp>
      <p:sp>
        <p:nvSpPr>
          <p:cNvPr id="489" name="Google Shape;489;p37"/>
          <p:cNvSpPr txBox="1"/>
          <p:nvPr/>
        </p:nvSpPr>
        <p:spPr>
          <a:xfrm>
            <a:off x="4111994" y="1190603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/>
          </a:p>
        </p:txBody>
      </p:sp>
      <p:sp>
        <p:nvSpPr>
          <p:cNvPr id="490" name="Google Shape;490;p37"/>
          <p:cNvSpPr txBox="1"/>
          <p:nvPr/>
        </p:nvSpPr>
        <p:spPr>
          <a:xfrm>
            <a:off x="5296750" y="1178625"/>
            <a:ext cx="13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x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</a:t>
            </a:r>
            <a:r>
              <a:rPr b="1" lang="en-GB">
                <a:solidFill>
                  <a:schemeClr val="dk1"/>
                </a:solidFill>
              </a:rPr>
              <a:t> </a:t>
            </a:r>
            <a:r>
              <a:rPr b="1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180</a:t>
            </a:r>
            <a:r>
              <a:rPr b="1" baseline="30000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baseline="30000">
              <a:solidFill>
                <a:schemeClr val="accent4"/>
              </a:solidFill>
            </a:endParaRPr>
          </a:p>
        </p:txBody>
      </p:sp>
      <p:sp>
        <p:nvSpPr>
          <p:cNvPr id="491" name="Google Shape;491;p37"/>
          <p:cNvSpPr txBox="1"/>
          <p:nvPr/>
        </p:nvSpPr>
        <p:spPr>
          <a:xfrm>
            <a:off x="2423993" y="1947260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1"/>
          </a:p>
        </p:txBody>
      </p:sp>
      <p:sp>
        <p:nvSpPr>
          <p:cNvPr id="492" name="Google Shape;492;p37"/>
          <p:cNvSpPr txBox="1"/>
          <p:nvPr/>
        </p:nvSpPr>
        <p:spPr>
          <a:xfrm>
            <a:off x="4096593" y="1979395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/>
          </a:p>
        </p:txBody>
      </p:sp>
      <p:sp>
        <p:nvSpPr>
          <p:cNvPr id="493" name="Google Shape;493;p37"/>
          <p:cNvSpPr txBox="1"/>
          <p:nvPr/>
        </p:nvSpPr>
        <p:spPr>
          <a:xfrm>
            <a:off x="6076801" y="2010857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baseline="30000">
              <a:solidFill>
                <a:schemeClr val="accent4"/>
              </a:solidFill>
            </a:endParaRPr>
          </a:p>
        </p:txBody>
      </p:sp>
      <p:sp>
        <p:nvSpPr>
          <p:cNvPr id="494" name="Google Shape;494;p37"/>
          <p:cNvSpPr txBox="1"/>
          <p:nvPr/>
        </p:nvSpPr>
        <p:spPr>
          <a:xfrm>
            <a:off x="5312243" y="2000800"/>
            <a:ext cx="9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 x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</a:t>
            </a:r>
            <a:endParaRPr b="1"/>
          </a:p>
        </p:txBody>
      </p:sp>
      <p:sp>
        <p:nvSpPr>
          <p:cNvPr id="495" name="Google Shape;495;p37"/>
          <p:cNvSpPr txBox="1"/>
          <p:nvPr/>
        </p:nvSpPr>
        <p:spPr>
          <a:xfrm>
            <a:off x="6060004" y="2789543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540</a:t>
            </a:r>
            <a:r>
              <a:rPr b="1" baseline="30000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baseline="30000">
              <a:solidFill>
                <a:schemeClr val="accent4"/>
              </a:solidFill>
            </a:endParaRPr>
          </a:p>
        </p:txBody>
      </p:sp>
      <p:sp>
        <p:nvSpPr>
          <p:cNvPr id="496" name="Google Shape;496;p37"/>
          <p:cNvSpPr txBox="1"/>
          <p:nvPr/>
        </p:nvSpPr>
        <p:spPr>
          <a:xfrm>
            <a:off x="6049297" y="3572957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720</a:t>
            </a:r>
            <a:r>
              <a:rPr b="1" baseline="30000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baseline="30000">
              <a:solidFill>
                <a:schemeClr val="accent4"/>
              </a:solidFill>
            </a:endParaRPr>
          </a:p>
        </p:txBody>
      </p:sp>
      <p:sp>
        <p:nvSpPr>
          <p:cNvPr id="497" name="Google Shape;497;p37"/>
          <p:cNvSpPr txBox="1"/>
          <p:nvPr/>
        </p:nvSpPr>
        <p:spPr>
          <a:xfrm>
            <a:off x="5269425" y="2788622"/>
            <a:ext cx="9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x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</a:t>
            </a:r>
            <a:endParaRPr b="1"/>
          </a:p>
        </p:txBody>
      </p:sp>
      <p:sp>
        <p:nvSpPr>
          <p:cNvPr id="498" name="Google Shape;498;p37"/>
          <p:cNvSpPr txBox="1"/>
          <p:nvPr/>
        </p:nvSpPr>
        <p:spPr>
          <a:xfrm>
            <a:off x="6070711" y="4401699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90</a:t>
            </a:r>
            <a:r>
              <a:rPr b="1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baseline="30000" lang="en-GB" sz="12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baseline="30000">
              <a:solidFill>
                <a:schemeClr val="accent4"/>
              </a:solidFill>
            </a:endParaRPr>
          </a:p>
        </p:txBody>
      </p:sp>
      <p:sp>
        <p:nvSpPr>
          <p:cNvPr id="499" name="Google Shape;499;p37"/>
          <p:cNvSpPr txBox="1"/>
          <p:nvPr/>
        </p:nvSpPr>
        <p:spPr>
          <a:xfrm>
            <a:off x="5257144" y="3574719"/>
            <a:ext cx="9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x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</a:t>
            </a:r>
            <a:endParaRPr b="1"/>
          </a:p>
        </p:txBody>
      </p:sp>
      <p:sp>
        <p:nvSpPr>
          <p:cNvPr id="500" name="Google Shape;500;p37"/>
          <p:cNvSpPr txBox="1"/>
          <p:nvPr/>
        </p:nvSpPr>
        <p:spPr>
          <a:xfrm>
            <a:off x="2423993" y="2785460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1"/>
          </a:p>
        </p:txBody>
      </p:sp>
      <p:sp>
        <p:nvSpPr>
          <p:cNvPr id="501" name="Google Shape;501;p37"/>
          <p:cNvSpPr txBox="1"/>
          <p:nvPr/>
        </p:nvSpPr>
        <p:spPr>
          <a:xfrm>
            <a:off x="2423993" y="3547460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b="1"/>
          </a:p>
        </p:txBody>
      </p:sp>
      <p:sp>
        <p:nvSpPr>
          <p:cNvPr id="502" name="Google Shape;502;p37"/>
          <p:cNvSpPr txBox="1"/>
          <p:nvPr/>
        </p:nvSpPr>
        <p:spPr>
          <a:xfrm>
            <a:off x="2423993" y="4385660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 b="1"/>
          </a:p>
        </p:txBody>
      </p:sp>
      <p:sp>
        <p:nvSpPr>
          <p:cNvPr id="503" name="Google Shape;503;p37"/>
          <p:cNvSpPr txBox="1"/>
          <p:nvPr/>
        </p:nvSpPr>
        <p:spPr>
          <a:xfrm>
            <a:off x="5257144" y="4391504"/>
            <a:ext cx="9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x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</a:t>
            </a:r>
            <a:endParaRPr b="1"/>
          </a:p>
        </p:txBody>
      </p:sp>
      <p:sp>
        <p:nvSpPr>
          <p:cNvPr id="504" name="Google Shape;504;p37"/>
          <p:cNvSpPr txBox="1"/>
          <p:nvPr/>
        </p:nvSpPr>
        <p:spPr>
          <a:xfrm>
            <a:off x="4096593" y="2817595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1"/>
          </a:p>
        </p:txBody>
      </p:sp>
      <p:sp>
        <p:nvSpPr>
          <p:cNvPr id="505" name="Google Shape;505;p37"/>
          <p:cNvSpPr txBox="1"/>
          <p:nvPr/>
        </p:nvSpPr>
        <p:spPr>
          <a:xfrm>
            <a:off x="4096593" y="3579595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1"/>
          </a:p>
        </p:txBody>
      </p:sp>
      <p:sp>
        <p:nvSpPr>
          <p:cNvPr id="506" name="Google Shape;506;p37"/>
          <p:cNvSpPr txBox="1"/>
          <p:nvPr/>
        </p:nvSpPr>
        <p:spPr>
          <a:xfrm>
            <a:off x="4096593" y="4417795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1"/>
          </a:p>
        </p:txBody>
      </p:sp>
      <p:cxnSp>
        <p:nvCxnSpPr>
          <p:cNvPr id="507" name="Google Shape;507;p37"/>
          <p:cNvCxnSpPr/>
          <p:nvPr/>
        </p:nvCxnSpPr>
        <p:spPr>
          <a:xfrm>
            <a:off x="524668" y="1948725"/>
            <a:ext cx="771000" cy="503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7"/>
          <p:cNvCxnSpPr>
            <a:endCxn id="485" idx="4"/>
          </p:cNvCxnSpPr>
          <p:nvPr/>
        </p:nvCxnSpPr>
        <p:spPr>
          <a:xfrm>
            <a:off x="837786" y="2698199"/>
            <a:ext cx="238800" cy="538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7"/>
          <p:cNvCxnSpPr>
            <a:endCxn id="485" idx="2"/>
          </p:cNvCxnSpPr>
          <p:nvPr/>
        </p:nvCxnSpPr>
        <p:spPr>
          <a:xfrm flipH="1">
            <a:off x="625114" y="2690099"/>
            <a:ext cx="212700" cy="5463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7"/>
          <p:cNvCxnSpPr>
            <a:endCxn id="486" idx="2"/>
          </p:cNvCxnSpPr>
          <p:nvPr/>
        </p:nvCxnSpPr>
        <p:spPr>
          <a:xfrm flipH="1">
            <a:off x="605872" y="3457700"/>
            <a:ext cx="6300" cy="609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37"/>
          <p:cNvCxnSpPr>
            <a:endCxn id="486" idx="0"/>
          </p:cNvCxnSpPr>
          <p:nvPr/>
        </p:nvCxnSpPr>
        <p:spPr>
          <a:xfrm>
            <a:off x="612200" y="3462050"/>
            <a:ext cx="657000" cy="304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7"/>
          <p:cNvCxnSpPr>
            <a:endCxn id="486" idx="1"/>
          </p:cNvCxnSpPr>
          <p:nvPr/>
        </p:nvCxnSpPr>
        <p:spPr>
          <a:xfrm>
            <a:off x="612228" y="3462200"/>
            <a:ext cx="483600" cy="605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7"/>
          <p:cNvCxnSpPr>
            <a:endCxn id="487" idx="3"/>
          </p:cNvCxnSpPr>
          <p:nvPr/>
        </p:nvCxnSpPr>
        <p:spPr>
          <a:xfrm>
            <a:off x="596801" y="4391478"/>
            <a:ext cx="136800" cy="506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7"/>
          <p:cNvCxnSpPr>
            <a:endCxn id="487" idx="2"/>
          </p:cNvCxnSpPr>
          <p:nvPr/>
        </p:nvCxnSpPr>
        <p:spPr>
          <a:xfrm>
            <a:off x="606049" y="4391478"/>
            <a:ext cx="462000" cy="506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37"/>
          <p:cNvCxnSpPr>
            <a:endCxn id="487" idx="1"/>
          </p:cNvCxnSpPr>
          <p:nvPr/>
        </p:nvCxnSpPr>
        <p:spPr>
          <a:xfrm>
            <a:off x="612677" y="4371282"/>
            <a:ext cx="663900" cy="292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7"/>
          <p:cNvCxnSpPr>
            <a:endCxn id="487" idx="0"/>
          </p:cNvCxnSpPr>
          <p:nvPr/>
        </p:nvCxnSpPr>
        <p:spPr>
          <a:xfrm>
            <a:off x="610553" y="4356721"/>
            <a:ext cx="591600" cy="14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37"/>
          <p:cNvSpPr/>
          <p:nvPr/>
        </p:nvSpPr>
        <p:spPr>
          <a:xfrm>
            <a:off x="1868675" y="253650"/>
            <a:ext cx="1563600" cy="4719000"/>
          </a:xfrm>
          <a:prstGeom prst="roundRect">
            <a:avLst>
              <a:gd fmla="val 16667" name="adj"/>
            </a:avLst>
          </a:prstGeom>
          <a:solidFill>
            <a:srgbClr val="94DC44">
              <a:alpha val="264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" name="Google Shape;518;p37"/>
          <p:cNvSpPr/>
          <p:nvPr/>
        </p:nvSpPr>
        <p:spPr>
          <a:xfrm>
            <a:off x="3488228" y="267675"/>
            <a:ext cx="1594800" cy="4719000"/>
          </a:xfrm>
          <a:prstGeom prst="roundRect">
            <a:avLst>
              <a:gd fmla="val 16667" name="adj"/>
            </a:avLst>
          </a:prstGeom>
          <a:solidFill>
            <a:srgbClr val="94DC44">
              <a:alpha val="264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" name="Google Shape;519;p37"/>
          <p:cNvSpPr txBox="1"/>
          <p:nvPr/>
        </p:nvSpPr>
        <p:spPr>
          <a:xfrm>
            <a:off x="6876970" y="104568"/>
            <a:ext cx="21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Can you find the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relationship between</a:t>
            </a:r>
            <a:endParaRPr b="1"/>
          </a:p>
        </p:txBody>
      </p:sp>
      <p:grpSp>
        <p:nvGrpSpPr>
          <p:cNvPr id="520" name="Google Shape;520;p37"/>
          <p:cNvGrpSpPr/>
          <p:nvPr/>
        </p:nvGrpSpPr>
        <p:grpSpPr>
          <a:xfrm>
            <a:off x="561096" y="1953350"/>
            <a:ext cx="576350" cy="452450"/>
            <a:chOff x="561096" y="1953350"/>
            <a:chExt cx="576350" cy="452450"/>
          </a:xfrm>
        </p:grpSpPr>
        <p:sp>
          <p:nvSpPr>
            <p:cNvPr id="521" name="Google Shape;521;p37"/>
            <p:cNvSpPr txBox="1"/>
            <p:nvPr/>
          </p:nvSpPr>
          <p:spPr>
            <a:xfrm>
              <a:off x="898646" y="1953350"/>
              <a:ext cx="238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endParaRPr b="1" sz="900"/>
            </a:p>
          </p:txBody>
        </p:sp>
        <p:sp>
          <p:nvSpPr>
            <p:cNvPr id="522" name="Google Shape;522;p37"/>
            <p:cNvSpPr txBox="1"/>
            <p:nvPr/>
          </p:nvSpPr>
          <p:spPr>
            <a:xfrm>
              <a:off x="561096" y="2082700"/>
              <a:ext cx="238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 b="1" sz="900"/>
            </a:p>
          </p:txBody>
        </p:sp>
      </p:grpSp>
      <p:sp>
        <p:nvSpPr>
          <p:cNvPr id="523" name="Google Shape;523;p37"/>
          <p:cNvSpPr txBox="1"/>
          <p:nvPr/>
        </p:nvSpPr>
        <p:spPr>
          <a:xfrm>
            <a:off x="6947864" y="530068"/>
            <a:ext cx="197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the number of sides and number of triangles?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6991749" y="1196693"/>
            <a:ext cx="197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triangles in a polygon are 2 less than number of sides</a:t>
            </a:r>
            <a:endParaRPr b="1">
              <a:solidFill>
                <a:schemeClr val="dk1"/>
              </a:solidFill>
            </a:endParaRPr>
          </a:p>
        </p:txBody>
      </p:sp>
      <p:grpSp>
        <p:nvGrpSpPr>
          <p:cNvPr id="525" name="Google Shape;525;p37"/>
          <p:cNvGrpSpPr/>
          <p:nvPr/>
        </p:nvGrpSpPr>
        <p:grpSpPr>
          <a:xfrm>
            <a:off x="477582" y="2761633"/>
            <a:ext cx="680420" cy="365169"/>
            <a:chOff x="477582" y="2761633"/>
            <a:chExt cx="680420" cy="365169"/>
          </a:xfrm>
        </p:grpSpPr>
        <p:grpSp>
          <p:nvGrpSpPr>
            <p:cNvPr id="526" name="Google Shape;526;p37"/>
            <p:cNvGrpSpPr/>
            <p:nvPr/>
          </p:nvGrpSpPr>
          <p:grpSpPr>
            <a:xfrm>
              <a:off x="477582" y="2772859"/>
              <a:ext cx="455989" cy="353943"/>
              <a:chOff x="443332" y="2091359"/>
              <a:chExt cx="455989" cy="353943"/>
            </a:xfrm>
          </p:grpSpPr>
          <p:sp>
            <p:nvSpPr>
              <p:cNvPr id="527" name="Google Shape;527;p37"/>
              <p:cNvSpPr txBox="1"/>
              <p:nvPr/>
            </p:nvSpPr>
            <p:spPr>
              <a:xfrm>
                <a:off x="660521" y="2122202"/>
                <a:ext cx="2388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endParaRPr b="1" sz="900"/>
              </a:p>
            </p:txBody>
          </p:sp>
          <p:sp>
            <p:nvSpPr>
              <p:cNvPr id="528" name="Google Shape;528;p37"/>
              <p:cNvSpPr txBox="1"/>
              <p:nvPr/>
            </p:nvSpPr>
            <p:spPr>
              <a:xfrm>
                <a:off x="443332" y="2091359"/>
                <a:ext cx="2388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1</a:t>
                </a:r>
                <a:endParaRPr b="1" sz="900"/>
              </a:p>
            </p:txBody>
          </p:sp>
        </p:grpSp>
        <p:sp>
          <p:nvSpPr>
            <p:cNvPr id="529" name="Google Shape;529;p37"/>
            <p:cNvSpPr txBox="1"/>
            <p:nvPr/>
          </p:nvSpPr>
          <p:spPr>
            <a:xfrm>
              <a:off x="919203" y="2761633"/>
              <a:ext cx="238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endParaRPr b="1" sz="900"/>
            </a:p>
          </p:txBody>
        </p:sp>
      </p:grpSp>
      <p:sp>
        <p:nvSpPr>
          <p:cNvPr id="530" name="Google Shape;530;p37"/>
          <p:cNvSpPr txBox="1"/>
          <p:nvPr/>
        </p:nvSpPr>
        <p:spPr>
          <a:xfrm>
            <a:off x="7184400" y="2671303"/>
            <a:ext cx="15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31" name="Google Shape;531;p37"/>
          <p:cNvSpPr txBox="1"/>
          <p:nvPr/>
        </p:nvSpPr>
        <p:spPr>
          <a:xfrm>
            <a:off x="7066800" y="3169725"/>
            <a:ext cx="179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Sum of interior angles of a polygon =</a:t>
            </a:r>
            <a:endParaRPr b="1">
              <a:solidFill>
                <a:srgbClr val="EAD1DC"/>
              </a:solidFill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7423915" y="3688150"/>
            <a:ext cx="59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en-GB">
                <a:solidFill>
                  <a:srgbClr val="FF99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-2) </a:t>
            </a:r>
            <a:endParaRPr b="1">
              <a:solidFill>
                <a:srgbClr val="FF9900"/>
              </a:solidFill>
            </a:endParaRPr>
          </a:p>
        </p:txBody>
      </p:sp>
      <p:grpSp>
        <p:nvGrpSpPr>
          <p:cNvPr id="533" name="Google Shape;533;p37"/>
          <p:cNvGrpSpPr/>
          <p:nvPr/>
        </p:nvGrpSpPr>
        <p:grpSpPr>
          <a:xfrm>
            <a:off x="390034" y="3372476"/>
            <a:ext cx="758335" cy="560627"/>
            <a:chOff x="390034" y="3372476"/>
            <a:chExt cx="758335" cy="560627"/>
          </a:xfrm>
        </p:grpSpPr>
        <p:grpSp>
          <p:nvGrpSpPr>
            <p:cNvPr id="534" name="Google Shape;534;p37"/>
            <p:cNvGrpSpPr/>
            <p:nvPr/>
          </p:nvGrpSpPr>
          <p:grpSpPr>
            <a:xfrm>
              <a:off x="390034" y="3567934"/>
              <a:ext cx="680420" cy="365169"/>
              <a:chOff x="477582" y="2761633"/>
              <a:chExt cx="680420" cy="365169"/>
            </a:xfrm>
          </p:grpSpPr>
          <p:grpSp>
            <p:nvGrpSpPr>
              <p:cNvPr id="535" name="Google Shape;535;p37"/>
              <p:cNvGrpSpPr/>
              <p:nvPr/>
            </p:nvGrpSpPr>
            <p:grpSpPr>
              <a:xfrm>
                <a:off x="477582" y="2772859"/>
                <a:ext cx="455989" cy="353943"/>
                <a:chOff x="443332" y="2091359"/>
                <a:chExt cx="455989" cy="353943"/>
              </a:xfrm>
            </p:grpSpPr>
            <p:sp>
              <p:nvSpPr>
                <p:cNvPr id="536" name="Google Shape;536;p37"/>
                <p:cNvSpPr txBox="1"/>
                <p:nvPr/>
              </p:nvSpPr>
              <p:spPr>
                <a:xfrm>
                  <a:off x="660521" y="2122202"/>
                  <a:ext cx="238800" cy="32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9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2</a:t>
                  </a:r>
                  <a:endParaRPr b="1" sz="900"/>
                </a:p>
              </p:txBody>
            </p:sp>
            <p:sp>
              <p:nvSpPr>
                <p:cNvPr id="537" name="Google Shape;537;p37"/>
                <p:cNvSpPr txBox="1"/>
                <p:nvPr/>
              </p:nvSpPr>
              <p:spPr>
                <a:xfrm>
                  <a:off x="443332" y="2091359"/>
                  <a:ext cx="238800" cy="32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9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1</a:t>
                  </a:r>
                  <a:endParaRPr b="1" sz="900"/>
                </a:p>
              </p:txBody>
            </p:sp>
          </p:grpSp>
          <p:sp>
            <p:nvSpPr>
              <p:cNvPr id="538" name="Google Shape;538;p37"/>
              <p:cNvSpPr txBox="1"/>
              <p:nvPr/>
            </p:nvSpPr>
            <p:spPr>
              <a:xfrm>
                <a:off x="919203" y="2761633"/>
                <a:ext cx="2388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3</a:t>
                </a:r>
                <a:endParaRPr b="1" sz="900"/>
              </a:p>
            </p:txBody>
          </p:sp>
        </p:grpSp>
        <p:sp>
          <p:nvSpPr>
            <p:cNvPr id="539" name="Google Shape;539;p37"/>
            <p:cNvSpPr txBox="1"/>
            <p:nvPr/>
          </p:nvSpPr>
          <p:spPr>
            <a:xfrm>
              <a:off x="909569" y="3372476"/>
              <a:ext cx="238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4</a:t>
              </a:r>
              <a:endParaRPr b="1" sz="900"/>
            </a:p>
          </p:txBody>
        </p:sp>
      </p:grpSp>
      <p:sp>
        <p:nvSpPr>
          <p:cNvPr id="540" name="Google Shape;540;p37"/>
          <p:cNvSpPr txBox="1"/>
          <p:nvPr/>
        </p:nvSpPr>
        <p:spPr>
          <a:xfrm>
            <a:off x="7907399" y="3688150"/>
            <a:ext cx="7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x 180</a:t>
            </a:r>
            <a:r>
              <a:rPr b="1" baseline="30000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541" name="Google Shape;541;p37"/>
          <p:cNvSpPr/>
          <p:nvPr/>
        </p:nvSpPr>
        <p:spPr>
          <a:xfrm>
            <a:off x="7018600" y="3040600"/>
            <a:ext cx="1916400" cy="106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2" name="Google Shape;542;p37"/>
          <p:cNvGrpSpPr/>
          <p:nvPr/>
        </p:nvGrpSpPr>
        <p:grpSpPr>
          <a:xfrm>
            <a:off x="478713" y="4148067"/>
            <a:ext cx="751639" cy="738416"/>
            <a:chOff x="478713" y="4148067"/>
            <a:chExt cx="751639" cy="738416"/>
          </a:xfrm>
        </p:grpSpPr>
        <p:grpSp>
          <p:nvGrpSpPr>
            <p:cNvPr id="543" name="Google Shape;543;p37"/>
            <p:cNvGrpSpPr/>
            <p:nvPr/>
          </p:nvGrpSpPr>
          <p:grpSpPr>
            <a:xfrm>
              <a:off x="478713" y="4336704"/>
              <a:ext cx="751639" cy="549779"/>
              <a:chOff x="390034" y="3454501"/>
              <a:chExt cx="751639" cy="549779"/>
            </a:xfrm>
          </p:grpSpPr>
          <p:grpSp>
            <p:nvGrpSpPr>
              <p:cNvPr id="544" name="Google Shape;544;p37"/>
              <p:cNvGrpSpPr/>
              <p:nvPr/>
            </p:nvGrpSpPr>
            <p:grpSpPr>
              <a:xfrm>
                <a:off x="390034" y="3579160"/>
                <a:ext cx="653637" cy="425121"/>
                <a:chOff x="477582" y="2772859"/>
                <a:chExt cx="653637" cy="425121"/>
              </a:xfrm>
            </p:grpSpPr>
            <p:grpSp>
              <p:nvGrpSpPr>
                <p:cNvPr id="545" name="Google Shape;545;p37"/>
                <p:cNvGrpSpPr/>
                <p:nvPr/>
              </p:nvGrpSpPr>
              <p:grpSpPr>
                <a:xfrm>
                  <a:off x="477582" y="2772859"/>
                  <a:ext cx="420835" cy="425121"/>
                  <a:chOff x="443332" y="2091359"/>
                  <a:chExt cx="420835" cy="425121"/>
                </a:xfrm>
              </p:grpSpPr>
              <p:sp>
                <p:nvSpPr>
                  <p:cNvPr id="546" name="Google Shape;546;p37"/>
                  <p:cNvSpPr txBox="1"/>
                  <p:nvPr/>
                </p:nvSpPr>
                <p:spPr>
                  <a:xfrm>
                    <a:off x="625367" y="2193380"/>
                    <a:ext cx="238800" cy="323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GB" sz="9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2</a:t>
                    </a:r>
                    <a:endParaRPr b="1" sz="900"/>
                  </a:p>
                </p:txBody>
              </p:sp>
              <p:sp>
                <p:nvSpPr>
                  <p:cNvPr id="547" name="Google Shape;547;p37"/>
                  <p:cNvSpPr txBox="1"/>
                  <p:nvPr/>
                </p:nvSpPr>
                <p:spPr>
                  <a:xfrm>
                    <a:off x="443332" y="2091359"/>
                    <a:ext cx="238800" cy="323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GB" sz="9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1</a:t>
                    </a:r>
                    <a:endParaRPr b="1" sz="900"/>
                  </a:p>
                </p:txBody>
              </p:sp>
            </p:grpSp>
            <p:sp>
              <p:nvSpPr>
                <p:cNvPr id="548" name="Google Shape;548;p37"/>
                <p:cNvSpPr txBox="1"/>
                <p:nvPr/>
              </p:nvSpPr>
              <p:spPr>
                <a:xfrm>
                  <a:off x="892419" y="2825245"/>
                  <a:ext cx="238800" cy="32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9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3</a:t>
                  </a:r>
                  <a:endParaRPr b="1" sz="900"/>
                </a:p>
              </p:txBody>
            </p:sp>
          </p:grpSp>
          <p:sp>
            <p:nvSpPr>
              <p:cNvPr id="549" name="Google Shape;549;p37"/>
              <p:cNvSpPr txBox="1"/>
              <p:nvPr/>
            </p:nvSpPr>
            <p:spPr>
              <a:xfrm>
                <a:off x="902873" y="3454501"/>
                <a:ext cx="2388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4</a:t>
                </a:r>
                <a:endParaRPr b="1" sz="900"/>
              </a:p>
            </p:txBody>
          </p:sp>
        </p:grpSp>
        <p:sp>
          <p:nvSpPr>
            <p:cNvPr id="550" name="Google Shape;550;p37"/>
            <p:cNvSpPr txBox="1"/>
            <p:nvPr/>
          </p:nvSpPr>
          <p:spPr>
            <a:xfrm>
              <a:off x="776960" y="4148067"/>
              <a:ext cx="238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5</a:t>
              </a:r>
              <a:endParaRPr b="1" sz="900"/>
            </a:p>
          </p:txBody>
        </p:sp>
      </p:grpSp>
      <p:sp>
        <p:nvSpPr>
          <p:cNvPr id="551" name="Google Shape;551;p37"/>
          <p:cNvSpPr txBox="1"/>
          <p:nvPr/>
        </p:nvSpPr>
        <p:spPr>
          <a:xfrm>
            <a:off x="6920974" y="1944700"/>
            <a:ext cx="222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find </a:t>
            </a:r>
            <a:r>
              <a:rPr b="1" lang="en-GB" sz="1200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sum of interior angles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52" name="Google Shape;552;p37"/>
          <p:cNvSpPr txBox="1"/>
          <p:nvPr/>
        </p:nvSpPr>
        <p:spPr>
          <a:xfrm>
            <a:off x="6899559" y="2130471"/>
            <a:ext cx="22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 have to multiply number of triangles by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53" name="Google Shape;553;p37"/>
          <p:cNvSpPr txBox="1"/>
          <p:nvPr/>
        </p:nvSpPr>
        <p:spPr>
          <a:xfrm>
            <a:off x="6849475" y="4285175"/>
            <a:ext cx="222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is the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Angle Sum Property 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Polygons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8"/>
          <p:cNvSpPr/>
          <p:nvPr/>
        </p:nvSpPr>
        <p:spPr>
          <a:xfrm>
            <a:off x="136625" y="3724400"/>
            <a:ext cx="8856000" cy="130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" name="Google Shape;559;p38"/>
          <p:cNvSpPr txBox="1"/>
          <p:nvPr/>
        </p:nvSpPr>
        <p:spPr>
          <a:xfrm>
            <a:off x="1708525" y="431040"/>
            <a:ext cx="54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inding out the number of triangles the polygon can be divided into 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0" name="Google Shape;560;p38"/>
          <p:cNvSpPr txBox="1"/>
          <p:nvPr/>
        </p:nvSpPr>
        <p:spPr>
          <a:xfrm>
            <a:off x="3408268" y="116525"/>
            <a:ext cx="367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 can be determined by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" name="Google Shape;561;p38"/>
          <p:cNvSpPr txBox="1"/>
          <p:nvPr/>
        </p:nvSpPr>
        <p:spPr>
          <a:xfrm>
            <a:off x="1426375" y="116525"/>
            <a:ext cx="22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 </a:t>
            </a:r>
            <a:r>
              <a:rPr b="1" lang="en-GB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n-sided polygon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" name="Google Shape;562;p38"/>
          <p:cNvSpPr txBox="1"/>
          <p:nvPr/>
        </p:nvSpPr>
        <p:spPr>
          <a:xfrm>
            <a:off x="207175" y="1819075"/>
            <a:ext cx="456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nto how many triangles,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30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sided polygon can be divided?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3" name="Google Shape;563;p38"/>
          <p:cNvSpPr txBox="1"/>
          <p:nvPr/>
        </p:nvSpPr>
        <p:spPr>
          <a:xfrm>
            <a:off x="212832" y="2150512"/>
            <a:ext cx="456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Into how many triangles, a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sided polygon can be divided?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" name="Google Shape;564;p38"/>
          <p:cNvSpPr txBox="1"/>
          <p:nvPr/>
        </p:nvSpPr>
        <p:spPr>
          <a:xfrm>
            <a:off x="203808" y="2526290"/>
            <a:ext cx="456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Into how many triangles, a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27</a:t>
            </a: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sided polygon can be divided?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" name="Google Shape;565;p38"/>
          <p:cNvSpPr txBox="1"/>
          <p:nvPr/>
        </p:nvSpPr>
        <p:spPr>
          <a:xfrm>
            <a:off x="5040491" y="1221175"/>
            <a:ext cx="146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 each triangle,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6" name="Google Shape;566;p38"/>
          <p:cNvSpPr txBox="1"/>
          <p:nvPr/>
        </p:nvSpPr>
        <p:spPr>
          <a:xfrm>
            <a:off x="6242237" y="1221175"/>
            <a:ext cx="264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The Sum of Interior Angles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is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" name="Google Shape;567;p38"/>
          <p:cNvSpPr txBox="1"/>
          <p:nvPr/>
        </p:nvSpPr>
        <p:spPr>
          <a:xfrm>
            <a:off x="4680376" y="1819075"/>
            <a:ext cx="119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28 triangles 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" name="Google Shape;568;p38"/>
          <p:cNvSpPr txBox="1"/>
          <p:nvPr/>
        </p:nvSpPr>
        <p:spPr>
          <a:xfrm>
            <a:off x="4683495" y="2150512"/>
            <a:ext cx="10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13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triangles 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38"/>
          <p:cNvSpPr txBox="1"/>
          <p:nvPr/>
        </p:nvSpPr>
        <p:spPr>
          <a:xfrm>
            <a:off x="4695921" y="2526290"/>
            <a:ext cx="10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25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triangles 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0" name="Google Shape;570;p38"/>
          <p:cNvCxnSpPr/>
          <p:nvPr/>
        </p:nvCxnSpPr>
        <p:spPr>
          <a:xfrm>
            <a:off x="5052150" y="4086000"/>
            <a:ext cx="87300" cy="2595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1" name="Google Shape;571;p38"/>
          <p:cNvSpPr txBox="1"/>
          <p:nvPr/>
        </p:nvSpPr>
        <p:spPr>
          <a:xfrm>
            <a:off x="3758926" y="2972950"/>
            <a:ext cx="30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The Sum of Interior Angles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38"/>
          <p:cNvSpPr txBox="1"/>
          <p:nvPr/>
        </p:nvSpPr>
        <p:spPr>
          <a:xfrm>
            <a:off x="6592246" y="2952743"/>
            <a:ext cx="12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-2) x  180</a:t>
            </a:r>
            <a:r>
              <a:rPr b="1" baseline="30000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300">
              <a:solidFill>
                <a:srgbClr val="FFFF00"/>
              </a:solidFill>
            </a:endParaRPr>
          </a:p>
        </p:txBody>
      </p:sp>
      <p:sp>
        <p:nvSpPr>
          <p:cNvPr id="573" name="Google Shape;573;p38"/>
          <p:cNvSpPr txBox="1"/>
          <p:nvPr/>
        </p:nvSpPr>
        <p:spPr>
          <a:xfrm>
            <a:off x="287825" y="3813450"/>
            <a:ext cx="124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your book,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" name="Google Shape;574;p38"/>
          <p:cNvSpPr txBox="1"/>
          <p:nvPr/>
        </p:nvSpPr>
        <p:spPr>
          <a:xfrm>
            <a:off x="4856350" y="3813670"/>
            <a:ext cx="12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(2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- 4)  x  90</a:t>
            </a:r>
            <a:r>
              <a:rPr b="1" baseline="30000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300">
              <a:solidFill>
                <a:srgbClr val="FFFF00"/>
              </a:solidFill>
            </a:endParaRPr>
          </a:p>
        </p:txBody>
      </p:sp>
      <p:sp>
        <p:nvSpPr>
          <p:cNvPr id="575" name="Google Shape;575;p38"/>
          <p:cNvSpPr txBox="1"/>
          <p:nvPr/>
        </p:nvSpPr>
        <p:spPr>
          <a:xfrm>
            <a:off x="1215828" y="3821475"/>
            <a:ext cx="254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 might see the formula as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" name="Google Shape;576;p38"/>
          <p:cNvSpPr txBox="1"/>
          <p:nvPr/>
        </p:nvSpPr>
        <p:spPr>
          <a:xfrm>
            <a:off x="3195025" y="3821475"/>
            <a:ext cx="181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Sum of Interior Angles = </a:t>
            </a:r>
            <a:endParaRPr sz="1200">
              <a:solidFill>
                <a:srgbClr val="EAD1D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" name="Google Shape;577;p38"/>
          <p:cNvSpPr txBox="1"/>
          <p:nvPr/>
        </p:nvSpPr>
        <p:spPr>
          <a:xfrm>
            <a:off x="6340303" y="3746391"/>
            <a:ext cx="25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But it’s nothing different!</a:t>
            </a:r>
            <a:endParaRPr b="1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" name="Google Shape;578;p38"/>
          <p:cNvSpPr txBox="1"/>
          <p:nvPr/>
        </p:nvSpPr>
        <p:spPr>
          <a:xfrm>
            <a:off x="1526426" y="4212475"/>
            <a:ext cx="16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you take 2 common,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4941575" y="4279226"/>
            <a:ext cx="64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- 2)  </a:t>
            </a:r>
            <a:endParaRPr b="1" sz="1300">
              <a:solidFill>
                <a:srgbClr val="FFFF00"/>
              </a:solidFill>
            </a:endParaRPr>
          </a:p>
        </p:txBody>
      </p:sp>
      <p:sp>
        <p:nvSpPr>
          <p:cNvPr id="580" name="Google Shape;580;p38"/>
          <p:cNvSpPr txBox="1"/>
          <p:nvPr/>
        </p:nvSpPr>
        <p:spPr>
          <a:xfrm>
            <a:off x="1427926" y="4545322"/>
            <a:ext cx="181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nd multiply that by 90</a:t>
            </a:r>
            <a:r>
              <a:rPr b="1" baseline="30000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1" name="Google Shape;581;p38"/>
          <p:cNvSpPr txBox="1"/>
          <p:nvPr/>
        </p:nvSpPr>
        <p:spPr>
          <a:xfrm>
            <a:off x="5451296" y="4287226"/>
            <a:ext cx="69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x  90</a:t>
            </a:r>
            <a:r>
              <a:rPr b="1" baseline="30000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300">
              <a:solidFill>
                <a:srgbClr val="FFFF00"/>
              </a:solidFill>
            </a:endParaRPr>
          </a:p>
        </p:txBody>
      </p:sp>
      <p:sp>
        <p:nvSpPr>
          <p:cNvPr id="582" name="Google Shape;582;p38"/>
          <p:cNvSpPr txBox="1"/>
          <p:nvPr/>
        </p:nvSpPr>
        <p:spPr>
          <a:xfrm>
            <a:off x="4801506" y="4288250"/>
            <a:ext cx="31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sz="1300">
              <a:solidFill>
                <a:srgbClr val="FFFF00"/>
              </a:solidFill>
            </a:endParaRPr>
          </a:p>
        </p:txBody>
      </p:sp>
      <p:cxnSp>
        <p:nvCxnSpPr>
          <p:cNvPr id="583" name="Google Shape;583;p38"/>
          <p:cNvCxnSpPr/>
          <p:nvPr/>
        </p:nvCxnSpPr>
        <p:spPr>
          <a:xfrm flipH="1">
            <a:off x="5301924" y="4100200"/>
            <a:ext cx="77100" cy="2445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4" name="Google Shape;584;p38"/>
          <p:cNvSpPr txBox="1"/>
          <p:nvPr/>
        </p:nvSpPr>
        <p:spPr>
          <a:xfrm>
            <a:off x="4950599" y="4642179"/>
            <a:ext cx="64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- 2)  </a:t>
            </a:r>
            <a:endParaRPr b="1" sz="1300">
              <a:solidFill>
                <a:srgbClr val="FFFF00"/>
              </a:solidFill>
            </a:endParaRPr>
          </a:p>
        </p:txBody>
      </p:sp>
      <p:sp>
        <p:nvSpPr>
          <p:cNvPr id="585" name="Google Shape;585;p38"/>
          <p:cNvSpPr txBox="1"/>
          <p:nvPr/>
        </p:nvSpPr>
        <p:spPr>
          <a:xfrm>
            <a:off x="5460320" y="4659203"/>
            <a:ext cx="69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x  180</a:t>
            </a:r>
            <a:r>
              <a:rPr b="1" baseline="30000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300">
              <a:solidFill>
                <a:srgbClr val="FFFF00"/>
              </a:solidFill>
            </a:endParaRPr>
          </a:p>
        </p:txBody>
      </p:sp>
      <p:grpSp>
        <p:nvGrpSpPr>
          <p:cNvPr id="586" name="Google Shape;586;p38"/>
          <p:cNvGrpSpPr/>
          <p:nvPr/>
        </p:nvGrpSpPr>
        <p:grpSpPr>
          <a:xfrm>
            <a:off x="4961941" y="4549375"/>
            <a:ext cx="840958" cy="212700"/>
            <a:chOff x="5038141" y="4625575"/>
            <a:chExt cx="840958" cy="212700"/>
          </a:xfrm>
        </p:grpSpPr>
        <p:cxnSp>
          <p:nvCxnSpPr>
            <p:cNvPr id="587" name="Google Shape;587;p38"/>
            <p:cNvCxnSpPr/>
            <p:nvPr/>
          </p:nvCxnSpPr>
          <p:spPr>
            <a:xfrm>
              <a:off x="5038141" y="4657978"/>
              <a:ext cx="811200" cy="147900"/>
            </a:xfrm>
            <a:prstGeom prst="straightConnector1">
              <a:avLst/>
            </a:prstGeom>
            <a:noFill/>
            <a:ln cap="flat" cmpd="sng" w="28575">
              <a:solidFill>
                <a:srgbClr val="EAD1DC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588" name="Google Shape;588;p38"/>
            <p:cNvCxnSpPr/>
            <p:nvPr/>
          </p:nvCxnSpPr>
          <p:spPr>
            <a:xfrm flipH="1">
              <a:off x="5870699" y="4625575"/>
              <a:ext cx="8400" cy="212700"/>
            </a:xfrm>
            <a:prstGeom prst="straightConnector1">
              <a:avLst/>
            </a:prstGeom>
            <a:noFill/>
            <a:ln cap="flat" cmpd="sng" w="28575">
              <a:solidFill>
                <a:srgbClr val="EAD1DC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589" name="Google Shape;589;p38"/>
          <p:cNvSpPr txBox="1"/>
          <p:nvPr/>
        </p:nvSpPr>
        <p:spPr>
          <a:xfrm>
            <a:off x="6780676" y="1819075"/>
            <a:ext cx="8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28 x 180</a:t>
            </a:r>
            <a:r>
              <a:rPr b="1"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0" name="Google Shape;590;p38"/>
          <p:cNvCxnSpPr/>
          <p:nvPr/>
        </p:nvCxnSpPr>
        <p:spPr>
          <a:xfrm>
            <a:off x="5879476" y="2003725"/>
            <a:ext cx="642600" cy="60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1" name="Google Shape;591;p38"/>
          <p:cNvSpPr txBox="1"/>
          <p:nvPr/>
        </p:nvSpPr>
        <p:spPr>
          <a:xfrm>
            <a:off x="6807747" y="2159970"/>
            <a:ext cx="8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13 x 180</a:t>
            </a:r>
            <a:r>
              <a:rPr b="1"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2" name="Google Shape;592;p38"/>
          <p:cNvCxnSpPr/>
          <p:nvPr/>
        </p:nvCxnSpPr>
        <p:spPr>
          <a:xfrm>
            <a:off x="5906547" y="2344620"/>
            <a:ext cx="642600" cy="60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3" name="Google Shape;593;p38"/>
          <p:cNvSpPr txBox="1"/>
          <p:nvPr/>
        </p:nvSpPr>
        <p:spPr>
          <a:xfrm>
            <a:off x="6798723" y="2526290"/>
            <a:ext cx="8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25 x 180</a:t>
            </a:r>
            <a:r>
              <a:rPr b="1"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4" name="Google Shape;594;p38"/>
          <p:cNvCxnSpPr/>
          <p:nvPr/>
        </p:nvCxnSpPr>
        <p:spPr>
          <a:xfrm>
            <a:off x="5906547" y="2702078"/>
            <a:ext cx="642600" cy="60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5" name="Google Shape;595;p38"/>
          <p:cNvSpPr txBox="1"/>
          <p:nvPr/>
        </p:nvSpPr>
        <p:spPr>
          <a:xfrm>
            <a:off x="6549150" y="4649975"/>
            <a:ext cx="28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get back the same formula</a:t>
            </a:r>
            <a:endParaRPr sz="12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Google Shape;600;p39"/>
          <p:cNvCxnSpPr/>
          <p:nvPr/>
        </p:nvCxnSpPr>
        <p:spPr>
          <a:xfrm flipH="1">
            <a:off x="1924815" y="855835"/>
            <a:ext cx="2328900" cy="15993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1" name="Google Shape;601;p39"/>
          <p:cNvCxnSpPr/>
          <p:nvPr/>
        </p:nvCxnSpPr>
        <p:spPr>
          <a:xfrm>
            <a:off x="4253706" y="855835"/>
            <a:ext cx="2414100" cy="16422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2" name="Google Shape;602;p39"/>
          <p:cNvSpPr txBox="1"/>
          <p:nvPr/>
        </p:nvSpPr>
        <p:spPr>
          <a:xfrm>
            <a:off x="514460" y="456475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 type of polygon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" name="Google Shape;603;p39"/>
          <p:cNvSpPr txBox="1"/>
          <p:nvPr/>
        </p:nvSpPr>
        <p:spPr>
          <a:xfrm>
            <a:off x="2132686" y="456475"/>
            <a:ext cx="24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Regular or Irregular Polygon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4" name="Google Shape;604;p39"/>
          <p:cNvSpPr txBox="1"/>
          <p:nvPr/>
        </p:nvSpPr>
        <p:spPr>
          <a:xfrm>
            <a:off x="4081376" y="456475"/>
            <a:ext cx="29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 Sum of interior angles is always equal to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5" name="Google Shape;605;p39"/>
          <p:cNvSpPr txBox="1"/>
          <p:nvPr/>
        </p:nvSpPr>
        <p:spPr>
          <a:xfrm>
            <a:off x="6927165" y="436275"/>
            <a:ext cx="124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en-GB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-2) </a:t>
            </a: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x  180</a:t>
            </a:r>
            <a:r>
              <a:rPr b="1" baseline="30000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606" name="Google Shape;606;p39"/>
          <p:cNvSpPr txBox="1"/>
          <p:nvPr/>
        </p:nvSpPr>
        <p:spPr>
          <a:xfrm>
            <a:off x="1147050" y="2478875"/>
            <a:ext cx="18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REGULAR POLYGONS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" name="Google Shape;607;p39"/>
          <p:cNvSpPr txBox="1"/>
          <p:nvPr/>
        </p:nvSpPr>
        <p:spPr>
          <a:xfrm>
            <a:off x="5659750" y="2478875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IRREGULAR POLYGONS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" name="Google Shape;608;p39"/>
          <p:cNvSpPr txBox="1"/>
          <p:nvPr/>
        </p:nvSpPr>
        <p:spPr>
          <a:xfrm>
            <a:off x="481100" y="2914974"/>
            <a:ext cx="329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Since all angles of a Regular Polygon are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39"/>
          <p:cNvSpPr txBox="1"/>
          <p:nvPr/>
        </p:nvSpPr>
        <p:spPr>
          <a:xfrm>
            <a:off x="100100" y="3210750"/>
            <a:ext cx="105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That means,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0" name="Google Shape;610;p39"/>
          <p:cNvSpPr txBox="1"/>
          <p:nvPr/>
        </p:nvSpPr>
        <p:spPr>
          <a:xfrm>
            <a:off x="948475" y="3211006"/>
            <a:ext cx="38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 can find Each Interior Angle of a Regular polygon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type&quot;:&quot;$$&quot;,&quot;font&quot;:{&quot;size&quot;:12,&quot;color&quot;:&quot;#ffffff&quot;,&quot;family&quot;:&quot;Arial&quot;},&quot;id&quot;:&quot;19&quot;,&quot;backgroundColor&quot;:&quot;#000000&quot;,&quot;code&quot;:&quot;$$\\c{ffeb3b}{\\frac{\\left(n-2\\right)180\\udeg}{n}}$$&quot;,&quot;aid&quot;:null,&quot;ts&quot;:1717410560598,&quot;cs&quot;:&quot;PYeg8ezzYqE/iVQfppuasA==&quot;,&quot;size&quot;:{&quot;width&quot;:98.33333333333333,&quot;height&quot;:40.5}}" id="611" name="Google Shape;61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82" y="3771107"/>
            <a:ext cx="762925" cy="31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/>
          <p:nvPr/>
        </p:nvSpPr>
        <p:spPr>
          <a:xfrm>
            <a:off x="48875" y="3771100"/>
            <a:ext cx="317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Each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Interior Angle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of </a:t>
            </a: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-sided polygon   =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" name="Google Shape;613;p39"/>
          <p:cNvSpPr txBox="1"/>
          <p:nvPr/>
        </p:nvSpPr>
        <p:spPr>
          <a:xfrm>
            <a:off x="5234575" y="2896925"/>
            <a:ext cx="360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But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all angles of an Irregular Polygon are not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4" name="Google Shape;614;p39"/>
          <p:cNvSpPr txBox="1"/>
          <p:nvPr/>
        </p:nvSpPr>
        <p:spPr>
          <a:xfrm>
            <a:off x="4081376" y="4497400"/>
            <a:ext cx="13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Let’s see how !</a:t>
            </a:r>
            <a:endParaRPr b="1">
              <a:solidFill>
                <a:srgbClr val="EAD1D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" name="Google Shape;615;p39"/>
          <p:cNvSpPr txBox="1"/>
          <p:nvPr/>
        </p:nvSpPr>
        <p:spPr>
          <a:xfrm>
            <a:off x="5797057" y="3158532"/>
            <a:ext cx="2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 there’s no formula for this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5145550" y="3443050"/>
            <a:ext cx="369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Generally, in questions related to Irregular polygons, you will be asked to find the missing angle!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0"/>
          <p:cNvSpPr txBox="1"/>
          <p:nvPr/>
        </p:nvSpPr>
        <p:spPr>
          <a:xfrm>
            <a:off x="70300" y="644088"/>
            <a:ext cx="70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Q: 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of the interior angle of a regular polygon having 10 Sides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130975" y="1223622"/>
            <a:ext cx="879600" cy="369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ato"/>
                <a:ea typeface="Lato"/>
                <a:cs typeface="Lato"/>
                <a:sym typeface="Lato"/>
              </a:rPr>
              <a:t>Solution: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3" name="Google Shape;623;p40"/>
          <p:cNvSpPr txBox="1"/>
          <p:nvPr/>
        </p:nvSpPr>
        <p:spPr>
          <a:xfrm>
            <a:off x="178625" y="1699874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Sum of interior angles of the given Polygon</a:t>
            </a:r>
            <a:endParaRPr b="1" i="1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4" name="Google Shape;624;p40"/>
          <p:cNvSpPr txBox="1"/>
          <p:nvPr/>
        </p:nvSpPr>
        <p:spPr>
          <a:xfrm>
            <a:off x="5538861" y="2202468"/>
            <a:ext cx="213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sides =  </a:t>
            </a:r>
            <a:r>
              <a:rPr i="1" lang="en-GB" sz="12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=10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25" name="Google Shape;625;p40"/>
          <p:cNvSpPr txBox="1"/>
          <p:nvPr/>
        </p:nvSpPr>
        <p:spPr>
          <a:xfrm>
            <a:off x="746097" y="2069175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Interior angles   =   (</a:t>
            </a:r>
            <a:r>
              <a:rPr lang="en-GB" sz="1200">
                <a:solidFill>
                  <a:srgbClr val="FF99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-2) x 180</a:t>
            </a:r>
            <a:r>
              <a:rPr baseline="30000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" name="Google Shape;626;p40"/>
          <p:cNvSpPr txBox="1"/>
          <p:nvPr/>
        </p:nvSpPr>
        <p:spPr>
          <a:xfrm>
            <a:off x="768768" y="4178865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Measure of each interior angle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font&quot;:{&quot;family&quot;:&quot;Arial&quot;,&quot;color&quot;:&quot;#ffffff&quot;,&quot;size&quot;:12},&quot;aid&quot;:null,&quot;id&quot;:&quot;14&quot;,&quot;code&quot;:&quot;$$\\c{ffb224}{\\frac{\\text{Sum}\\;\\text{of}\\;\\text{interior}\\;\\text{angles}}{\\text{n}}}$$&quot;,&quot;type&quot;:&quot;$$&quot;,&quot;backgroundColor&quot;:&quot;#000000&quot;,&quot;ts&quot;:1717402083710,&quot;cs&quot;:&quot;r7hrVOPFoYJ7pnZHMVPBYg==&quot;,&quot;size&quot;:{&quot;width&quot;:182,&quot;height&quot;:38.833333333333336}}" id="627" name="Google Shape;6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604" y="4199340"/>
            <a:ext cx="1733550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15&quot;,&quot;aid&quot;:null,&quot;backgroundColor&quot;:&quot;#000000&quot;,&quot;code&quot;:&quot;$$=\\frac{1440^{\\text{o}}}{10}$$&quot;,&quot;font&quot;:{&quot;size&quot;:12,&quot;family&quot;:&quot;Arial&quot;,&quot;color&quot;:&quot;#ffffff&quot;},&quot;ts&quot;:1717402144319,&quot;cs&quot;:&quot;/3lL7PVGE9zuBYVOT0zjBQ==&quot;,&quot;size&quot;:{&quot;width&quot;:70.5,&quot;height&quot;:39.5}}" id="628" name="Google Shape;62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6953" y="4185460"/>
            <a:ext cx="671513" cy="376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backgroundColor&quot;:&quot;#000000&quot;,&quot;font&quot;:{&quot;family&quot;:&quot;Arial&quot;,&quot;color&quot;:&quot;#ffffff&quot;,&quot;size&quot;:12},&quot;aid&quot;:null,&quot;id&quot;:&quot;15&quot;,&quot;code&quot;:&quot;$$=144^{\\text{o}}$$&quot;,&quot;ts&quot;:1717402371254,&quot;cs&quot;:&quot;aHaybg81tWQoGoJS5wVmPw==&quot;,&quot;size&quot;:{&quot;width&quot;:54,&quot;height&quot;:13.833333333333334}}" id="629" name="Google Shape;62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2263" y="4297649"/>
            <a:ext cx="514350" cy="131763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0"/>
          <p:cNvSpPr/>
          <p:nvPr/>
        </p:nvSpPr>
        <p:spPr>
          <a:xfrm>
            <a:off x="2487500" y="622813"/>
            <a:ext cx="9885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3270421" y="24153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(10 -2) x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8 x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1440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167925" y="366190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interior angle of a Regular Polygon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40"/>
          <p:cNvSpPr/>
          <p:nvPr/>
        </p:nvSpPr>
        <p:spPr>
          <a:xfrm>
            <a:off x="5278150" y="622813"/>
            <a:ext cx="7488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" name="Google Shape;634;p40"/>
          <p:cNvSpPr txBox="1"/>
          <p:nvPr/>
        </p:nvSpPr>
        <p:spPr>
          <a:xfrm>
            <a:off x="5460926" y="4705975"/>
            <a:ext cx="307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Measure of each interior angle  = 144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35" name="Google Shape;635;p40"/>
          <p:cNvGrpSpPr/>
          <p:nvPr/>
        </p:nvGrpSpPr>
        <p:grpSpPr>
          <a:xfrm>
            <a:off x="6435071" y="4168168"/>
            <a:ext cx="207136" cy="445364"/>
            <a:chOff x="6435071" y="3863368"/>
            <a:chExt cx="207136" cy="445364"/>
          </a:xfrm>
        </p:grpSpPr>
        <p:cxnSp>
          <p:nvCxnSpPr>
            <p:cNvPr id="636" name="Google Shape;636;p40"/>
            <p:cNvCxnSpPr/>
            <p:nvPr/>
          </p:nvCxnSpPr>
          <p:spPr>
            <a:xfrm>
              <a:off x="6488607" y="3863368"/>
              <a:ext cx="153600" cy="194100"/>
            </a:xfrm>
            <a:prstGeom prst="straightConnector1">
              <a:avLst/>
            </a:prstGeom>
            <a:noFill/>
            <a:ln cap="flat" cmpd="sng" w="1905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40"/>
            <p:cNvCxnSpPr/>
            <p:nvPr/>
          </p:nvCxnSpPr>
          <p:spPr>
            <a:xfrm>
              <a:off x="6435071" y="4114631"/>
              <a:ext cx="153600" cy="194100"/>
            </a:xfrm>
            <a:prstGeom prst="straightConnector1">
              <a:avLst/>
            </a:prstGeom>
            <a:noFill/>
            <a:ln cap="flat" cmpd="sng" w="1905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38" name="Google Shape;638;p40"/>
          <p:cNvCxnSpPr/>
          <p:nvPr/>
        </p:nvCxnSpPr>
        <p:spPr>
          <a:xfrm>
            <a:off x="5450219" y="5053732"/>
            <a:ext cx="3075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40"/>
          <p:cNvSpPr txBox="1"/>
          <p:nvPr/>
        </p:nvSpPr>
        <p:spPr>
          <a:xfrm>
            <a:off x="3383225" y="78850"/>
            <a:ext cx="2067000" cy="400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Regular Polygon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1"/>
          <p:cNvSpPr txBox="1"/>
          <p:nvPr/>
        </p:nvSpPr>
        <p:spPr>
          <a:xfrm>
            <a:off x="159425" y="631038"/>
            <a:ext cx="365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</a:t>
            </a:r>
            <a:r>
              <a:rPr b="1"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given figure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45" name="Google Shape;645;p41"/>
          <p:cNvGrpSpPr/>
          <p:nvPr/>
        </p:nvGrpSpPr>
        <p:grpSpPr>
          <a:xfrm>
            <a:off x="6017024" y="457194"/>
            <a:ext cx="3218345" cy="2215041"/>
            <a:chOff x="6017024" y="457194"/>
            <a:chExt cx="3218345" cy="2215041"/>
          </a:xfrm>
        </p:grpSpPr>
        <p:cxnSp>
          <p:nvCxnSpPr>
            <p:cNvPr id="646" name="Google Shape;646;p41"/>
            <p:cNvCxnSpPr/>
            <p:nvPr/>
          </p:nvCxnSpPr>
          <p:spPr>
            <a:xfrm>
              <a:off x="6331425" y="764825"/>
              <a:ext cx="318300" cy="11880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41"/>
            <p:cNvCxnSpPr/>
            <p:nvPr/>
          </p:nvCxnSpPr>
          <p:spPr>
            <a:xfrm>
              <a:off x="6649725" y="1952825"/>
              <a:ext cx="1706100" cy="4572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41"/>
            <p:cNvCxnSpPr/>
            <p:nvPr/>
          </p:nvCxnSpPr>
          <p:spPr>
            <a:xfrm flipH="1" rot="10800000">
              <a:off x="8355825" y="1441625"/>
              <a:ext cx="559200" cy="9684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41"/>
            <p:cNvCxnSpPr/>
            <p:nvPr/>
          </p:nvCxnSpPr>
          <p:spPr>
            <a:xfrm rot="10800000">
              <a:off x="6336800" y="755800"/>
              <a:ext cx="2573100" cy="6894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0" name="Google Shape;650;p41"/>
            <p:cNvSpPr/>
            <p:nvPr/>
          </p:nvSpPr>
          <p:spPr>
            <a:xfrm rot="-1812600">
              <a:off x="6120226" y="528732"/>
              <a:ext cx="426297" cy="524724"/>
            </a:xfrm>
            <a:prstGeom prst="pie">
              <a:avLst>
                <a:gd fmla="val 2540773" name="adj1"/>
                <a:gd fmla="val 5911493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1"/>
            <p:cNvSpPr/>
            <p:nvPr/>
          </p:nvSpPr>
          <p:spPr>
            <a:xfrm rot="-6229916">
              <a:off x="6409486" y="1680986"/>
              <a:ext cx="469309" cy="517478"/>
            </a:xfrm>
            <a:prstGeom prst="pie">
              <a:avLst>
                <a:gd fmla="val 21402590" name="adj1"/>
                <a:gd fmla="val 7028576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1"/>
            <p:cNvSpPr/>
            <p:nvPr/>
          </p:nvSpPr>
          <p:spPr>
            <a:xfrm rot="-10447125">
              <a:off x="8087959" y="2122173"/>
              <a:ext cx="521143" cy="524724"/>
            </a:xfrm>
            <a:prstGeom prst="pie">
              <a:avLst>
                <a:gd fmla="val 467498" name="adj1"/>
                <a:gd fmla="val 6988471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1"/>
            <p:cNvSpPr/>
            <p:nvPr/>
          </p:nvSpPr>
          <p:spPr>
            <a:xfrm rot="6753997">
              <a:off x="8632358" y="1204080"/>
              <a:ext cx="521423" cy="524654"/>
            </a:xfrm>
            <a:prstGeom prst="pie">
              <a:avLst>
                <a:gd fmla="val 509743" name="adj1"/>
                <a:gd fmla="val 4995698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1"/>
            <p:cNvSpPr txBox="1"/>
            <p:nvPr/>
          </p:nvSpPr>
          <p:spPr>
            <a:xfrm>
              <a:off x="6449325" y="901100"/>
              <a:ext cx="502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60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r>
                <a:rPr b="1" baseline="-25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lang="en-GB"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b="1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55" name="Google Shape;655;p41"/>
            <p:cNvSpPr txBox="1"/>
            <p:nvPr/>
          </p:nvSpPr>
          <p:spPr>
            <a:xfrm>
              <a:off x="8257025" y="1349875"/>
              <a:ext cx="451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i="1" lang="en-GB" sz="1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x </a:t>
              </a:r>
              <a:r>
                <a:rPr b="1" baseline="30000" i="1" lang="en-GB" sz="10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O</a:t>
              </a:r>
              <a:endParaRPr b="1" baseline="30000" sz="1100"/>
            </a:p>
          </p:txBody>
        </p:sp>
        <p:sp>
          <p:nvSpPr>
            <p:cNvPr id="656" name="Google Shape;656;p41"/>
            <p:cNvSpPr txBox="1"/>
            <p:nvPr/>
          </p:nvSpPr>
          <p:spPr>
            <a:xfrm>
              <a:off x="6800275" y="1506563"/>
              <a:ext cx="614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110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sz="1000"/>
            </a:p>
          </p:txBody>
        </p:sp>
        <p:sp>
          <p:nvSpPr>
            <p:cNvPr id="657" name="Google Shape;657;p41"/>
            <p:cNvSpPr txBox="1"/>
            <p:nvPr/>
          </p:nvSpPr>
          <p:spPr>
            <a:xfrm>
              <a:off x="7986425" y="1807800"/>
              <a:ext cx="730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120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sz="1000"/>
            </a:p>
          </p:txBody>
        </p:sp>
      </p:grpSp>
      <p:sp>
        <p:nvSpPr>
          <p:cNvPr id="658" name="Google Shape;658;p41"/>
          <p:cNvSpPr txBox="1"/>
          <p:nvPr/>
        </p:nvSpPr>
        <p:spPr>
          <a:xfrm>
            <a:off x="183532" y="1052969"/>
            <a:ext cx="875400" cy="369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ato"/>
                <a:ea typeface="Lato"/>
                <a:cs typeface="Lato"/>
                <a:sym typeface="Lato"/>
              </a:rPr>
              <a:t>Solution:</a:t>
            </a:r>
            <a:endParaRPr/>
          </a:p>
        </p:txBody>
      </p:sp>
      <p:sp>
        <p:nvSpPr>
          <p:cNvPr id="659" name="Google Shape;659;p41"/>
          <p:cNvSpPr txBox="1"/>
          <p:nvPr/>
        </p:nvSpPr>
        <p:spPr>
          <a:xfrm>
            <a:off x="169599" y="1499800"/>
            <a:ext cx="4567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Sum of interior angles of the given Polygon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0" name="Google Shape;660;p41"/>
          <p:cNvSpPr txBox="1"/>
          <p:nvPr/>
        </p:nvSpPr>
        <p:spPr>
          <a:xfrm>
            <a:off x="158900" y="3231100"/>
            <a:ext cx="34416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missing angle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p41"/>
          <p:cNvSpPr txBox="1"/>
          <p:nvPr/>
        </p:nvSpPr>
        <p:spPr>
          <a:xfrm>
            <a:off x="4984826" y="4466160"/>
            <a:ext cx="1827000" cy="3849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The value of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70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" name="Google Shape;662;p41"/>
          <p:cNvSpPr txBox="1"/>
          <p:nvPr/>
        </p:nvSpPr>
        <p:spPr>
          <a:xfrm>
            <a:off x="1053555" y="3659711"/>
            <a:ext cx="359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120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+  110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+  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+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 360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3" name="Google Shape;663;p41"/>
          <p:cNvSpPr txBox="1"/>
          <p:nvPr/>
        </p:nvSpPr>
        <p:spPr>
          <a:xfrm>
            <a:off x="1457954" y="4020500"/>
            <a:ext cx="63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290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41"/>
          <p:cNvSpPr txBox="1"/>
          <p:nvPr/>
        </p:nvSpPr>
        <p:spPr>
          <a:xfrm>
            <a:off x="1522828" y="4334120"/>
            <a:ext cx="231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 360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- 290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 70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5" name="Google Shape;665;p41"/>
          <p:cNvSpPr/>
          <p:nvPr/>
        </p:nvSpPr>
        <p:spPr>
          <a:xfrm rot="5400000">
            <a:off x="1626229" y="3287712"/>
            <a:ext cx="109800" cy="1500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6" name="Google Shape;666;p41"/>
          <p:cNvSpPr txBox="1"/>
          <p:nvPr/>
        </p:nvSpPr>
        <p:spPr>
          <a:xfrm>
            <a:off x="1927345" y="400977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 360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7" name="Google Shape;667;p41"/>
          <p:cNvSpPr txBox="1"/>
          <p:nvPr/>
        </p:nvSpPr>
        <p:spPr>
          <a:xfrm>
            <a:off x="3383225" y="78850"/>
            <a:ext cx="2067000" cy="400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Irregular Polygon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" name="Google Shape;668;p41"/>
          <p:cNvSpPr txBox="1"/>
          <p:nvPr/>
        </p:nvSpPr>
        <p:spPr>
          <a:xfrm>
            <a:off x="4479062" y="2122466"/>
            <a:ext cx="213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sides =  </a:t>
            </a:r>
            <a:r>
              <a:rPr i="1" lang="en-GB" sz="12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69" name="Google Shape;669;p41"/>
          <p:cNvSpPr txBox="1"/>
          <p:nvPr/>
        </p:nvSpPr>
        <p:spPr>
          <a:xfrm>
            <a:off x="660873" y="1934822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Interior angles   =   (</a:t>
            </a:r>
            <a:r>
              <a:rPr lang="en-GB" sz="1200">
                <a:solidFill>
                  <a:srgbClr val="FF99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-2) x 180</a:t>
            </a:r>
            <a:r>
              <a:rPr baseline="30000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0" name="Google Shape;670;p41"/>
          <p:cNvSpPr txBox="1"/>
          <p:nvPr/>
        </p:nvSpPr>
        <p:spPr>
          <a:xfrm>
            <a:off x="3185197" y="2281022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(4 -2) x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2 x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360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2"/>
          <p:cNvSpPr txBox="1"/>
          <p:nvPr/>
        </p:nvSpPr>
        <p:spPr>
          <a:xfrm>
            <a:off x="1126225" y="1945250"/>
            <a:ext cx="661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look at </a:t>
            </a:r>
            <a:r>
              <a:rPr b="1" lang="en-GB" sz="26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Exterior Angles</a:t>
            </a:r>
            <a:r>
              <a:rPr b="1" lang="en-GB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of a Polygon</a:t>
            </a:r>
            <a:endParaRPr b="1" sz="26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3"/>
          <p:cNvSpPr/>
          <p:nvPr/>
        </p:nvSpPr>
        <p:spPr>
          <a:xfrm>
            <a:off x="5935825" y="426950"/>
            <a:ext cx="2393100" cy="21582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FFE599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1" name="Google Shape;681;p43"/>
          <p:cNvSpPr/>
          <p:nvPr/>
        </p:nvSpPr>
        <p:spPr>
          <a:xfrm rot="-2695803">
            <a:off x="6861204" y="173839"/>
            <a:ext cx="521209" cy="524390"/>
          </a:xfrm>
          <a:prstGeom prst="pie">
            <a:avLst>
              <a:gd fmla="val 573891" name="adj1"/>
              <a:gd fmla="val 5142375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2" name="Google Shape;682;p43"/>
          <p:cNvCxnSpPr/>
          <p:nvPr/>
        </p:nvCxnSpPr>
        <p:spPr>
          <a:xfrm flipH="1" rot="10800000">
            <a:off x="6940200" y="71750"/>
            <a:ext cx="684600" cy="473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43"/>
          <p:cNvCxnSpPr/>
          <p:nvPr/>
        </p:nvCxnSpPr>
        <p:spPr>
          <a:xfrm>
            <a:off x="8022400" y="1026575"/>
            <a:ext cx="916800" cy="642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3"/>
          <p:cNvCxnSpPr>
            <a:stCxn id="680" idx="2"/>
          </p:cNvCxnSpPr>
          <p:nvPr/>
        </p:nvCxnSpPr>
        <p:spPr>
          <a:xfrm rot="10800000">
            <a:off x="5662068" y="2573145"/>
            <a:ext cx="730800" cy="120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3"/>
          <p:cNvCxnSpPr>
            <a:stCxn id="680" idx="1"/>
          </p:cNvCxnSpPr>
          <p:nvPr/>
        </p:nvCxnSpPr>
        <p:spPr>
          <a:xfrm rot="10800000">
            <a:off x="5709628" y="573007"/>
            <a:ext cx="226200" cy="678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6" name="Google Shape;686;p43"/>
          <p:cNvGrpSpPr/>
          <p:nvPr/>
        </p:nvGrpSpPr>
        <p:grpSpPr>
          <a:xfrm>
            <a:off x="5586794" y="66753"/>
            <a:ext cx="3062584" cy="2823141"/>
            <a:chOff x="5586794" y="66753"/>
            <a:chExt cx="3062584" cy="2823141"/>
          </a:xfrm>
        </p:grpSpPr>
        <p:sp>
          <p:nvSpPr>
            <p:cNvPr id="687" name="Google Shape;687;p43"/>
            <p:cNvSpPr/>
            <p:nvPr/>
          </p:nvSpPr>
          <p:spPr>
            <a:xfrm rot="2485856">
              <a:off x="6861099" y="173661"/>
              <a:ext cx="521371" cy="524785"/>
            </a:xfrm>
            <a:prstGeom prst="pie">
              <a:avLst>
                <a:gd fmla="val 21284922" name="adj1"/>
                <a:gd fmla="val 6141113" name="adj2"/>
              </a:avLst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 rot="-10447125">
              <a:off x="7598731" y="2311791"/>
              <a:ext cx="521143" cy="524724"/>
            </a:xfrm>
            <a:prstGeom prst="pie">
              <a:avLst>
                <a:gd fmla="val 21284922" name="adj1"/>
                <a:gd fmla="val 6141113" name="adj2"/>
              </a:avLst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 rot="6753997">
              <a:off x="8046367" y="1005823"/>
              <a:ext cx="521423" cy="524654"/>
            </a:xfrm>
            <a:prstGeom prst="pie">
              <a:avLst>
                <a:gd fmla="val 21284922" name="adj1"/>
                <a:gd fmla="val 6141113" name="adj2"/>
              </a:avLst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 rot="-1812679">
              <a:off x="5683557" y="989432"/>
              <a:ext cx="521075" cy="524724"/>
            </a:xfrm>
            <a:prstGeom prst="pie">
              <a:avLst>
                <a:gd fmla="val 21284922" name="adj1"/>
                <a:gd fmla="val 6141113" name="adj2"/>
              </a:avLst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 rot="-6229217">
              <a:off x="6123467" y="2311840"/>
              <a:ext cx="521189" cy="524608"/>
            </a:xfrm>
            <a:prstGeom prst="pie">
              <a:avLst>
                <a:gd fmla="val 21284922" name="adj1"/>
                <a:gd fmla="val 6141113" name="adj2"/>
              </a:avLst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2" name="Google Shape;692;p43"/>
          <p:cNvSpPr/>
          <p:nvPr/>
        </p:nvSpPr>
        <p:spPr>
          <a:xfrm rot="-7074454">
            <a:off x="5683548" y="989432"/>
            <a:ext cx="521102" cy="524736"/>
          </a:xfrm>
          <a:prstGeom prst="pie">
            <a:avLst>
              <a:gd fmla="val 400204" name="adj1"/>
              <a:gd fmla="val 5142375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3"/>
          <p:cNvSpPr/>
          <p:nvPr/>
        </p:nvSpPr>
        <p:spPr>
          <a:xfrm rot="1436343">
            <a:off x="8046454" y="1005976"/>
            <a:ext cx="521238" cy="524345"/>
          </a:xfrm>
          <a:prstGeom prst="pie">
            <a:avLst>
              <a:gd fmla="val 573891" name="adj1"/>
              <a:gd fmla="val 5142375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43"/>
          <p:cNvSpPr/>
          <p:nvPr/>
        </p:nvSpPr>
        <p:spPr>
          <a:xfrm rot="5715070">
            <a:off x="7577636" y="2342171"/>
            <a:ext cx="521187" cy="524446"/>
          </a:xfrm>
          <a:prstGeom prst="pie">
            <a:avLst>
              <a:gd fmla="val 801518" name="adj1"/>
              <a:gd fmla="val 5100122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3"/>
          <p:cNvSpPr/>
          <p:nvPr/>
        </p:nvSpPr>
        <p:spPr>
          <a:xfrm rot="10325352">
            <a:off x="6123582" y="2311961"/>
            <a:ext cx="520958" cy="524350"/>
          </a:xfrm>
          <a:prstGeom prst="pie">
            <a:avLst>
              <a:gd fmla="val 573891" name="adj1"/>
              <a:gd fmla="val 5142375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3"/>
          <p:cNvSpPr txBox="1"/>
          <p:nvPr/>
        </p:nvSpPr>
        <p:spPr>
          <a:xfrm>
            <a:off x="104146" y="89050"/>
            <a:ext cx="16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Consider a Pentagon. 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43"/>
          <p:cNvSpPr txBox="1"/>
          <p:nvPr/>
        </p:nvSpPr>
        <p:spPr>
          <a:xfrm>
            <a:off x="86397" y="1051600"/>
            <a:ext cx="37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Now, extend the side and create its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5 exterior angles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8" name="Google Shape;698;p43"/>
          <p:cNvSpPr txBox="1"/>
          <p:nvPr/>
        </p:nvSpPr>
        <p:spPr>
          <a:xfrm>
            <a:off x="99996" y="348675"/>
            <a:ext cx="275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is the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its Interior Angles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" name="Google Shape;699;p43"/>
          <p:cNvSpPr txBox="1"/>
          <p:nvPr/>
        </p:nvSpPr>
        <p:spPr>
          <a:xfrm>
            <a:off x="103425" y="1425950"/>
            <a:ext cx="56061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Observe the relationship between interior and corresponding exterior angle?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0" name="Google Shape;700;p43"/>
          <p:cNvSpPr txBox="1"/>
          <p:nvPr/>
        </p:nvSpPr>
        <p:spPr>
          <a:xfrm>
            <a:off x="108354" y="1815597"/>
            <a:ext cx="128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At each vertex,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1" name="Google Shape;701;p43"/>
          <p:cNvCxnSpPr/>
          <p:nvPr/>
        </p:nvCxnSpPr>
        <p:spPr>
          <a:xfrm flipH="1">
            <a:off x="7573400" y="2321200"/>
            <a:ext cx="372600" cy="1116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43"/>
          <p:cNvSpPr txBox="1"/>
          <p:nvPr/>
        </p:nvSpPr>
        <p:spPr>
          <a:xfrm>
            <a:off x="893575" y="3343850"/>
            <a:ext cx="4909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5 Interior angle + Sum of all 5 Exterior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3" name="Google Shape;703;p43"/>
          <p:cNvSpPr txBox="1"/>
          <p:nvPr/>
        </p:nvSpPr>
        <p:spPr>
          <a:xfrm>
            <a:off x="1169843" y="1819368"/>
            <a:ext cx="39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exterior angle and interior angle form a linear pair.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4" name="Google Shape;704;p43"/>
          <p:cNvSpPr txBox="1"/>
          <p:nvPr/>
        </p:nvSpPr>
        <p:spPr>
          <a:xfrm>
            <a:off x="435071" y="2355354"/>
            <a:ext cx="28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That is, at each vertex,</a:t>
            </a:r>
            <a:endParaRPr/>
          </a:p>
        </p:txBody>
      </p:sp>
      <p:sp>
        <p:nvSpPr>
          <p:cNvPr id="705" name="Google Shape;705;p43"/>
          <p:cNvSpPr txBox="1"/>
          <p:nvPr/>
        </p:nvSpPr>
        <p:spPr>
          <a:xfrm>
            <a:off x="4579174" y="3417600"/>
            <a:ext cx="261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 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+ 180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+ 180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+ 180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+ 180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  <p:sp>
        <p:nvSpPr>
          <p:cNvPr id="706" name="Google Shape;706;p43"/>
          <p:cNvSpPr txBox="1"/>
          <p:nvPr/>
        </p:nvSpPr>
        <p:spPr>
          <a:xfrm>
            <a:off x="907317" y="2610883"/>
            <a:ext cx="467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Interior angle + Exterior angle =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180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/>
          </a:p>
        </p:txBody>
      </p:sp>
      <p:sp>
        <p:nvSpPr>
          <p:cNvPr id="707" name="Google Shape;707;p43"/>
          <p:cNvSpPr txBox="1"/>
          <p:nvPr/>
        </p:nvSpPr>
        <p:spPr>
          <a:xfrm>
            <a:off x="435072" y="3121435"/>
            <a:ext cx="305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at all 5 vertices</a:t>
            </a:r>
            <a:endParaRPr/>
          </a:p>
        </p:txBody>
      </p:sp>
      <p:sp>
        <p:nvSpPr>
          <p:cNvPr id="708" name="Google Shape;708;p43"/>
          <p:cNvSpPr txBox="1"/>
          <p:nvPr/>
        </p:nvSpPr>
        <p:spPr>
          <a:xfrm>
            <a:off x="7119623" y="3420400"/>
            <a:ext cx="100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5 x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                                                       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09" name="Google Shape;709;p43"/>
          <p:cNvSpPr txBox="1"/>
          <p:nvPr/>
        </p:nvSpPr>
        <p:spPr>
          <a:xfrm>
            <a:off x="4600583" y="3671325"/>
            <a:ext cx="83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900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0" name="Google Shape;710;p43"/>
          <p:cNvCxnSpPr/>
          <p:nvPr/>
        </p:nvCxnSpPr>
        <p:spPr>
          <a:xfrm>
            <a:off x="2136990" y="3710510"/>
            <a:ext cx="0" cy="294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1" name="Google Shape;711;p43"/>
          <p:cNvSpPr txBox="1"/>
          <p:nvPr/>
        </p:nvSpPr>
        <p:spPr>
          <a:xfrm>
            <a:off x="1905698" y="4004510"/>
            <a:ext cx="63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540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2" name="Google Shape;712;p43"/>
          <p:cNvSpPr/>
          <p:nvPr/>
        </p:nvSpPr>
        <p:spPr>
          <a:xfrm>
            <a:off x="1304791" y="683175"/>
            <a:ext cx="1664400" cy="369300"/>
          </a:xfrm>
          <a:prstGeom prst="rect">
            <a:avLst/>
          </a:prstGeom>
          <a:solidFill>
            <a:srgbClr val="94DC44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3" name="Google Shape;713;p43"/>
          <p:cNvCxnSpPr/>
          <p:nvPr/>
        </p:nvCxnSpPr>
        <p:spPr>
          <a:xfrm>
            <a:off x="3631477" y="3698906"/>
            <a:ext cx="0" cy="294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4" name="Google Shape;714;p43"/>
          <p:cNvSpPr txBox="1"/>
          <p:nvPr/>
        </p:nvSpPr>
        <p:spPr>
          <a:xfrm>
            <a:off x="2466138" y="4022894"/>
            <a:ext cx="2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      Sum of all 5 Exterior angle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" name="Google Shape;715;p43"/>
          <p:cNvSpPr txBox="1"/>
          <p:nvPr/>
        </p:nvSpPr>
        <p:spPr>
          <a:xfrm>
            <a:off x="4612539" y="4020203"/>
            <a:ext cx="83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900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6" name="Google Shape;716;p43"/>
          <p:cNvSpPr txBox="1"/>
          <p:nvPr/>
        </p:nvSpPr>
        <p:spPr>
          <a:xfrm>
            <a:off x="2728101" y="4379969"/>
            <a:ext cx="204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5 Exterior angle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7" name="Google Shape;717;p43"/>
          <p:cNvSpPr txBox="1"/>
          <p:nvPr/>
        </p:nvSpPr>
        <p:spPr>
          <a:xfrm>
            <a:off x="4623253" y="4399944"/>
            <a:ext cx="14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900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   -  540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baseline="30000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8" name="Google Shape;718;p43"/>
          <p:cNvSpPr txBox="1"/>
          <p:nvPr/>
        </p:nvSpPr>
        <p:spPr>
          <a:xfrm>
            <a:off x="2738808" y="4707432"/>
            <a:ext cx="204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5 Exterior angle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" name="Google Shape;719;p43"/>
          <p:cNvSpPr txBox="1"/>
          <p:nvPr/>
        </p:nvSpPr>
        <p:spPr>
          <a:xfrm>
            <a:off x="4623253" y="4716700"/>
            <a:ext cx="14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baseline="30000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0" name="Google Shape;720;p43"/>
          <p:cNvSpPr/>
          <p:nvPr/>
        </p:nvSpPr>
        <p:spPr>
          <a:xfrm rot="-1300494">
            <a:off x="5609267" y="810796"/>
            <a:ext cx="832567" cy="738976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" name="Google Shape;721;p43"/>
          <p:cNvSpPr txBox="1"/>
          <p:nvPr/>
        </p:nvSpPr>
        <p:spPr>
          <a:xfrm>
            <a:off x="2645667" y="359547"/>
            <a:ext cx="296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Use: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 =  (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-2) x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722" name="Google Shape;722;p43"/>
          <p:cNvSpPr txBox="1"/>
          <p:nvPr/>
        </p:nvSpPr>
        <p:spPr>
          <a:xfrm>
            <a:off x="109023" y="653475"/>
            <a:ext cx="296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So, Sum of its all 5 interior angles is 540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23" name="Google Shape;723;p43"/>
          <p:cNvGrpSpPr/>
          <p:nvPr/>
        </p:nvGrpSpPr>
        <p:grpSpPr>
          <a:xfrm>
            <a:off x="5928135" y="382595"/>
            <a:ext cx="2373265" cy="2266906"/>
            <a:chOff x="5928135" y="382595"/>
            <a:chExt cx="2373265" cy="2266906"/>
          </a:xfrm>
        </p:grpSpPr>
        <p:sp>
          <p:nvSpPr>
            <p:cNvPr id="724" name="Google Shape;724;p43"/>
            <p:cNvSpPr txBox="1"/>
            <p:nvPr/>
          </p:nvSpPr>
          <p:spPr>
            <a:xfrm>
              <a:off x="8011900" y="1114226"/>
              <a:ext cx="28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endParaRPr/>
            </a:p>
          </p:txBody>
        </p:sp>
        <p:sp>
          <p:nvSpPr>
            <p:cNvPr id="725" name="Google Shape;725;p43"/>
            <p:cNvSpPr txBox="1"/>
            <p:nvPr/>
          </p:nvSpPr>
          <p:spPr>
            <a:xfrm>
              <a:off x="6965656" y="382595"/>
              <a:ext cx="28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/>
            </a:p>
          </p:txBody>
        </p:sp>
        <p:sp>
          <p:nvSpPr>
            <p:cNvPr id="726" name="Google Shape;726;p43"/>
            <p:cNvSpPr txBox="1"/>
            <p:nvPr/>
          </p:nvSpPr>
          <p:spPr>
            <a:xfrm>
              <a:off x="7632029" y="2280202"/>
              <a:ext cx="28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endParaRPr/>
            </a:p>
          </p:txBody>
        </p:sp>
        <p:sp>
          <p:nvSpPr>
            <p:cNvPr id="727" name="Google Shape;727;p43"/>
            <p:cNvSpPr txBox="1"/>
            <p:nvPr/>
          </p:nvSpPr>
          <p:spPr>
            <a:xfrm>
              <a:off x="6333867" y="2269622"/>
              <a:ext cx="28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4</a:t>
              </a:r>
              <a:endParaRPr/>
            </a:p>
          </p:txBody>
        </p:sp>
        <p:sp>
          <p:nvSpPr>
            <p:cNvPr id="728" name="Google Shape;728;p43"/>
            <p:cNvSpPr txBox="1"/>
            <p:nvPr/>
          </p:nvSpPr>
          <p:spPr>
            <a:xfrm>
              <a:off x="5928135" y="1106541"/>
              <a:ext cx="28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5</a:t>
              </a:r>
              <a:endParaRPr/>
            </a:p>
          </p:txBody>
        </p:sp>
      </p:grpSp>
      <p:sp>
        <p:nvSpPr>
          <p:cNvPr id="729" name="Google Shape;729;p43"/>
          <p:cNvSpPr txBox="1"/>
          <p:nvPr/>
        </p:nvSpPr>
        <p:spPr>
          <a:xfrm>
            <a:off x="5804613" y="915000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/>
          </a:p>
        </p:txBody>
      </p:sp>
      <p:sp>
        <p:nvSpPr>
          <p:cNvPr id="730" name="Google Shape;730;p43"/>
          <p:cNvSpPr txBox="1"/>
          <p:nvPr/>
        </p:nvSpPr>
        <p:spPr>
          <a:xfrm>
            <a:off x="7136338" y="254172"/>
            <a:ext cx="2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/>
          </a:p>
        </p:txBody>
      </p:sp>
      <p:sp>
        <p:nvSpPr>
          <p:cNvPr id="731" name="Google Shape;731;p43"/>
          <p:cNvSpPr txBox="1"/>
          <p:nvPr/>
        </p:nvSpPr>
        <p:spPr>
          <a:xfrm>
            <a:off x="8199219" y="1235938"/>
            <a:ext cx="2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/>
          </a:p>
        </p:txBody>
      </p:sp>
      <p:sp>
        <p:nvSpPr>
          <p:cNvPr id="732" name="Google Shape;732;p43"/>
          <p:cNvSpPr txBox="1"/>
          <p:nvPr/>
        </p:nvSpPr>
        <p:spPr>
          <a:xfrm>
            <a:off x="7553229" y="2518328"/>
            <a:ext cx="2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/>
          </a:p>
        </p:txBody>
      </p:sp>
      <p:sp>
        <p:nvSpPr>
          <p:cNvPr id="733" name="Google Shape;733;p43"/>
          <p:cNvSpPr txBox="1"/>
          <p:nvPr/>
        </p:nvSpPr>
        <p:spPr>
          <a:xfrm>
            <a:off x="6117617" y="2284985"/>
            <a:ext cx="2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/>
          </a:p>
        </p:txBody>
      </p:sp>
      <p:grpSp>
        <p:nvGrpSpPr>
          <p:cNvPr id="734" name="Google Shape;734;p43"/>
          <p:cNvGrpSpPr/>
          <p:nvPr/>
        </p:nvGrpSpPr>
        <p:grpSpPr>
          <a:xfrm>
            <a:off x="5605653" y="786915"/>
            <a:ext cx="773942" cy="734740"/>
            <a:chOff x="5909656" y="1183425"/>
            <a:chExt cx="773942" cy="734740"/>
          </a:xfrm>
        </p:grpSpPr>
        <p:sp>
          <p:nvSpPr>
            <p:cNvPr id="735" name="Google Shape;735;p43"/>
            <p:cNvSpPr/>
            <p:nvPr/>
          </p:nvSpPr>
          <p:spPr>
            <a:xfrm rot="-5897754">
              <a:off x="5949714" y="1305999"/>
              <a:ext cx="571783" cy="575432"/>
            </a:xfrm>
            <a:prstGeom prst="pie">
              <a:avLst>
                <a:gd fmla="val 20858679" name="adj1"/>
                <a:gd fmla="val 10154750" name="adj2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36" name="Google Shape;736;p43"/>
            <p:cNvSpPr txBox="1"/>
            <p:nvPr/>
          </p:nvSpPr>
          <p:spPr>
            <a:xfrm rot="3708054">
              <a:off x="6060480" y="1345468"/>
              <a:ext cx="606937" cy="400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180</a:t>
              </a:r>
              <a:r>
                <a:rPr baseline="30000" lang="en-GB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baseline="30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37" name="Google Shape;737;p43"/>
          <p:cNvGrpSpPr/>
          <p:nvPr/>
        </p:nvGrpSpPr>
        <p:grpSpPr>
          <a:xfrm>
            <a:off x="5944442" y="-3047"/>
            <a:ext cx="2864281" cy="3061256"/>
            <a:chOff x="5944442" y="-3047"/>
            <a:chExt cx="2864281" cy="3061256"/>
          </a:xfrm>
        </p:grpSpPr>
        <p:grpSp>
          <p:nvGrpSpPr>
            <p:cNvPr id="738" name="Google Shape;738;p43"/>
            <p:cNvGrpSpPr/>
            <p:nvPr/>
          </p:nvGrpSpPr>
          <p:grpSpPr>
            <a:xfrm rot="4473779">
              <a:off x="6819839" y="100388"/>
              <a:ext cx="774004" cy="734798"/>
              <a:chOff x="5909656" y="1183425"/>
              <a:chExt cx="773942" cy="734740"/>
            </a:xfrm>
          </p:grpSpPr>
          <p:sp>
            <p:nvSpPr>
              <p:cNvPr id="739" name="Google Shape;739;p43"/>
              <p:cNvSpPr/>
              <p:nvPr/>
            </p:nvSpPr>
            <p:spPr>
              <a:xfrm rot="-5897754">
                <a:off x="5949714" y="1305999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0" name="Google Shape;740;p43"/>
              <p:cNvSpPr txBox="1"/>
              <p:nvPr/>
            </p:nvSpPr>
            <p:spPr>
              <a:xfrm rot="3708054">
                <a:off x="6060480" y="1345468"/>
                <a:ext cx="606937" cy="400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41" name="Google Shape;741;p43"/>
            <p:cNvGrpSpPr/>
            <p:nvPr/>
          </p:nvGrpSpPr>
          <p:grpSpPr>
            <a:xfrm rot="8683443">
              <a:off x="7896778" y="961437"/>
              <a:ext cx="770746" cy="734041"/>
              <a:chOff x="5909656" y="1184231"/>
              <a:chExt cx="770633" cy="733933"/>
            </a:xfrm>
          </p:grpSpPr>
          <p:sp>
            <p:nvSpPr>
              <p:cNvPr id="742" name="Google Shape;742;p43"/>
              <p:cNvSpPr/>
              <p:nvPr/>
            </p:nvSpPr>
            <p:spPr>
              <a:xfrm rot="-5897754">
                <a:off x="5949714" y="1305999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3" name="Google Shape;743;p43"/>
              <p:cNvSpPr txBox="1"/>
              <p:nvPr/>
            </p:nvSpPr>
            <p:spPr>
              <a:xfrm rot="-7026577">
                <a:off x="6060446" y="1345533"/>
                <a:ext cx="606986" cy="40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44" name="Google Shape;744;p43"/>
            <p:cNvGrpSpPr/>
            <p:nvPr/>
          </p:nvGrpSpPr>
          <p:grpSpPr>
            <a:xfrm rot="-8515953">
              <a:off x="7428022" y="2180255"/>
              <a:ext cx="748524" cy="724213"/>
              <a:chOff x="5909656" y="1242178"/>
              <a:chExt cx="748510" cy="724200"/>
            </a:xfrm>
          </p:grpSpPr>
          <p:sp>
            <p:nvSpPr>
              <p:cNvPr id="745" name="Google Shape;745;p43"/>
              <p:cNvSpPr/>
              <p:nvPr/>
            </p:nvSpPr>
            <p:spPr>
              <a:xfrm rot="-5897754">
                <a:off x="5949714" y="1305999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6" name="Google Shape;746;p43"/>
              <p:cNvSpPr txBox="1"/>
              <p:nvPr/>
            </p:nvSpPr>
            <p:spPr>
              <a:xfrm rot="3708054">
                <a:off x="6035047" y="1404221"/>
                <a:ext cx="606937" cy="400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47" name="Google Shape;747;p43"/>
            <p:cNvGrpSpPr/>
            <p:nvPr/>
          </p:nvGrpSpPr>
          <p:grpSpPr>
            <a:xfrm rot="-4178546">
              <a:off x="6039944" y="2191786"/>
              <a:ext cx="715120" cy="701145"/>
              <a:chOff x="4626064" y="1091696"/>
              <a:chExt cx="715075" cy="701100"/>
            </a:xfrm>
          </p:grpSpPr>
          <p:sp>
            <p:nvSpPr>
              <p:cNvPr id="748" name="Google Shape;748;p43"/>
              <p:cNvSpPr/>
              <p:nvPr/>
            </p:nvSpPr>
            <p:spPr>
              <a:xfrm rot="-5897754">
                <a:off x="4666122" y="1132110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9" name="Google Shape;749;p43"/>
              <p:cNvSpPr txBox="1"/>
              <p:nvPr/>
            </p:nvSpPr>
            <p:spPr>
              <a:xfrm rot="4323992">
                <a:off x="4753843" y="1242116"/>
                <a:ext cx="606991" cy="4002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750" name="Google Shape;750;p43"/>
          <p:cNvSpPr txBox="1"/>
          <p:nvPr/>
        </p:nvSpPr>
        <p:spPr>
          <a:xfrm>
            <a:off x="3680019" y="2063687"/>
            <a:ext cx="14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ㄥ5 + ㄥ10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180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/>
          </a:p>
        </p:txBody>
      </p:sp>
      <p:sp>
        <p:nvSpPr>
          <p:cNvPr id="751" name="Google Shape;751;p43"/>
          <p:cNvSpPr txBox="1"/>
          <p:nvPr/>
        </p:nvSpPr>
        <p:spPr>
          <a:xfrm>
            <a:off x="458231" y="3686450"/>
            <a:ext cx="176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ㄥ1 + ㄥ2 + ㄥ3 + ㄥ4 + ㄥ5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4"/>
          <p:cNvSpPr/>
          <p:nvPr/>
        </p:nvSpPr>
        <p:spPr>
          <a:xfrm>
            <a:off x="6240625" y="579350"/>
            <a:ext cx="2393100" cy="21582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FE599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7" name="Google Shape;757;p44"/>
          <p:cNvSpPr/>
          <p:nvPr/>
        </p:nvSpPr>
        <p:spPr>
          <a:xfrm rot="-4572705">
            <a:off x="6554421" y="299889"/>
            <a:ext cx="521117" cy="524394"/>
          </a:xfrm>
          <a:prstGeom prst="pie">
            <a:avLst>
              <a:gd fmla="val 573891" name="adj1"/>
              <a:gd fmla="val 4592688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8" name="Google Shape;758;p44"/>
          <p:cNvCxnSpPr/>
          <p:nvPr/>
        </p:nvCxnSpPr>
        <p:spPr>
          <a:xfrm flipH="1" rot="10800000">
            <a:off x="6727204" y="101075"/>
            <a:ext cx="284400" cy="5934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4"/>
          <p:cNvCxnSpPr/>
          <p:nvPr/>
        </p:nvCxnSpPr>
        <p:spPr>
          <a:xfrm>
            <a:off x="8525604" y="1444675"/>
            <a:ext cx="563400" cy="1163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4"/>
          <p:cNvCxnSpPr/>
          <p:nvPr/>
        </p:nvCxnSpPr>
        <p:spPr>
          <a:xfrm rot="10800000">
            <a:off x="6067975" y="2725549"/>
            <a:ext cx="730800" cy="120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4"/>
          <p:cNvCxnSpPr>
            <a:stCxn id="756" idx="3"/>
          </p:cNvCxnSpPr>
          <p:nvPr/>
        </p:nvCxnSpPr>
        <p:spPr>
          <a:xfrm rot="10800000">
            <a:off x="5862025" y="933950"/>
            <a:ext cx="378600" cy="724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44"/>
          <p:cNvSpPr/>
          <p:nvPr/>
        </p:nvSpPr>
        <p:spPr>
          <a:xfrm rot="-7074454">
            <a:off x="5979048" y="1349332"/>
            <a:ext cx="521102" cy="524736"/>
          </a:xfrm>
          <a:prstGeom prst="pie">
            <a:avLst>
              <a:gd fmla="val 21563451" name="adj1"/>
              <a:gd fmla="val 3379874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4"/>
          <p:cNvSpPr/>
          <p:nvPr/>
        </p:nvSpPr>
        <p:spPr>
          <a:xfrm rot="1436343">
            <a:off x="8370003" y="1441791"/>
            <a:ext cx="521238" cy="524345"/>
          </a:xfrm>
          <a:prstGeom prst="pie">
            <a:avLst>
              <a:gd fmla="val 2437556" name="adj1"/>
              <a:gd fmla="val 5518142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4"/>
          <p:cNvSpPr/>
          <p:nvPr/>
        </p:nvSpPr>
        <p:spPr>
          <a:xfrm rot="5715070">
            <a:off x="7810436" y="2492820"/>
            <a:ext cx="521187" cy="524446"/>
          </a:xfrm>
          <a:prstGeom prst="pie">
            <a:avLst>
              <a:gd fmla="val 801518" name="adj1"/>
              <a:gd fmla="val 5100122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44"/>
          <p:cNvSpPr/>
          <p:nvPr/>
        </p:nvSpPr>
        <p:spPr>
          <a:xfrm rot="9205212">
            <a:off x="6485160" y="2452728"/>
            <a:ext cx="520959" cy="524314"/>
          </a:xfrm>
          <a:prstGeom prst="pie">
            <a:avLst>
              <a:gd fmla="val 1662818" name="adj1"/>
              <a:gd fmla="val 5425221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6" name="Google Shape;766;p44"/>
          <p:cNvCxnSpPr/>
          <p:nvPr/>
        </p:nvCxnSpPr>
        <p:spPr>
          <a:xfrm flipH="1">
            <a:off x="7860624" y="2473600"/>
            <a:ext cx="362700" cy="8256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7" name="Google Shape;767;p44"/>
          <p:cNvSpPr txBox="1"/>
          <p:nvPr/>
        </p:nvSpPr>
        <p:spPr>
          <a:xfrm>
            <a:off x="832404" y="2953488"/>
            <a:ext cx="42927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6 Interior angle + Sum of all 6 Exterior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8" name="Google Shape;768;p44"/>
          <p:cNvSpPr txBox="1"/>
          <p:nvPr/>
        </p:nvSpPr>
        <p:spPr>
          <a:xfrm>
            <a:off x="1348152" y="2087372"/>
            <a:ext cx="122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 each vertex,</a:t>
            </a:r>
            <a:endParaRPr/>
          </a:p>
        </p:txBody>
      </p:sp>
      <p:sp>
        <p:nvSpPr>
          <p:cNvPr id="769" name="Google Shape;769;p44"/>
          <p:cNvSpPr txBox="1"/>
          <p:nvPr/>
        </p:nvSpPr>
        <p:spPr>
          <a:xfrm>
            <a:off x="2405933" y="2081682"/>
            <a:ext cx="27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Interior angle + Exterior angle =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180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/>
          </a:p>
        </p:txBody>
      </p:sp>
      <p:sp>
        <p:nvSpPr>
          <p:cNvPr id="770" name="Google Shape;770;p44"/>
          <p:cNvSpPr txBox="1"/>
          <p:nvPr/>
        </p:nvSpPr>
        <p:spPr>
          <a:xfrm>
            <a:off x="830055" y="2713675"/>
            <a:ext cx="214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at all 6 vertices:</a:t>
            </a:r>
            <a:endParaRPr/>
          </a:p>
        </p:txBody>
      </p:sp>
      <p:sp>
        <p:nvSpPr>
          <p:cNvPr id="771" name="Google Shape;771;p44"/>
          <p:cNvSpPr txBox="1"/>
          <p:nvPr/>
        </p:nvSpPr>
        <p:spPr>
          <a:xfrm>
            <a:off x="4557390" y="3030693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6 x 180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                                                       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72" name="Google Shape;772;p44"/>
          <p:cNvSpPr txBox="1"/>
          <p:nvPr/>
        </p:nvSpPr>
        <p:spPr>
          <a:xfrm>
            <a:off x="5447305" y="3041410"/>
            <a:ext cx="83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1080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3" name="Google Shape;773;p44"/>
          <p:cNvCxnSpPr/>
          <p:nvPr/>
        </p:nvCxnSpPr>
        <p:spPr>
          <a:xfrm>
            <a:off x="2071150" y="3339206"/>
            <a:ext cx="0" cy="54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4" name="Google Shape;774;p44"/>
          <p:cNvSpPr txBox="1"/>
          <p:nvPr/>
        </p:nvSpPr>
        <p:spPr>
          <a:xfrm>
            <a:off x="1839846" y="3866050"/>
            <a:ext cx="63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720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5" name="Google Shape;775;p44"/>
          <p:cNvCxnSpPr/>
          <p:nvPr/>
        </p:nvCxnSpPr>
        <p:spPr>
          <a:xfrm>
            <a:off x="3565625" y="3317700"/>
            <a:ext cx="0" cy="54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6" name="Google Shape;776;p44"/>
          <p:cNvSpPr txBox="1"/>
          <p:nvPr/>
        </p:nvSpPr>
        <p:spPr>
          <a:xfrm>
            <a:off x="2400286" y="3884433"/>
            <a:ext cx="2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      Sum of all 6 Exterior angle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7" name="Google Shape;777;p44"/>
          <p:cNvSpPr txBox="1"/>
          <p:nvPr/>
        </p:nvSpPr>
        <p:spPr>
          <a:xfrm>
            <a:off x="4546688" y="3881743"/>
            <a:ext cx="83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1080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8" name="Google Shape;778;p44"/>
          <p:cNvSpPr txBox="1"/>
          <p:nvPr/>
        </p:nvSpPr>
        <p:spPr>
          <a:xfrm>
            <a:off x="2653226" y="4223461"/>
            <a:ext cx="204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6 Exterior angle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9" name="Google Shape;779;p44"/>
          <p:cNvSpPr txBox="1"/>
          <p:nvPr/>
        </p:nvSpPr>
        <p:spPr>
          <a:xfrm>
            <a:off x="4548378" y="4243436"/>
            <a:ext cx="14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1080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   -  720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baseline="30000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0" name="Google Shape;780;p44"/>
          <p:cNvSpPr txBox="1"/>
          <p:nvPr/>
        </p:nvSpPr>
        <p:spPr>
          <a:xfrm>
            <a:off x="2663933" y="4614090"/>
            <a:ext cx="204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6 Exterior angle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1" name="Google Shape;781;p44"/>
          <p:cNvSpPr txBox="1"/>
          <p:nvPr/>
        </p:nvSpPr>
        <p:spPr>
          <a:xfrm>
            <a:off x="4548378" y="4623358"/>
            <a:ext cx="14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baseline="30000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82" name="Google Shape;782;p44"/>
          <p:cNvGrpSpPr/>
          <p:nvPr/>
        </p:nvGrpSpPr>
        <p:grpSpPr>
          <a:xfrm>
            <a:off x="5902626" y="277617"/>
            <a:ext cx="3075632" cy="2758117"/>
            <a:chOff x="5597826" y="277617"/>
            <a:chExt cx="3075632" cy="2758117"/>
          </a:xfrm>
        </p:grpSpPr>
        <p:grpSp>
          <p:nvGrpSpPr>
            <p:cNvPr id="783" name="Google Shape;783;p44"/>
            <p:cNvGrpSpPr/>
            <p:nvPr/>
          </p:nvGrpSpPr>
          <p:grpSpPr>
            <a:xfrm>
              <a:off x="5597826" y="284147"/>
              <a:ext cx="3075632" cy="2751586"/>
              <a:chOff x="5596694" y="131747"/>
              <a:chExt cx="3075632" cy="2751586"/>
            </a:xfrm>
          </p:grpSpPr>
          <p:sp>
            <p:nvSpPr>
              <p:cNvPr id="784" name="Google Shape;784;p44"/>
              <p:cNvSpPr/>
              <p:nvPr/>
            </p:nvSpPr>
            <p:spPr>
              <a:xfrm rot="4591410">
                <a:off x="7514416" y="184175"/>
                <a:ext cx="521355" cy="524844"/>
              </a:xfrm>
              <a:prstGeom prst="pie">
                <a:avLst>
                  <a:gd fmla="val 20778701" name="adj1"/>
                  <a:gd fmla="val 6237235" name="adj2"/>
                </a:avLst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44"/>
              <p:cNvSpPr/>
              <p:nvPr/>
            </p:nvSpPr>
            <p:spPr>
              <a:xfrm rot="-10447125">
                <a:off x="7522275" y="2305266"/>
                <a:ext cx="521143" cy="524724"/>
              </a:xfrm>
              <a:prstGeom prst="pie">
                <a:avLst>
                  <a:gd fmla="val 21271854" name="adj1"/>
                  <a:gd fmla="val 6570435" name="adj2"/>
                </a:avLst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44"/>
              <p:cNvSpPr/>
              <p:nvPr/>
            </p:nvSpPr>
            <p:spPr>
              <a:xfrm rot="7713100">
                <a:off x="8044014" y="1243681"/>
                <a:ext cx="521325" cy="524745"/>
              </a:xfrm>
              <a:prstGeom prst="pie">
                <a:avLst>
                  <a:gd fmla="val 20916009" name="adj1"/>
                  <a:gd fmla="val 6912581" name="adj2"/>
                </a:avLst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44"/>
              <p:cNvSpPr/>
              <p:nvPr/>
            </p:nvSpPr>
            <p:spPr>
              <a:xfrm rot="-1812679">
                <a:off x="5693457" y="1246857"/>
                <a:ext cx="521075" cy="524724"/>
              </a:xfrm>
              <a:prstGeom prst="pie">
                <a:avLst>
                  <a:gd fmla="val 19621083" name="adj1"/>
                  <a:gd fmla="val 5567657" name="adj2"/>
                </a:avLst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44"/>
              <p:cNvSpPr/>
              <p:nvPr/>
            </p:nvSpPr>
            <p:spPr>
              <a:xfrm rot="-6229217">
                <a:off x="6221368" y="2305280"/>
                <a:ext cx="521189" cy="524608"/>
              </a:xfrm>
              <a:prstGeom prst="pie">
                <a:avLst>
                  <a:gd fmla="val 20883113" name="adj1"/>
                  <a:gd fmla="val 6198203" name="adj2"/>
                </a:avLst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9" name="Google Shape;789;p44"/>
            <p:cNvSpPr/>
            <p:nvPr/>
          </p:nvSpPr>
          <p:spPr>
            <a:xfrm rot="-893974">
              <a:off x="6227432" y="335839"/>
              <a:ext cx="521535" cy="524956"/>
            </a:xfrm>
            <a:prstGeom prst="pie">
              <a:avLst>
                <a:gd fmla="val 896349" name="adj1"/>
                <a:gd fmla="val 7912070" name="adj2"/>
              </a:avLst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0" name="Google Shape;790;p44"/>
          <p:cNvCxnSpPr/>
          <p:nvPr/>
        </p:nvCxnSpPr>
        <p:spPr>
          <a:xfrm>
            <a:off x="7863100" y="576980"/>
            <a:ext cx="122250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1" name="Google Shape;791;p44"/>
          <p:cNvSpPr/>
          <p:nvPr/>
        </p:nvSpPr>
        <p:spPr>
          <a:xfrm rot="-760099">
            <a:off x="7862159" y="334943"/>
            <a:ext cx="521188" cy="524378"/>
          </a:xfrm>
          <a:prstGeom prst="pie">
            <a:avLst>
              <a:gd fmla="val 747622" name="adj1"/>
              <a:gd fmla="val 4592688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44"/>
          <p:cNvSpPr txBox="1"/>
          <p:nvPr/>
        </p:nvSpPr>
        <p:spPr>
          <a:xfrm>
            <a:off x="77511" y="1443625"/>
            <a:ext cx="240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Now, look at its 6 exterior angles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3" name="Google Shape;793;p44"/>
          <p:cNvSpPr txBox="1"/>
          <p:nvPr/>
        </p:nvSpPr>
        <p:spPr>
          <a:xfrm>
            <a:off x="98451" y="940522"/>
            <a:ext cx="33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So,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its all 6 interior angles is 720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4" name="Google Shape;794;p44"/>
          <p:cNvSpPr/>
          <p:nvPr/>
        </p:nvSpPr>
        <p:spPr>
          <a:xfrm>
            <a:off x="1246762" y="960522"/>
            <a:ext cx="1664400" cy="369300"/>
          </a:xfrm>
          <a:prstGeom prst="rect">
            <a:avLst/>
          </a:prstGeom>
          <a:solidFill>
            <a:srgbClr val="94DC44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5" name="Google Shape;795;p44"/>
          <p:cNvSpPr txBox="1"/>
          <p:nvPr/>
        </p:nvSpPr>
        <p:spPr>
          <a:xfrm>
            <a:off x="846734" y="2035550"/>
            <a:ext cx="688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Again,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6" name="Google Shape;796;p44"/>
          <p:cNvSpPr txBox="1"/>
          <p:nvPr/>
        </p:nvSpPr>
        <p:spPr>
          <a:xfrm>
            <a:off x="104154" y="89050"/>
            <a:ext cx="32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take one more example: HEXAGON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7" name="Google Shape;797;p44"/>
          <p:cNvSpPr txBox="1"/>
          <p:nvPr/>
        </p:nvSpPr>
        <p:spPr>
          <a:xfrm>
            <a:off x="99996" y="577275"/>
            <a:ext cx="275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is the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its Interior Angles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8" name="Google Shape;798;p44"/>
          <p:cNvSpPr txBox="1"/>
          <p:nvPr/>
        </p:nvSpPr>
        <p:spPr>
          <a:xfrm>
            <a:off x="2645667" y="588147"/>
            <a:ext cx="296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Use: Sum of interior angles =  (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-2) x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799" name="Google Shape;799;p44"/>
          <p:cNvSpPr txBox="1"/>
          <p:nvPr/>
        </p:nvSpPr>
        <p:spPr>
          <a:xfrm>
            <a:off x="7748137" y="2663725"/>
            <a:ext cx="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/>
          </a:p>
        </p:txBody>
      </p:sp>
      <p:sp>
        <p:nvSpPr>
          <p:cNvPr id="800" name="Google Shape;800;p44"/>
          <p:cNvSpPr txBox="1"/>
          <p:nvPr/>
        </p:nvSpPr>
        <p:spPr>
          <a:xfrm>
            <a:off x="6421021" y="2456282"/>
            <a:ext cx="3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endParaRPr/>
          </a:p>
        </p:txBody>
      </p:sp>
      <p:sp>
        <p:nvSpPr>
          <p:cNvPr id="801" name="Google Shape;801;p44"/>
          <p:cNvSpPr txBox="1"/>
          <p:nvPr/>
        </p:nvSpPr>
        <p:spPr>
          <a:xfrm>
            <a:off x="6817444" y="289313"/>
            <a:ext cx="2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/>
          </a:p>
        </p:txBody>
      </p:sp>
      <p:sp>
        <p:nvSpPr>
          <p:cNvPr id="802" name="Google Shape;802;p44"/>
          <p:cNvSpPr txBox="1"/>
          <p:nvPr/>
        </p:nvSpPr>
        <p:spPr>
          <a:xfrm>
            <a:off x="8123000" y="506228"/>
            <a:ext cx="2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/>
          </a:p>
        </p:txBody>
      </p:sp>
      <p:sp>
        <p:nvSpPr>
          <p:cNvPr id="803" name="Google Shape;803;p44"/>
          <p:cNvSpPr txBox="1"/>
          <p:nvPr/>
        </p:nvSpPr>
        <p:spPr>
          <a:xfrm>
            <a:off x="8485867" y="1689185"/>
            <a:ext cx="2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/>
          </a:p>
        </p:txBody>
      </p:sp>
      <p:grpSp>
        <p:nvGrpSpPr>
          <p:cNvPr id="804" name="Google Shape;804;p44"/>
          <p:cNvGrpSpPr/>
          <p:nvPr/>
        </p:nvGrpSpPr>
        <p:grpSpPr>
          <a:xfrm>
            <a:off x="6241901" y="524173"/>
            <a:ext cx="2385161" cy="2282190"/>
            <a:chOff x="6241901" y="524173"/>
            <a:chExt cx="2385161" cy="2282190"/>
          </a:xfrm>
        </p:grpSpPr>
        <p:grpSp>
          <p:nvGrpSpPr>
            <p:cNvPr id="805" name="Google Shape;805;p44"/>
            <p:cNvGrpSpPr/>
            <p:nvPr/>
          </p:nvGrpSpPr>
          <p:grpSpPr>
            <a:xfrm>
              <a:off x="6705579" y="524173"/>
              <a:ext cx="1921483" cy="2282190"/>
              <a:chOff x="6751804" y="336248"/>
              <a:chExt cx="1921483" cy="2282190"/>
            </a:xfrm>
          </p:grpSpPr>
          <p:sp>
            <p:nvSpPr>
              <p:cNvPr id="806" name="Google Shape;806;p44"/>
              <p:cNvSpPr txBox="1"/>
              <p:nvPr/>
            </p:nvSpPr>
            <p:spPr>
              <a:xfrm>
                <a:off x="7915216" y="336248"/>
                <a:ext cx="289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2</a:t>
                </a:r>
                <a:endParaRPr/>
              </a:p>
            </p:txBody>
          </p:sp>
          <p:sp>
            <p:nvSpPr>
              <p:cNvPr id="807" name="Google Shape;807;p44"/>
              <p:cNvSpPr txBox="1"/>
              <p:nvPr/>
            </p:nvSpPr>
            <p:spPr>
              <a:xfrm>
                <a:off x="6751804" y="337121"/>
                <a:ext cx="289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1</a:t>
                </a:r>
                <a:endParaRPr/>
              </a:p>
            </p:txBody>
          </p:sp>
          <p:sp>
            <p:nvSpPr>
              <p:cNvPr id="808" name="Google Shape;808;p44"/>
              <p:cNvSpPr txBox="1"/>
              <p:nvPr/>
            </p:nvSpPr>
            <p:spPr>
              <a:xfrm>
                <a:off x="8383787" y="1264611"/>
                <a:ext cx="289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3</a:t>
                </a:r>
                <a:endParaRPr/>
              </a:p>
            </p:txBody>
          </p:sp>
          <p:sp>
            <p:nvSpPr>
              <p:cNvPr id="809" name="Google Shape;809;p44"/>
              <p:cNvSpPr txBox="1"/>
              <p:nvPr/>
            </p:nvSpPr>
            <p:spPr>
              <a:xfrm>
                <a:off x="7878350" y="2249138"/>
                <a:ext cx="289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4</a:t>
                </a:r>
                <a:endParaRPr/>
              </a:p>
            </p:txBody>
          </p:sp>
          <p:sp>
            <p:nvSpPr>
              <p:cNvPr id="810" name="Google Shape;810;p44"/>
              <p:cNvSpPr txBox="1"/>
              <p:nvPr/>
            </p:nvSpPr>
            <p:spPr>
              <a:xfrm>
                <a:off x="6756093" y="2229057"/>
                <a:ext cx="289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5</a:t>
                </a:r>
                <a:endParaRPr/>
              </a:p>
            </p:txBody>
          </p:sp>
        </p:grpSp>
        <p:sp>
          <p:nvSpPr>
            <p:cNvPr id="811" name="Google Shape;811;p44"/>
            <p:cNvSpPr txBox="1"/>
            <p:nvPr/>
          </p:nvSpPr>
          <p:spPr>
            <a:xfrm>
              <a:off x="6241901" y="1480632"/>
              <a:ext cx="28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6</a:t>
              </a:r>
              <a:endParaRPr/>
            </a:p>
          </p:txBody>
        </p:sp>
      </p:grpSp>
      <p:sp>
        <p:nvSpPr>
          <p:cNvPr id="812" name="Google Shape;812;p44"/>
          <p:cNvSpPr txBox="1"/>
          <p:nvPr/>
        </p:nvSpPr>
        <p:spPr>
          <a:xfrm>
            <a:off x="6047830" y="1245468"/>
            <a:ext cx="3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813" name="Google Shape;813;p44"/>
          <p:cNvSpPr/>
          <p:nvPr/>
        </p:nvSpPr>
        <p:spPr>
          <a:xfrm rot="-1301039">
            <a:off x="6437753" y="2271830"/>
            <a:ext cx="679591" cy="658199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14" name="Google Shape;814;p44"/>
          <p:cNvGrpSpPr/>
          <p:nvPr/>
        </p:nvGrpSpPr>
        <p:grpSpPr>
          <a:xfrm rot="-4178546">
            <a:off x="6451504" y="2344186"/>
            <a:ext cx="715120" cy="701145"/>
            <a:chOff x="4626064" y="1091696"/>
            <a:chExt cx="715075" cy="701100"/>
          </a:xfrm>
        </p:grpSpPr>
        <p:sp>
          <p:nvSpPr>
            <p:cNvPr id="815" name="Google Shape;815;p44"/>
            <p:cNvSpPr/>
            <p:nvPr/>
          </p:nvSpPr>
          <p:spPr>
            <a:xfrm rot="-5897754">
              <a:off x="4666122" y="1132110"/>
              <a:ext cx="571783" cy="575432"/>
            </a:xfrm>
            <a:prstGeom prst="pie">
              <a:avLst>
                <a:gd fmla="val 20858679" name="adj1"/>
                <a:gd fmla="val 10154750" name="adj2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16" name="Google Shape;816;p44"/>
            <p:cNvSpPr txBox="1"/>
            <p:nvPr/>
          </p:nvSpPr>
          <p:spPr>
            <a:xfrm rot="4323992">
              <a:off x="4753843" y="1242116"/>
              <a:ext cx="606991" cy="4002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180</a:t>
              </a:r>
              <a:r>
                <a:rPr baseline="30000" lang="en-GB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baseline="30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817" name="Google Shape;817;p44"/>
          <p:cNvGrpSpPr/>
          <p:nvPr/>
        </p:nvGrpSpPr>
        <p:grpSpPr>
          <a:xfrm>
            <a:off x="5865662" y="44801"/>
            <a:ext cx="3136775" cy="3178194"/>
            <a:chOff x="5546613" y="44801"/>
            <a:chExt cx="3136775" cy="3178194"/>
          </a:xfrm>
        </p:grpSpPr>
        <p:grpSp>
          <p:nvGrpSpPr>
            <p:cNvPr id="818" name="Google Shape;818;p44"/>
            <p:cNvGrpSpPr/>
            <p:nvPr/>
          </p:nvGrpSpPr>
          <p:grpSpPr>
            <a:xfrm rot="-8100000">
              <a:off x="7372816" y="2340222"/>
              <a:ext cx="748503" cy="724193"/>
              <a:chOff x="5909656" y="1242178"/>
              <a:chExt cx="748510" cy="724200"/>
            </a:xfrm>
          </p:grpSpPr>
          <p:sp>
            <p:nvSpPr>
              <p:cNvPr id="819" name="Google Shape;819;p44"/>
              <p:cNvSpPr/>
              <p:nvPr/>
            </p:nvSpPr>
            <p:spPr>
              <a:xfrm rot="-5897754">
                <a:off x="5949714" y="1305999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0" name="Google Shape;820;p44"/>
              <p:cNvSpPr txBox="1"/>
              <p:nvPr/>
            </p:nvSpPr>
            <p:spPr>
              <a:xfrm rot="3708054">
                <a:off x="6035047" y="1404221"/>
                <a:ext cx="606937" cy="400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21" name="Google Shape;821;p44"/>
            <p:cNvGrpSpPr/>
            <p:nvPr/>
          </p:nvGrpSpPr>
          <p:grpSpPr>
            <a:xfrm rot="10359495">
              <a:off x="7891596" y="1307960"/>
              <a:ext cx="748584" cy="724272"/>
              <a:chOff x="5909656" y="1242178"/>
              <a:chExt cx="748510" cy="724200"/>
            </a:xfrm>
          </p:grpSpPr>
          <p:sp>
            <p:nvSpPr>
              <p:cNvPr id="822" name="Google Shape;822;p44"/>
              <p:cNvSpPr/>
              <p:nvPr/>
            </p:nvSpPr>
            <p:spPr>
              <a:xfrm rot="-5897754">
                <a:off x="5949714" y="1305999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3" name="Google Shape;823;p44"/>
              <p:cNvSpPr txBox="1"/>
              <p:nvPr/>
            </p:nvSpPr>
            <p:spPr>
              <a:xfrm rot="3708054">
                <a:off x="6035047" y="1404221"/>
                <a:ext cx="606937" cy="400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24" name="Google Shape;824;p44"/>
            <p:cNvGrpSpPr/>
            <p:nvPr/>
          </p:nvGrpSpPr>
          <p:grpSpPr>
            <a:xfrm rot="6517295">
              <a:off x="7416000" y="301111"/>
              <a:ext cx="763807" cy="724163"/>
              <a:chOff x="5395202" y="444923"/>
              <a:chExt cx="763846" cy="724200"/>
            </a:xfrm>
          </p:grpSpPr>
          <p:sp>
            <p:nvSpPr>
              <p:cNvPr id="825" name="Google Shape;825;p44"/>
              <p:cNvSpPr/>
              <p:nvPr/>
            </p:nvSpPr>
            <p:spPr>
              <a:xfrm rot="-5897754">
                <a:off x="5435260" y="555624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6" name="Google Shape;826;p44"/>
              <p:cNvSpPr txBox="1"/>
              <p:nvPr/>
            </p:nvSpPr>
            <p:spPr>
              <a:xfrm rot="3708054">
                <a:off x="5535930" y="606967"/>
                <a:ext cx="606937" cy="400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27" name="Google Shape;827;p44"/>
            <p:cNvGrpSpPr/>
            <p:nvPr/>
          </p:nvGrpSpPr>
          <p:grpSpPr>
            <a:xfrm rot="-587855">
              <a:off x="5603466" y="1217217"/>
              <a:ext cx="770836" cy="734264"/>
              <a:chOff x="5909656" y="1184038"/>
              <a:chExt cx="770692" cy="734127"/>
            </a:xfrm>
          </p:grpSpPr>
          <p:sp>
            <p:nvSpPr>
              <p:cNvPr id="828" name="Google Shape;828;p44"/>
              <p:cNvSpPr/>
              <p:nvPr/>
            </p:nvSpPr>
            <p:spPr>
              <a:xfrm rot="-5897754">
                <a:off x="5949714" y="1305999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9" name="Google Shape;829;p44"/>
              <p:cNvSpPr txBox="1"/>
              <p:nvPr/>
            </p:nvSpPr>
            <p:spPr>
              <a:xfrm rot="3773423">
                <a:off x="6060504" y="1345422"/>
                <a:ext cx="606986" cy="400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30" name="Google Shape;830;p44"/>
            <p:cNvGrpSpPr/>
            <p:nvPr/>
          </p:nvGrpSpPr>
          <p:grpSpPr>
            <a:xfrm rot="2826420">
              <a:off x="6177782" y="210996"/>
              <a:ext cx="774020" cy="734814"/>
              <a:chOff x="5909656" y="1183425"/>
              <a:chExt cx="773942" cy="734740"/>
            </a:xfrm>
          </p:grpSpPr>
          <p:sp>
            <p:nvSpPr>
              <p:cNvPr id="831" name="Google Shape;831;p44"/>
              <p:cNvSpPr/>
              <p:nvPr/>
            </p:nvSpPr>
            <p:spPr>
              <a:xfrm rot="-5897754">
                <a:off x="5949714" y="1305999"/>
                <a:ext cx="571783" cy="575432"/>
              </a:xfrm>
              <a:prstGeom prst="pie">
                <a:avLst>
                  <a:gd fmla="val 20858679" name="adj1"/>
                  <a:gd fmla="val 1015475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2" name="Google Shape;832;p44"/>
              <p:cNvSpPr txBox="1"/>
              <p:nvPr/>
            </p:nvSpPr>
            <p:spPr>
              <a:xfrm rot="3708054">
                <a:off x="6060480" y="1345468"/>
                <a:ext cx="606937" cy="400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180</a:t>
                </a:r>
                <a:r>
                  <a:rPr baseline="30000" lang="en-GB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endParaRPr baseline="300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833" name="Google Shape;833;p44"/>
          <p:cNvSpPr txBox="1"/>
          <p:nvPr/>
        </p:nvSpPr>
        <p:spPr>
          <a:xfrm>
            <a:off x="-9675" y="3436435"/>
            <a:ext cx="204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ㄥ1 + ㄥ2 + ㄥ3 + ㄥ4 + ㄥ5 </a:t>
            </a:r>
            <a:r>
              <a:rPr b="1" lang="en-GB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 ㄥ6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/>
        </p:nvSpPr>
        <p:spPr>
          <a:xfrm>
            <a:off x="90365" y="188441"/>
            <a:ext cx="338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you do the same activity for 3-sided polygon, 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9" name="Google Shape;839;p45"/>
          <p:cNvSpPr txBox="1"/>
          <p:nvPr/>
        </p:nvSpPr>
        <p:spPr>
          <a:xfrm>
            <a:off x="3283624" y="188448"/>
            <a:ext cx="179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 4-sided polygon, 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0" name="Google Shape;840;p45"/>
          <p:cNvSpPr txBox="1"/>
          <p:nvPr/>
        </p:nvSpPr>
        <p:spPr>
          <a:xfrm>
            <a:off x="4635250" y="192175"/>
            <a:ext cx="19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 even 99-sided polygon, 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1" name="Google Shape;841;p45"/>
          <p:cNvSpPr txBox="1"/>
          <p:nvPr/>
        </p:nvSpPr>
        <p:spPr>
          <a:xfrm>
            <a:off x="1747476" y="3796125"/>
            <a:ext cx="22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 For any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-sided polygon,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2" name="Google Shape;842;p45"/>
          <p:cNvSpPr txBox="1"/>
          <p:nvPr/>
        </p:nvSpPr>
        <p:spPr>
          <a:xfrm>
            <a:off x="6447009" y="181450"/>
            <a:ext cx="15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you’ll observe that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3" name="Google Shape;843;p45"/>
          <p:cNvSpPr txBox="1"/>
          <p:nvPr/>
        </p:nvSpPr>
        <p:spPr>
          <a:xfrm>
            <a:off x="233600" y="2917885"/>
            <a:ext cx="26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3 exterior angles  =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4" name="Google Shape;844;p45"/>
          <p:cNvSpPr txBox="1"/>
          <p:nvPr/>
        </p:nvSpPr>
        <p:spPr>
          <a:xfrm>
            <a:off x="3162775" y="2939300"/>
            <a:ext cx="328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4 exterior angles  =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5" name="Google Shape;845;p45"/>
          <p:cNvSpPr txBox="1"/>
          <p:nvPr/>
        </p:nvSpPr>
        <p:spPr>
          <a:xfrm>
            <a:off x="6084275" y="2920832"/>
            <a:ext cx="27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99 exterior angles  =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6" name="Google Shape;846;p45"/>
          <p:cNvSpPr txBox="1"/>
          <p:nvPr/>
        </p:nvSpPr>
        <p:spPr>
          <a:xfrm>
            <a:off x="3632775" y="3796125"/>
            <a:ext cx="253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all Exterior Angles  =  </a:t>
            </a: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7" name="Google Shape;847;p45"/>
          <p:cNvSpPr/>
          <p:nvPr/>
        </p:nvSpPr>
        <p:spPr>
          <a:xfrm>
            <a:off x="1706893" y="3603175"/>
            <a:ext cx="4582800" cy="781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8" name="Google Shape;848;p45"/>
          <p:cNvSpPr/>
          <p:nvPr/>
        </p:nvSpPr>
        <p:spPr>
          <a:xfrm>
            <a:off x="917075" y="1195400"/>
            <a:ext cx="1135200" cy="9819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49" name="Google Shape;849;p45"/>
          <p:cNvGrpSpPr/>
          <p:nvPr/>
        </p:nvGrpSpPr>
        <p:grpSpPr>
          <a:xfrm>
            <a:off x="613480" y="778478"/>
            <a:ext cx="2061422" cy="1933482"/>
            <a:chOff x="613480" y="778478"/>
            <a:chExt cx="2061422" cy="1933482"/>
          </a:xfrm>
        </p:grpSpPr>
        <p:cxnSp>
          <p:nvCxnSpPr>
            <p:cNvPr id="850" name="Google Shape;850;p45"/>
            <p:cNvCxnSpPr/>
            <p:nvPr/>
          </p:nvCxnSpPr>
          <p:spPr>
            <a:xfrm rot="10800000">
              <a:off x="1240442" y="778478"/>
              <a:ext cx="361500" cy="618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1" name="Google Shape;851;p45"/>
            <p:cNvSpPr/>
            <p:nvPr/>
          </p:nvSpPr>
          <p:spPr>
            <a:xfrm rot="6830914">
              <a:off x="1203458" y="933315"/>
              <a:ext cx="520874" cy="524498"/>
            </a:xfrm>
            <a:prstGeom prst="pie">
              <a:avLst>
                <a:gd fmla="val 375297" name="adj1"/>
                <a:gd fmla="val 7532501" name="adj2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52" name="Google Shape;852;p45"/>
            <p:cNvCxnSpPr/>
            <p:nvPr/>
          </p:nvCxnSpPr>
          <p:spPr>
            <a:xfrm>
              <a:off x="1886202" y="2178701"/>
              <a:ext cx="788700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3" name="Google Shape;853;p45"/>
            <p:cNvSpPr/>
            <p:nvPr/>
          </p:nvSpPr>
          <p:spPr>
            <a:xfrm rot="-7635539">
              <a:off x="1802632" y="1897054"/>
              <a:ext cx="521292" cy="524053"/>
            </a:xfrm>
            <a:prstGeom prst="pie">
              <a:avLst>
                <a:gd fmla="val 428774" name="adj1"/>
                <a:gd fmla="val 7653992" name="adj2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54" name="Google Shape;854;p45"/>
            <p:cNvCxnSpPr/>
            <p:nvPr/>
          </p:nvCxnSpPr>
          <p:spPr>
            <a:xfrm rot="7170583">
              <a:off x="413371" y="2368760"/>
              <a:ext cx="788719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5" name="Google Shape;855;p45"/>
            <p:cNvSpPr/>
            <p:nvPr/>
          </p:nvSpPr>
          <p:spPr>
            <a:xfrm rot="-466266">
              <a:off x="666791" y="1931602"/>
              <a:ext cx="521388" cy="523807"/>
            </a:xfrm>
            <a:prstGeom prst="pie">
              <a:avLst>
                <a:gd fmla="val 503753" name="adj1"/>
                <a:gd fmla="val 7653992" name="adj2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" name="Google Shape;856;p45"/>
          <p:cNvSpPr/>
          <p:nvPr/>
        </p:nvSpPr>
        <p:spPr>
          <a:xfrm>
            <a:off x="3812150" y="1297813"/>
            <a:ext cx="981900" cy="9819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57" name="Google Shape;857;p45"/>
          <p:cNvGrpSpPr/>
          <p:nvPr/>
        </p:nvGrpSpPr>
        <p:grpSpPr>
          <a:xfrm>
            <a:off x="3177579" y="773013"/>
            <a:ext cx="2257649" cy="2133506"/>
            <a:chOff x="3177579" y="773013"/>
            <a:chExt cx="2257649" cy="2133506"/>
          </a:xfrm>
        </p:grpSpPr>
        <p:cxnSp>
          <p:nvCxnSpPr>
            <p:cNvPr id="858" name="Google Shape;858;p45"/>
            <p:cNvCxnSpPr/>
            <p:nvPr/>
          </p:nvCxnSpPr>
          <p:spPr>
            <a:xfrm rot="-5400000">
              <a:off x="3417802" y="1167363"/>
              <a:ext cx="788700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9" name="Google Shape;859;p45"/>
            <p:cNvSpPr/>
            <p:nvPr/>
          </p:nvSpPr>
          <p:spPr>
            <a:xfrm rot="-7522372">
              <a:off x="3569075" y="1016498"/>
              <a:ext cx="521338" cy="523919"/>
            </a:xfrm>
            <a:prstGeom prst="pie">
              <a:avLst>
                <a:gd fmla="val 2110464" name="adj1"/>
                <a:gd fmla="val 7543036" name="adj2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0" name="Google Shape;860;p45"/>
            <p:cNvCxnSpPr/>
            <p:nvPr/>
          </p:nvCxnSpPr>
          <p:spPr>
            <a:xfrm>
              <a:off x="4646528" y="1297025"/>
              <a:ext cx="788700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1" name="Google Shape;861;p45"/>
            <p:cNvSpPr/>
            <p:nvPr/>
          </p:nvSpPr>
          <p:spPr>
            <a:xfrm rot="-2122372">
              <a:off x="4552434" y="1054285"/>
              <a:ext cx="521338" cy="523919"/>
            </a:xfrm>
            <a:prstGeom prst="pie">
              <a:avLst>
                <a:gd fmla="val 2110464" name="adj1"/>
                <a:gd fmla="val 7544957" name="adj2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2" name="Google Shape;862;p45"/>
            <p:cNvCxnSpPr/>
            <p:nvPr/>
          </p:nvCxnSpPr>
          <p:spPr>
            <a:xfrm rot="5400000">
              <a:off x="4398978" y="2512169"/>
              <a:ext cx="788700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3" name="Google Shape;863;p45"/>
            <p:cNvSpPr/>
            <p:nvPr/>
          </p:nvSpPr>
          <p:spPr>
            <a:xfrm rot="3277628">
              <a:off x="4513440" y="2022435"/>
              <a:ext cx="521338" cy="523919"/>
            </a:xfrm>
            <a:prstGeom prst="pie">
              <a:avLst>
                <a:gd fmla="val 2110464" name="adj1"/>
                <a:gd fmla="val 7544957" name="adj2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4" name="Google Shape;864;p45"/>
            <p:cNvCxnSpPr/>
            <p:nvPr/>
          </p:nvCxnSpPr>
          <p:spPr>
            <a:xfrm>
              <a:off x="3177579" y="2280394"/>
              <a:ext cx="788700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5" name="Google Shape;865;p45"/>
            <p:cNvSpPr/>
            <p:nvPr/>
          </p:nvSpPr>
          <p:spPr>
            <a:xfrm rot="8677628">
              <a:off x="3531161" y="1999215"/>
              <a:ext cx="521338" cy="523919"/>
            </a:xfrm>
            <a:prstGeom prst="pie">
              <a:avLst>
                <a:gd fmla="val 2110464" name="adj1"/>
                <a:gd fmla="val 7544957" name="adj2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6" name="Google Shape;866;p45"/>
          <p:cNvSpPr txBox="1"/>
          <p:nvPr/>
        </p:nvSpPr>
        <p:spPr>
          <a:xfrm>
            <a:off x="495299" y="4567900"/>
            <a:ext cx="2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Geometry is mostly about angles! 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7" name="Google Shape;867;p45"/>
          <p:cNvSpPr txBox="1"/>
          <p:nvPr/>
        </p:nvSpPr>
        <p:spPr>
          <a:xfrm>
            <a:off x="2816225" y="456282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 master this key property now.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8" name="Google Shape;868;p45"/>
          <p:cNvSpPr txBox="1"/>
          <p:nvPr/>
        </p:nvSpPr>
        <p:spPr>
          <a:xfrm>
            <a:off x="5084575" y="4556824"/>
            <a:ext cx="304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will help you shine in your future studies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3" name="Google Shape;873;p46"/>
          <p:cNvCxnSpPr/>
          <p:nvPr/>
        </p:nvCxnSpPr>
        <p:spPr>
          <a:xfrm flipH="1">
            <a:off x="1924815" y="855835"/>
            <a:ext cx="2328900" cy="15993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4" name="Google Shape;874;p46"/>
          <p:cNvCxnSpPr/>
          <p:nvPr/>
        </p:nvCxnSpPr>
        <p:spPr>
          <a:xfrm>
            <a:off x="4253706" y="855835"/>
            <a:ext cx="2414100" cy="1642200"/>
          </a:xfrm>
          <a:prstGeom prst="straightConnector1">
            <a:avLst/>
          </a:prstGeom>
          <a:noFill/>
          <a:ln cap="flat" cmpd="sng" w="28575">
            <a:solidFill>
              <a:srgbClr val="EAD1DC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75" name="Google Shape;875;p46"/>
          <p:cNvGrpSpPr/>
          <p:nvPr/>
        </p:nvGrpSpPr>
        <p:grpSpPr>
          <a:xfrm>
            <a:off x="213364" y="76191"/>
            <a:ext cx="7955736" cy="741659"/>
            <a:chOff x="200164" y="4081891"/>
            <a:chExt cx="7955736" cy="741659"/>
          </a:xfrm>
        </p:grpSpPr>
        <p:sp>
          <p:nvSpPr>
            <p:cNvPr id="876" name="Google Shape;876;p46"/>
            <p:cNvSpPr/>
            <p:nvPr/>
          </p:nvSpPr>
          <p:spPr>
            <a:xfrm>
              <a:off x="489100" y="4423350"/>
              <a:ext cx="7666800" cy="400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77" name="Google Shape;877;p46"/>
            <p:cNvSpPr/>
            <p:nvPr/>
          </p:nvSpPr>
          <p:spPr>
            <a:xfrm rot="958540">
              <a:off x="261919" y="4146881"/>
              <a:ext cx="546091" cy="524621"/>
            </a:xfrm>
            <a:prstGeom prst="star4">
              <a:avLst>
                <a:gd fmla="val 12500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878" name="Google Shape;878;p46"/>
          <p:cNvSpPr txBox="1"/>
          <p:nvPr/>
        </p:nvSpPr>
        <p:spPr>
          <a:xfrm>
            <a:off x="514460" y="456475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 type of polygon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9" name="Google Shape;879;p46"/>
          <p:cNvSpPr txBox="1"/>
          <p:nvPr/>
        </p:nvSpPr>
        <p:spPr>
          <a:xfrm>
            <a:off x="2132686" y="456475"/>
            <a:ext cx="24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Regular or Irregular Polygon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0" name="Google Shape;880;p46"/>
          <p:cNvSpPr txBox="1"/>
          <p:nvPr/>
        </p:nvSpPr>
        <p:spPr>
          <a:xfrm>
            <a:off x="4081375" y="456475"/>
            <a:ext cx="317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 Sum of Exterior angles is always equal to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1" name="Google Shape;881;p46"/>
          <p:cNvSpPr txBox="1"/>
          <p:nvPr/>
        </p:nvSpPr>
        <p:spPr>
          <a:xfrm>
            <a:off x="6801837" y="445299"/>
            <a:ext cx="124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   </a:t>
            </a: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882" name="Google Shape;882;p46"/>
          <p:cNvSpPr txBox="1"/>
          <p:nvPr/>
        </p:nvSpPr>
        <p:spPr>
          <a:xfrm>
            <a:off x="1147050" y="2478875"/>
            <a:ext cx="18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REGULAR POLYGONS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3" name="Google Shape;883;p46"/>
          <p:cNvSpPr txBox="1"/>
          <p:nvPr/>
        </p:nvSpPr>
        <p:spPr>
          <a:xfrm>
            <a:off x="5659750" y="2478875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IRREGULAR POLYGONS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4" name="Google Shape;884;p46"/>
          <p:cNvSpPr txBox="1"/>
          <p:nvPr/>
        </p:nvSpPr>
        <p:spPr>
          <a:xfrm>
            <a:off x="481100" y="2914974"/>
            <a:ext cx="329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Since all angles of a Regular Polygon are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5" name="Google Shape;885;p46"/>
          <p:cNvSpPr txBox="1"/>
          <p:nvPr/>
        </p:nvSpPr>
        <p:spPr>
          <a:xfrm>
            <a:off x="100100" y="3210750"/>
            <a:ext cx="105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That means,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6" name="Google Shape;886;p46"/>
          <p:cNvSpPr txBox="1"/>
          <p:nvPr/>
        </p:nvSpPr>
        <p:spPr>
          <a:xfrm>
            <a:off x="948475" y="3211006"/>
            <a:ext cx="38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can find Each Exterior Angle of a Regular polygon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7" name="Google Shape;887;p46"/>
          <p:cNvSpPr txBox="1"/>
          <p:nvPr/>
        </p:nvSpPr>
        <p:spPr>
          <a:xfrm>
            <a:off x="76200" y="3556975"/>
            <a:ext cx="317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Each Exterior Angle of </a:t>
            </a: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-sided polygon   =</a:t>
            </a:r>
            <a:endParaRPr b="1"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8" name="Google Shape;888;p46"/>
          <p:cNvSpPr txBox="1"/>
          <p:nvPr/>
        </p:nvSpPr>
        <p:spPr>
          <a:xfrm>
            <a:off x="5234575" y="2896925"/>
            <a:ext cx="360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But all angles of an Irregular Polygon are not equal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9" name="Google Shape;889;p46"/>
          <p:cNvSpPr txBox="1"/>
          <p:nvPr/>
        </p:nvSpPr>
        <p:spPr>
          <a:xfrm>
            <a:off x="5633949" y="3147825"/>
            <a:ext cx="25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 there’s no formula for this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0" name="Google Shape;890;p46"/>
          <p:cNvSpPr txBox="1"/>
          <p:nvPr/>
        </p:nvSpPr>
        <p:spPr>
          <a:xfrm>
            <a:off x="4157576" y="4421200"/>
            <a:ext cx="13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Let’s see how !</a:t>
            </a:r>
            <a:endParaRPr b="1">
              <a:solidFill>
                <a:srgbClr val="EAD1DC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code&quot;:&quot;$$\\c{ffeb3b}{\\left(\\frac{360}{\\text{n}}\\right)^{\\text{o}}}$$&quot;,&quot;font&quot;:{&quot;size&quot;:12,&quot;family&quot;:&quot;Arial&quot;,&quot;color&quot;:&quot;#ffffff&quot;},&quot;aid&quot;:null,&quot;type&quot;:&quot;$$&quot;,&quot;id&quot;:&quot;14&quot;,&quot;backgroundColor&quot;:&quot;#000000&quot;,&quot;ts&quot;:1717410272718,&quot;cs&quot;:&quot;fMkpLWepv6tUQpTXPiO8Bg==&quot;,&quot;size&quot;:{&quot;width&quot;:67.16666666666667,&quot;height&quot;:45.833333333333336}}" id="891" name="Google Shape;8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5440" y="3570187"/>
            <a:ext cx="639763" cy="43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7"/>
          <p:cNvSpPr txBox="1"/>
          <p:nvPr/>
        </p:nvSpPr>
        <p:spPr>
          <a:xfrm>
            <a:off x="70300" y="715275"/>
            <a:ext cx="70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Q: 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of the exterior angle of a regular polygon having 10 Sides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7" name="Google Shape;897;p47"/>
          <p:cNvSpPr txBox="1"/>
          <p:nvPr/>
        </p:nvSpPr>
        <p:spPr>
          <a:xfrm>
            <a:off x="130982" y="1228870"/>
            <a:ext cx="875400" cy="369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ato"/>
                <a:ea typeface="Lato"/>
                <a:cs typeface="Lato"/>
                <a:sym typeface="Lato"/>
              </a:rPr>
              <a:t>Solution:</a:t>
            </a:r>
            <a:endParaRPr/>
          </a:p>
        </p:txBody>
      </p:sp>
      <p:sp>
        <p:nvSpPr>
          <p:cNvPr id="898" name="Google Shape;898;p47"/>
          <p:cNvSpPr txBox="1"/>
          <p:nvPr/>
        </p:nvSpPr>
        <p:spPr>
          <a:xfrm>
            <a:off x="178625" y="184325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Sum of exterior angles of the given Polygon</a:t>
            </a:r>
            <a:endParaRPr b="1" i="1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9" name="Google Shape;899;p47"/>
          <p:cNvSpPr txBox="1"/>
          <p:nvPr/>
        </p:nvSpPr>
        <p:spPr>
          <a:xfrm>
            <a:off x="5081661" y="3878868"/>
            <a:ext cx="213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sides =  </a:t>
            </a:r>
            <a:r>
              <a:rPr i="1" lang="en-GB" sz="12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=10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900" name="Google Shape;900;p47"/>
          <p:cNvSpPr txBox="1"/>
          <p:nvPr/>
        </p:nvSpPr>
        <p:spPr>
          <a:xfrm>
            <a:off x="746097" y="2364951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exterior angles   =   360</a:t>
            </a:r>
            <a:r>
              <a:rPr baseline="30000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1" name="Google Shape;901;p47"/>
          <p:cNvSpPr txBox="1"/>
          <p:nvPr/>
        </p:nvSpPr>
        <p:spPr>
          <a:xfrm>
            <a:off x="768768" y="3416865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Measure of each exterior angle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code&quot;:&quot;$$\\c{ffeb3b}{\\left(\\frac{360}{\\text{n}}\\right)^{\\text{o}}}$$&quot;,&quot;font&quot;:{&quot;size&quot;:12,&quot;family&quot;:&quot;Arial&quot;,&quot;color&quot;:&quot;#ffffff&quot;},&quot;aid&quot;:null,&quot;type&quot;:&quot;$$&quot;,&quot;id&quot;:&quot;14&quot;,&quot;backgroundColor&quot;:&quot;#000000&quot;,&quot;ts&quot;:1717410272718,&quot;cs&quot;:&quot;fMkpLWepv6tUQpTXPiO8Bg==&quot;,&quot;size&quot;:{&quot;width&quot;:67.16666666666667,&quot;height&quot;:45.833333333333336}}" id="902" name="Google Shape;90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102" y="3383240"/>
            <a:ext cx="639763" cy="436563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47"/>
          <p:cNvSpPr/>
          <p:nvPr/>
        </p:nvSpPr>
        <p:spPr>
          <a:xfrm>
            <a:off x="2529775" y="711825"/>
            <a:ext cx="10134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4" name="Google Shape;904;p47"/>
          <p:cNvSpPr txBox="1"/>
          <p:nvPr/>
        </p:nvSpPr>
        <p:spPr>
          <a:xfrm>
            <a:off x="167925" y="289990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exterior angle of a Regular Polygon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5" name="Google Shape;905;p47"/>
          <p:cNvSpPr/>
          <p:nvPr/>
        </p:nvSpPr>
        <p:spPr>
          <a:xfrm>
            <a:off x="5345325" y="694000"/>
            <a:ext cx="6825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6" name="Google Shape;906;p47"/>
          <p:cNvSpPr txBox="1"/>
          <p:nvPr/>
        </p:nvSpPr>
        <p:spPr>
          <a:xfrm>
            <a:off x="5556326" y="4551125"/>
            <a:ext cx="307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Measure of each exterior angle  = 36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07" name="Google Shape;907;p47"/>
          <p:cNvCxnSpPr/>
          <p:nvPr/>
        </p:nvCxnSpPr>
        <p:spPr>
          <a:xfrm>
            <a:off x="5545619" y="4898882"/>
            <a:ext cx="3075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backgroundColor&quot;:&quot;#000000&quot;,&quot;font&quot;:{&quot;color&quot;:&quot;#ffffff&quot;,&quot;family&quot;:&quot;Arial&quot;,&quot;size&quot;:12},&quot;aid&quot;:null,&quot;backgroundColorModified&quot;:false,&quot;type&quot;:&quot;$$&quot;,&quot;code&quot;:&quot;$$\\c{ffeb3b}{=\\left(\\frac{360}{\\text{10}}\\right)^{\\text{o}}}$$&quot;,&quot;id&quot;:&quot;14&quot;,&quot;ts&quot;:1717410370294,&quot;cs&quot;:&quot;5ylZWiva+h5jt1A/u39+Mw==&quot;,&quot;size&quot;:{&quot;width&quot;:89.83333333333333,&quot;height&quot;:45.833333333333336}}" id="908" name="Google Shape;90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0202" y="4021317"/>
            <a:ext cx="855663" cy="436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4&quot;,&quot;code&quot;:&quot;$$\\c{ffeb3b}{=36^{o}}$$&quot;,&quot;backgroundColorModified&quot;:false,&quot;type&quot;:&quot;$$&quot;,&quot;font&quot;:{&quot;family&quot;:&quot;Arial&quot;,&quot;color&quot;:&quot;#ffffff&quot;,&quot;size&quot;:12},&quot;backgroundColor&quot;:&quot;#000000&quot;,&quot;aid&quot;:null,&quot;ts&quot;:1717410406098,&quot;cs&quot;:&quot;5sO3PLkl2vWc7KDdE1/tfw==&quot;,&quot;size&quot;:{&quot;width&quot;:44.5,&quot;height&quot;:14.166666666666666}}" id="909" name="Google Shape;90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2260" y="4692355"/>
            <a:ext cx="423863" cy="134938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47"/>
          <p:cNvSpPr txBox="1"/>
          <p:nvPr/>
        </p:nvSpPr>
        <p:spPr>
          <a:xfrm>
            <a:off x="3383225" y="78850"/>
            <a:ext cx="2067000" cy="400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Regular Polygon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8"/>
          <p:cNvSpPr txBox="1"/>
          <p:nvPr/>
        </p:nvSpPr>
        <p:spPr>
          <a:xfrm>
            <a:off x="188375" y="615825"/>
            <a:ext cx="365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Q: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</a:t>
            </a:r>
            <a:r>
              <a:rPr b="1"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given figure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6" name="Google Shape;916;p48"/>
          <p:cNvSpPr txBox="1"/>
          <p:nvPr/>
        </p:nvSpPr>
        <p:spPr>
          <a:xfrm>
            <a:off x="264582" y="1115950"/>
            <a:ext cx="875400" cy="369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ato"/>
                <a:ea typeface="Lato"/>
                <a:cs typeface="Lato"/>
                <a:sym typeface="Lato"/>
              </a:rPr>
              <a:t>Solution:</a:t>
            </a:r>
            <a:endParaRPr/>
          </a:p>
        </p:txBody>
      </p:sp>
      <p:sp>
        <p:nvSpPr>
          <p:cNvPr id="917" name="Google Shape;917;p48"/>
          <p:cNvSpPr txBox="1"/>
          <p:nvPr/>
        </p:nvSpPr>
        <p:spPr>
          <a:xfrm>
            <a:off x="244125" y="2828038"/>
            <a:ext cx="30759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missing angle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8" name="Google Shape;918;p48"/>
          <p:cNvSpPr txBox="1"/>
          <p:nvPr/>
        </p:nvSpPr>
        <p:spPr>
          <a:xfrm>
            <a:off x="4984826" y="4466160"/>
            <a:ext cx="1827000" cy="3849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The value of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105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9" name="Google Shape;919;p48"/>
          <p:cNvSpPr txBox="1"/>
          <p:nvPr/>
        </p:nvSpPr>
        <p:spPr>
          <a:xfrm>
            <a:off x="1049224" y="3167724"/>
            <a:ext cx="23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0" name="Google Shape;920;p48"/>
          <p:cNvSpPr txBox="1"/>
          <p:nvPr/>
        </p:nvSpPr>
        <p:spPr>
          <a:xfrm>
            <a:off x="1089650" y="3292748"/>
            <a:ext cx="359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115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+  50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+  90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+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 360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1" name="Google Shape;921;p48"/>
          <p:cNvSpPr txBox="1"/>
          <p:nvPr/>
        </p:nvSpPr>
        <p:spPr>
          <a:xfrm>
            <a:off x="1503072" y="3720714"/>
            <a:ext cx="63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255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2" name="Google Shape;922;p48"/>
          <p:cNvSpPr txBox="1"/>
          <p:nvPr/>
        </p:nvSpPr>
        <p:spPr>
          <a:xfrm>
            <a:off x="1961981" y="4060401"/>
            <a:ext cx="231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 360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- 255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 105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3" name="Google Shape;923;p48"/>
          <p:cNvSpPr/>
          <p:nvPr/>
        </p:nvSpPr>
        <p:spPr>
          <a:xfrm rot="5400000">
            <a:off x="1662324" y="2920749"/>
            <a:ext cx="109800" cy="1500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4" name="Google Shape;924;p48"/>
          <p:cNvSpPr txBox="1"/>
          <p:nvPr/>
        </p:nvSpPr>
        <p:spPr>
          <a:xfrm>
            <a:off x="2124869" y="3709975"/>
            <a:ext cx="145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     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 360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25" name="Google Shape;925;p48"/>
          <p:cNvGrpSpPr/>
          <p:nvPr/>
        </p:nvGrpSpPr>
        <p:grpSpPr>
          <a:xfrm>
            <a:off x="6046016" y="466224"/>
            <a:ext cx="2860911" cy="2333321"/>
            <a:chOff x="1754975" y="544550"/>
            <a:chExt cx="3309325" cy="2778425"/>
          </a:xfrm>
        </p:grpSpPr>
        <p:grpSp>
          <p:nvGrpSpPr>
            <p:cNvPr id="926" name="Google Shape;926;p48"/>
            <p:cNvGrpSpPr/>
            <p:nvPr/>
          </p:nvGrpSpPr>
          <p:grpSpPr>
            <a:xfrm>
              <a:off x="2405975" y="1431500"/>
              <a:ext cx="1785677" cy="1200400"/>
              <a:chOff x="2405975" y="1050500"/>
              <a:chExt cx="1785677" cy="1200400"/>
            </a:xfrm>
          </p:grpSpPr>
          <p:cxnSp>
            <p:nvCxnSpPr>
              <p:cNvPr id="927" name="Google Shape;927;p48"/>
              <p:cNvCxnSpPr/>
              <p:nvPr/>
            </p:nvCxnSpPr>
            <p:spPr>
              <a:xfrm flipH="1" rot="10800000">
                <a:off x="2632725" y="1057700"/>
                <a:ext cx="1256100" cy="168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" name="Google Shape;928;p48"/>
              <p:cNvCxnSpPr/>
              <p:nvPr/>
            </p:nvCxnSpPr>
            <p:spPr>
              <a:xfrm>
                <a:off x="3872752" y="1050500"/>
                <a:ext cx="318900" cy="1190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" name="Google Shape;929;p48"/>
              <p:cNvCxnSpPr/>
              <p:nvPr/>
            </p:nvCxnSpPr>
            <p:spPr>
              <a:xfrm rot="10800000">
                <a:off x="2405975" y="2234050"/>
                <a:ext cx="1778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0" name="Google Shape;930;p48"/>
              <p:cNvCxnSpPr/>
              <p:nvPr/>
            </p:nvCxnSpPr>
            <p:spPr>
              <a:xfrm flipH="1" rot="10800000">
                <a:off x="2418626" y="1221300"/>
                <a:ext cx="223800" cy="1029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31" name="Google Shape;931;p48"/>
            <p:cNvCxnSpPr/>
            <p:nvPr/>
          </p:nvCxnSpPr>
          <p:spPr>
            <a:xfrm>
              <a:off x="3694861" y="769825"/>
              <a:ext cx="234900" cy="8742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2" name="Google Shape;932;p48"/>
            <p:cNvCxnSpPr/>
            <p:nvPr/>
          </p:nvCxnSpPr>
          <p:spPr>
            <a:xfrm rot="10800000">
              <a:off x="4106375" y="2614965"/>
              <a:ext cx="7989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3" name="Google Shape;933;p48"/>
            <p:cNvCxnSpPr/>
            <p:nvPr/>
          </p:nvCxnSpPr>
          <p:spPr>
            <a:xfrm flipH="1">
              <a:off x="2292925" y="2448675"/>
              <a:ext cx="165300" cy="7482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4" name="Google Shape;934;p48"/>
            <p:cNvCxnSpPr/>
            <p:nvPr/>
          </p:nvCxnSpPr>
          <p:spPr>
            <a:xfrm flipH="1">
              <a:off x="1988966" y="1593009"/>
              <a:ext cx="745200" cy="864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5" name="Google Shape;935;p48"/>
            <p:cNvSpPr/>
            <p:nvPr/>
          </p:nvSpPr>
          <p:spPr>
            <a:xfrm rot="4712823">
              <a:off x="3741134" y="1332805"/>
              <a:ext cx="117847" cy="115789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6" name="Google Shape;936;p48"/>
            <p:cNvSpPr/>
            <p:nvPr/>
          </p:nvSpPr>
          <p:spPr>
            <a:xfrm rot="10077855">
              <a:off x="2220952" y="2419700"/>
              <a:ext cx="427293" cy="427293"/>
            </a:xfrm>
            <a:prstGeom prst="arc">
              <a:avLst>
                <a:gd fmla="val 11496922" name="adj1"/>
                <a:gd fmla="val 17628887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7" name="Google Shape;937;p48"/>
            <p:cNvSpPr/>
            <p:nvPr/>
          </p:nvSpPr>
          <p:spPr>
            <a:xfrm rot="3565341">
              <a:off x="3991043" y="2383947"/>
              <a:ext cx="427556" cy="427556"/>
            </a:xfrm>
            <a:prstGeom prst="arc">
              <a:avLst>
                <a:gd fmla="val 11642891" name="adj1"/>
                <a:gd fmla="val 18225163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8" name="Google Shape;938;p48"/>
            <p:cNvSpPr txBox="1"/>
            <p:nvPr/>
          </p:nvSpPr>
          <p:spPr>
            <a:xfrm flipH="1">
              <a:off x="2463850" y="1330488"/>
              <a:ext cx="31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</a:t>
              </a:r>
              <a:endParaRPr sz="1000"/>
            </a:p>
          </p:txBody>
        </p:sp>
        <p:sp>
          <p:nvSpPr>
            <p:cNvPr id="939" name="Google Shape;939;p48"/>
            <p:cNvSpPr txBox="1"/>
            <p:nvPr/>
          </p:nvSpPr>
          <p:spPr>
            <a:xfrm>
              <a:off x="4049725" y="2614975"/>
              <a:ext cx="31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B</a:t>
              </a:r>
              <a:endParaRPr sz="1000"/>
            </a:p>
          </p:txBody>
        </p:sp>
        <p:sp>
          <p:nvSpPr>
            <p:cNvPr id="940" name="Google Shape;940;p48"/>
            <p:cNvSpPr txBox="1"/>
            <p:nvPr/>
          </p:nvSpPr>
          <p:spPr>
            <a:xfrm>
              <a:off x="2148034" y="2379850"/>
              <a:ext cx="31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/>
            </a:p>
          </p:txBody>
        </p:sp>
        <p:sp>
          <p:nvSpPr>
            <p:cNvPr id="941" name="Google Shape;941;p48"/>
            <p:cNvSpPr txBox="1"/>
            <p:nvPr/>
          </p:nvSpPr>
          <p:spPr>
            <a:xfrm>
              <a:off x="3657200" y="544550"/>
              <a:ext cx="31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G</a:t>
              </a:r>
              <a:endParaRPr sz="1000"/>
            </a:p>
          </p:txBody>
        </p:sp>
        <p:sp>
          <p:nvSpPr>
            <p:cNvPr id="942" name="Google Shape;942;p48"/>
            <p:cNvSpPr txBox="1"/>
            <p:nvPr/>
          </p:nvSpPr>
          <p:spPr>
            <a:xfrm flipH="1">
              <a:off x="3884050" y="1273863"/>
              <a:ext cx="31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/>
            </a:p>
          </p:txBody>
        </p:sp>
        <p:sp>
          <p:nvSpPr>
            <p:cNvPr id="943" name="Google Shape;943;p48"/>
            <p:cNvSpPr txBox="1"/>
            <p:nvPr/>
          </p:nvSpPr>
          <p:spPr>
            <a:xfrm>
              <a:off x="3384883" y="1113187"/>
              <a:ext cx="6333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sz="1000"/>
            </a:p>
          </p:txBody>
        </p:sp>
        <p:sp>
          <p:nvSpPr>
            <p:cNvPr id="944" name="Google Shape;944;p48"/>
            <p:cNvSpPr txBox="1"/>
            <p:nvPr/>
          </p:nvSpPr>
          <p:spPr>
            <a:xfrm>
              <a:off x="4319361" y="2201761"/>
              <a:ext cx="411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9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x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baseline="30000" sz="1000"/>
            </a:p>
          </p:txBody>
        </p:sp>
        <p:sp>
          <p:nvSpPr>
            <p:cNvPr id="945" name="Google Shape;945;p48"/>
            <p:cNvSpPr txBox="1"/>
            <p:nvPr/>
          </p:nvSpPr>
          <p:spPr>
            <a:xfrm>
              <a:off x="4754100" y="2614975"/>
              <a:ext cx="31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</a:t>
              </a:r>
              <a:endParaRPr sz="1000"/>
            </a:p>
          </p:txBody>
        </p:sp>
        <p:sp>
          <p:nvSpPr>
            <p:cNvPr id="946" name="Google Shape;946;p48"/>
            <p:cNvSpPr/>
            <p:nvPr/>
          </p:nvSpPr>
          <p:spPr>
            <a:xfrm rot="-7241270">
              <a:off x="2405287" y="1409626"/>
              <a:ext cx="427345" cy="427345"/>
            </a:xfrm>
            <a:prstGeom prst="arc">
              <a:avLst>
                <a:gd fmla="val 13238707" name="adj1"/>
                <a:gd fmla="val 17628887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47" name="Google Shape;947;p48"/>
            <p:cNvSpPr txBox="1"/>
            <p:nvPr/>
          </p:nvSpPr>
          <p:spPr>
            <a:xfrm flipH="1">
              <a:off x="1754975" y="1554988"/>
              <a:ext cx="31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H</a:t>
              </a:r>
              <a:endParaRPr sz="1000"/>
            </a:p>
          </p:txBody>
        </p:sp>
        <p:sp>
          <p:nvSpPr>
            <p:cNvPr id="948" name="Google Shape;948;p48"/>
            <p:cNvSpPr txBox="1"/>
            <p:nvPr/>
          </p:nvSpPr>
          <p:spPr>
            <a:xfrm>
              <a:off x="2156051" y="1745213"/>
              <a:ext cx="6333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50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sz="1000"/>
            </a:p>
          </p:txBody>
        </p:sp>
        <p:sp>
          <p:nvSpPr>
            <p:cNvPr id="949" name="Google Shape;949;p48"/>
            <p:cNvSpPr txBox="1"/>
            <p:nvPr/>
          </p:nvSpPr>
          <p:spPr>
            <a:xfrm>
              <a:off x="2015959" y="2938075"/>
              <a:ext cx="31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E</a:t>
              </a:r>
              <a:endParaRPr sz="1000"/>
            </a:p>
          </p:txBody>
        </p:sp>
        <p:sp>
          <p:nvSpPr>
            <p:cNvPr id="950" name="Google Shape;950;p48"/>
            <p:cNvSpPr txBox="1"/>
            <p:nvPr/>
          </p:nvSpPr>
          <p:spPr>
            <a:xfrm>
              <a:off x="2488807" y="2690289"/>
              <a:ext cx="507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115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sz="1000"/>
            </a:p>
          </p:txBody>
        </p:sp>
      </p:grpSp>
      <p:sp>
        <p:nvSpPr>
          <p:cNvPr id="951" name="Google Shape;951;p48"/>
          <p:cNvSpPr txBox="1"/>
          <p:nvPr/>
        </p:nvSpPr>
        <p:spPr>
          <a:xfrm>
            <a:off x="3383225" y="78850"/>
            <a:ext cx="2067000" cy="400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Irr</a:t>
            </a:r>
            <a:r>
              <a:rPr b="1" lang="en-GB">
                <a:latin typeface="Lato"/>
                <a:ea typeface="Lato"/>
                <a:cs typeface="Lato"/>
                <a:sym typeface="Lato"/>
              </a:rPr>
              <a:t>egular Polygon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2" name="Google Shape;952;p48"/>
          <p:cNvSpPr txBox="1"/>
          <p:nvPr/>
        </p:nvSpPr>
        <p:spPr>
          <a:xfrm>
            <a:off x="254825" y="1834226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Sum of exterior angles of the given Polygon</a:t>
            </a:r>
            <a:endParaRPr b="1" i="1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3" name="Google Shape;953;p48"/>
          <p:cNvSpPr txBox="1"/>
          <p:nvPr/>
        </p:nvSpPr>
        <p:spPr>
          <a:xfrm>
            <a:off x="822297" y="2279728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exterior angles   =   360</a:t>
            </a:r>
            <a:r>
              <a:rPr baseline="30000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9"/>
          <p:cNvSpPr txBox="1"/>
          <p:nvPr/>
        </p:nvSpPr>
        <p:spPr>
          <a:xfrm>
            <a:off x="3122002" y="244200"/>
            <a:ext cx="270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 you Remember? </a:t>
            </a:r>
            <a:endParaRPr sz="20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9" name="Google Shape;959;p49"/>
          <p:cNvSpPr txBox="1"/>
          <p:nvPr/>
        </p:nvSpPr>
        <p:spPr>
          <a:xfrm>
            <a:off x="1854854" y="1421850"/>
            <a:ext cx="403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There’s a </a:t>
            </a:r>
            <a:r>
              <a:rPr lang="en-GB" sz="2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relationship</a:t>
            </a: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between </a:t>
            </a:r>
            <a:endParaRPr sz="20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0" name="Google Shape;960;p49"/>
          <p:cNvSpPr txBox="1"/>
          <p:nvPr/>
        </p:nvSpPr>
        <p:spPr>
          <a:xfrm>
            <a:off x="3057725" y="3067250"/>
            <a:ext cx="27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Let’s recall once again.</a:t>
            </a:r>
            <a:endParaRPr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1" name="Google Shape;961;p49"/>
          <p:cNvSpPr txBox="1"/>
          <p:nvPr/>
        </p:nvSpPr>
        <p:spPr>
          <a:xfrm>
            <a:off x="2611700" y="1914450"/>
            <a:ext cx="403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 corresponding exterior angle.</a:t>
            </a:r>
            <a:endParaRPr sz="20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2" name="Google Shape;962;p49"/>
          <p:cNvSpPr txBox="1"/>
          <p:nvPr/>
        </p:nvSpPr>
        <p:spPr>
          <a:xfrm>
            <a:off x="5339600" y="1421850"/>
            <a:ext cx="175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50"/>
          <p:cNvGrpSpPr/>
          <p:nvPr/>
        </p:nvGrpSpPr>
        <p:grpSpPr>
          <a:xfrm>
            <a:off x="734133" y="2580761"/>
            <a:ext cx="1597177" cy="1311687"/>
            <a:chOff x="6566458" y="3165186"/>
            <a:chExt cx="1597177" cy="1311687"/>
          </a:xfrm>
        </p:grpSpPr>
        <p:sp>
          <p:nvSpPr>
            <p:cNvPr id="968" name="Google Shape;968;p50"/>
            <p:cNvSpPr/>
            <p:nvPr/>
          </p:nvSpPr>
          <p:spPr>
            <a:xfrm>
              <a:off x="6647550" y="3260900"/>
              <a:ext cx="1438200" cy="1121400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969" name="Google Shape;969;p50"/>
            <p:cNvGrpSpPr/>
            <p:nvPr/>
          </p:nvGrpSpPr>
          <p:grpSpPr>
            <a:xfrm>
              <a:off x="6566458" y="3165186"/>
              <a:ext cx="1597177" cy="1311687"/>
              <a:chOff x="2148783" y="2312394"/>
              <a:chExt cx="1475180" cy="1132815"/>
            </a:xfrm>
          </p:grpSpPr>
          <p:cxnSp>
            <p:nvCxnSpPr>
              <p:cNvPr id="970" name="Google Shape;970;p50"/>
              <p:cNvCxnSpPr/>
              <p:nvPr/>
            </p:nvCxnSpPr>
            <p:spPr>
              <a:xfrm>
                <a:off x="2862710" y="2312394"/>
                <a:ext cx="0" cy="175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1" name="Google Shape;971;p50"/>
              <p:cNvCxnSpPr/>
              <p:nvPr/>
            </p:nvCxnSpPr>
            <p:spPr>
              <a:xfrm>
                <a:off x="2893286" y="3269409"/>
                <a:ext cx="0" cy="175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2" name="Google Shape;972;p50"/>
              <p:cNvCxnSpPr/>
              <p:nvPr/>
            </p:nvCxnSpPr>
            <p:spPr>
              <a:xfrm>
                <a:off x="3536062" y="2804728"/>
                <a:ext cx="0" cy="175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" name="Google Shape;973;p50"/>
              <p:cNvCxnSpPr/>
              <p:nvPr/>
            </p:nvCxnSpPr>
            <p:spPr>
              <a:xfrm>
                <a:off x="2236683" y="2833341"/>
                <a:ext cx="0" cy="175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74" name="Google Shape;974;p50"/>
          <p:cNvGrpSpPr/>
          <p:nvPr/>
        </p:nvGrpSpPr>
        <p:grpSpPr>
          <a:xfrm>
            <a:off x="6942828" y="524073"/>
            <a:ext cx="1188600" cy="1170604"/>
            <a:chOff x="6942828" y="828873"/>
            <a:chExt cx="1188600" cy="1170604"/>
          </a:xfrm>
        </p:grpSpPr>
        <p:sp>
          <p:nvSpPr>
            <p:cNvPr id="975" name="Google Shape;975;p50"/>
            <p:cNvSpPr/>
            <p:nvPr/>
          </p:nvSpPr>
          <p:spPr>
            <a:xfrm>
              <a:off x="6942828" y="828873"/>
              <a:ext cx="1188600" cy="10662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976" name="Google Shape;976;p50"/>
            <p:cNvGrpSpPr/>
            <p:nvPr/>
          </p:nvGrpSpPr>
          <p:grpSpPr>
            <a:xfrm>
              <a:off x="7140671" y="1214369"/>
              <a:ext cx="785097" cy="785108"/>
              <a:chOff x="2639325" y="1432379"/>
              <a:chExt cx="608696" cy="636230"/>
            </a:xfrm>
          </p:grpSpPr>
          <p:cxnSp>
            <p:nvCxnSpPr>
              <p:cNvPr id="977" name="Google Shape;977;p50"/>
              <p:cNvCxnSpPr/>
              <p:nvPr/>
            </p:nvCxnSpPr>
            <p:spPr>
              <a:xfrm>
                <a:off x="2947050" y="1856809"/>
                <a:ext cx="0" cy="211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" name="Google Shape;978;p50"/>
              <p:cNvCxnSpPr/>
              <p:nvPr/>
            </p:nvCxnSpPr>
            <p:spPr>
              <a:xfrm flipH="1">
                <a:off x="3161021" y="1432379"/>
                <a:ext cx="87000" cy="184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9" name="Google Shape;979;p50"/>
              <p:cNvCxnSpPr/>
              <p:nvPr/>
            </p:nvCxnSpPr>
            <p:spPr>
              <a:xfrm>
                <a:off x="2639325" y="1445075"/>
                <a:ext cx="115800" cy="188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80" name="Google Shape;980;p50"/>
          <p:cNvSpPr txBox="1"/>
          <p:nvPr/>
        </p:nvSpPr>
        <p:spPr>
          <a:xfrm>
            <a:off x="675953" y="1254708"/>
            <a:ext cx="17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exterior angle  =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font&quot;:{&quot;color&quot;:&quot;#ffffff&quot;,&quot;family&quot;:&quot;Arial&quot;,&quot;size&quot;:12},&quot;id&quot;:&quot;16&quot;,&quot;backgroundColor&quot;:&quot;#000000&quot;,&quot;aid&quot;:null,&quot;code&quot;:&quot;$$=\\frac{360^{\\text{o}}}{3}$$&quot;,&quot;type&quot;:&quot;$$&quot;,&quot;ts&quot;:1717413463021,&quot;cs&quot;:&quot;vPATxlsWhhvA3Z6DeVRn/A==&quot;,&quot;size&quot;:{&quot;width&quot;:61.166666666666664,&quot;height&quot;:39.333333333333336}}" id="981" name="Google Shape;98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368" y="1277753"/>
            <a:ext cx="582613" cy="37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000000&quot;,&quot;code&quot;:&quot;$$=\\,120^{\\text{o}}$$&quot;,&quot;font&quot;:{&quot;size&quot;:12,&quot;color&quot;:&quot;#ffffff&quot;,&quot;family&quot;:&quot;Arial&quot;},&quot;type&quot;:&quot;$$&quot;,&quot;id&quot;:&quot;17&quot;,&quot;ts&quot;:1717412179433,&quot;cs&quot;:&quot;BQw4al6CTJQo6FmZLngXbg==&quot;,&quot;size&quot;:{&quot;width&quot;:57,&quot;height&quot;:14.333333333333334}}" id="982" name="Google Shape;98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814" y="1387549"/>
            <a:ext cx="542925" cy="136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3" name="Google Shape;983;p50"/>
          <p:cNvGrpSpPr/>
          <p:nvPr/>
        </p:nvGrpSpPr>
        <p:grpSpPr>
          <a:xfrm>
            <a:off x="7976750" y="1409773"/>
            <a:ext cx="910520" cy="337500"/>
            <a:chOff x="7976750" y="1714573"/>
            <a:chExt cx="910520" cy="337500"/>
          </a:xfrm>
        </p:grpSpPr>
        <p:cxnSp>
          <p:nvCxnSpPr>
            <p:cNvPr id="984" name="Google Shape;984;p50"/>
            <p:cNvCxnSpPr/>
            <p:nvPr/>
          </p:nvCxnSpPr>
          <p:spPr>
            <a:xfrm>
              <a:off x="8102170" y="1895073"/>
              <a:ext cx="785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5" name="Google Shape;985;p50"/>
            <p:cNvSpPr/>
            <p:nvPr/>
          </p:nvSpPr>
          <p:spPr>
            <a:xfrm rot="-3090853">
              <a:off x="8015191" y="1771792"/>
              <a:ext cx="246818" cy="223062"/>
            </a:xfrm>
            <a:prstGeom prst="pie">
              <a:avLst>
                <a:gd fmla="val 17430075" name="adj1"/>
                <a:gd fmla="val 3015732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6" name="Google Shape;986;p50"/>
          <p:cNvGrpSpPr/>
          <p:nvPr/>
        </p:nvGrpSpPr>
        <p:grpSpPr>
          <a:xfrm>
            <a:off x="7305325" y="86400"/>
            <a:ext cx="381225" cy="609923"/>
            <a:chOff x="7305325" y="391200"/>
            <a:chExt cx="381225" cy="609923"/>
          </a:xfrm>
        </p:grpSpPr>
        <p:cxnSp>
          <p:nvCxnSpPr>
            <p:cNvPr id="987" name="Google Shape;987;p50"/>
            <p:cNvCxnSpPr/>
            <p:nvPr/>
          </p:nvCxnSpPr>
          <p:spPr>
            <a:xfrm>
              <a:off x="7305325" y="391200"/>
              <a:ext cx="251700" cy="4698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8" name="Google Shape;988;p50"/>
            <p:cNvSpPr/>
            <p:nvPr/>
          </p:nvSpPr>
          <p:spPr>
            <a:xfrm rot="-3090853">
              <a:off x="7401291" y="720842"/>
              <a:ext cx="246818" cy="223062"/>
            </a:xfrm>
            <a:prstGeom prst="pie">
              <a:avLst>
                <a:gd fmla="val 10226038" name="adj1"/>
                <a:gd fmla="val 17560777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9" name="Google Shape;989;p50"/>
          <p:cNvGrpSpPr/>
          <p:nvPr/>
        </p:nvGrpSpPr>
        <p:grpSpPr>
          <a:xfrm>
            <a:off x="6494132" y="1432348"/>
            <a:ext cx="628147" cy="998400"/>
            <a:chOff x="6485628" y="1737148"/>
            <a:chExt cx="628147" cy="998400"/>
          </a:xfrm>
        </p:grpSpPr>
        <p:cxnSp>
          <p:nvCxnSpPr>
            <p:cNvPr id="990" name="Google Shape;990;p50"/>
            <p:cNvCxnSpPr/>
            <p:nvPr/>
          </p:nvCxnSpPr>
          <p:spPr>
            <a:xfrm flipH="1" rot="10800000">
              <a:off x="6485628" y="1896748"/>
              <a:ext cx="459000" cy="8388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1" name="Google Shape;991;p50"/>
            <p:cNvSpPr/>
            <p:nvPr/>
          </p:nvSpPr>
          <p:spPr>
            <a:xfrm rot="-3090853">
              <a:off x="6828516" y="1794367"/>
              <a:ext cx="246818" cy="223062"/>
            </a:xfrm>
            <a:prstGeom prst="pie">
              <a:avLst>
                <a:gd fmla="val 2952230" name="adj1"/>
                <a:gd fmla="val 10202349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2" name="Google Shape;992;p50"/>
          <p:cNvGrpSpPr/>
          <p:nvPr/>
        </p:nvGrpSpPr>
        <p:grpSpPr>
          <a:xfrm>
            <a:off x="6966341" y="357675"/>
            <a:ext cx="1579200" cy="1694700"/>
            <a:chOff x="6929500" y="662475"/>
            <a:chExt cx="1579200" cy="1694700"/>
          </a:xfrm>
        </p:grpSpPr>
        <p:sp>
          <p:nvSpPr>
            <p:cNvPr id="993" name="Google Shape;993;p50"/>
            <p:cNvSpPr txBox="1"/>
            <p:nvPr/>
          </p:nvSpPr>
          <p:spPr>
            <a:xfrm>
              <a:off x="8072500" y="1576875"/>
              <a:ext cx="436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120°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994" name="Google Shape;994;p50"/>
            <p:cNvSpPr txBox="1"/>
            <p:nvPr/>
          </p:nvSpPr>
          <p:spPr>
            <a:xfrm>
              <a:off x="7005700" y="662475"/>
              <a:ext cx="436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120°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995" name="Google Shape;995;p50"/>
            <p:cNvSpPr txBox="1"/>
            <p:nvPr/>
          </p:nvSpPr>
          <p:spPr>
            <a:xfrm>
              <a:off x="6929500" y="2034075"/>
              <a:ext cx="436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120°</a:t>
              </a:r>
              <a:endParaRPr sz="900">
                <a:solidFill>
                  <a:schemeClr val="lt1"/>
                </a:solidFill>
              </a:endParaRPr>
            </a:p>
          </p:txBody>
        </p:sp>
      </p:grpSp>
      <p:grpSp>
        <p:nvGrpSpPr>
          <p:cNvPr id="996" name="Google Shape;996;p50"/>
          <p:cNvGrpSpPr/>
          <p:nvPr/>
        </p:nvGrpSpPr>
        <p:grpSpPr>
          <a:xfrm>
            <a:off x="2222903" y="3621525"/>
            <a:ext cx="785100" cy="176348"/>
            <a:chOff x="8055228" y="4205950"/>
            <a:chExt cx="785100" cy="176348"/>
          </a:xfrm>
        </p:grpSpPr>
        <p:cxnSp>
          <p:nvCxnSpPr>
            <p:cNvPr id="997" name="Google Shape;997;p50"/>
            <p:cNvCxnSpPr/>
            <p:nvPr/>
          </p:nvCxnSpPr>
          <p:spPr>
            <a:xfrm>
              <a:off x="8055228" y="4382298"/>
              <a:ext cx="785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8" name="Google Shape;998;p50"/>
            <p:cNvSpPr/>
            <p:nvPr/>
          </p:nvSpPr>
          <p:spPr>
            <a:xfrm>
              <a:off x="8105075" y="4205950"/>
              <a:ext cx="158700" cy="1587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999" name="Google Shape;999;p50"/>
          <p:cNvGrpSpPr/>
          <p:nvPr/>
        </p:nvGrpSpPr>
        <p:grpSpPr>
          <a:xfrm>
            <a:off x="2094850" y="2312998"/>
            <a:ext cx="158713" cy="374650"/>
            <a:chOff x="7927040" y="2486973"/>
            <a:chExt cx="158713" cy="785100"/>
          </a:xfrm>
        </p:grpSpPr>
        <p:cxnSp>
          <p:nvCxnSpPr>
            <p:cNvPr id="1000" name="Google Shape;1000;p50"/>
            <p:cNvCxnSpPr/>
            <p:nvPr/>
          </p:nvCxnSpPr>
          <p:spPr>
            <a:xfrm rot="5400000">
              <a:off x="7693203" y="2879523"/>
              <a:ext cx="785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1" name="Google Shape;1001;p50"/>
            <p:cNvSpPr/>
            <p:nvPr/>
          </p:nvSpPr>
          <p:spPr>
            <a:xfrm>
              <a:off x="7927040" y="2992333"/>
              <a:ext cx="158700" cy="2661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02" name="Google Shape;1002;p50"/>
          <p:cNvGrpSpPr/>
          <p:nvPr/>
        </p:nvGrpSpPr>
        <p:grpSpPr>
          <a:xfrm>
            <a:off x="82703" y="2676473"/>
            <a:ext cx="785100" cy="169877"/>
            <a:chOff x="5915028" y="3260898"/>
            <a:chExt cx="785100" cy="169877"/>
          </a:xfrm>
        </p:grpSpPr>
        <p:cxnSp>
          <p:nvCxnSpPr>
            <p:cNvPr id="1003" name="Google Shape;1003;p50"/>
            <p:cNvCxnSpPr/>
            <p:nvPr/>
          </p:nvCxnSpPr>
          <p:spPr>
            <a:xfrm>
              <a:off x="5915028" y="3260898"/>
              <a:ext cx="785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4" name="Google Shape;1004;p50"/>
            <p:cNvSpPr/>
            <p:nvPr/>
          </p:nvSpPr>
          <p:spPr>
            <a:xfrm>
              <a:off x="6485625" y="3272075"/>
              <a:ext cx="158700" cy="1587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05" name="Google Shape;1005;p50"/>
          <p:cNvGrpSpPr/>
          <p:nvPr/>
        </p:nvGrpSpPr>
        <p:grpSpPr>
          <a:xfrm>
            <a:off x="806723" y="3751198"/>
            <a:ext cx="176347" cy="639300"/>
            <a:chOff x="6647553" y="4335623"/>
            <a:chExt cx="176347" cy="639300"/>
          </a:xfrm>
        </p:grpSpPr>
        <p:cxnSp>
          <p:nvCxnSpPr>
            <p:cNvPr id="1006" name="Google Shape;1006;p50"/>
            <p:cNvCxnSpPr/>
            <p:nvPr/>
          </p:nvCxnSpPr>
          <p:spPr>
            <a:xfrm>
              <a:off x="6647553" y="4335623"/>
              <a:ext cx="0" cy="6393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7" name="Google Shape;1007;p50"/>
            <p:cNvSpPr/>
            <p:nvPr/>
          </p:nvSpPr>
          <p:spPr>
            <a:xfrm>
              <a:off x="6665200" y="4399950"/>
              <a:ext cx="158700" cy="1587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08" name="Google Shape;1008;p50"/>
          <p:cNvGrpSpPr/>
          <p:nvPr/>
        </p:nvGrpSpPr>
        <p:grpSpPr>
          <a:xfrm>
            <a:off x="358791" y="2287850"/>
            <a:ext cx="2493600" cy="1923300"/>
            <a:chOff x="6167500" y="2872275"/>
            <a:chExt cx="2493600" cy="1923300"/>
          </a:xfrm>
        </p:grpSpPr>
        <p:sp>
          <p:nvSpPr>
            <p:cNvPr id="1009" name="Google Shape;1009;p50"/>
            <p:cNvSpPr txBox="1"/>
            <p:nvPr/>
          </p:nvSpPr>
          <p:spPr>
            <a:xfrm>
              <a:off x="8224900" y="4015275"/>
              <a:ext cx="436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1010" name="Google Shape;1010;p50"/>
            <p:cNvSpPr txBox="1"/>
            <p:nvPr/>
          </p:nvSpPr>
          <p:spPr>
            <a:xfrm>
              <a:off x="7615300" y="2872275"/>
              <a:ext cx="436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1011" name="Google Shape;1011;p50"/>
            <p:cNvSpPr txBox="1"/>
            <p:nvPr/>
          </p:nvSpPr>
          <p:spPr>
            <a:xfrm>
              <a:off x="6167500" y="3329475"/>
              <a:ext cx="436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1012" name="Google Shape;1012;p50"/>
            <p:cNvSpPr txBox="1"/>
            <p:nvPr/>
          </p:nvSpPr>
          <p:spPr>
            <a:xfrm>
              <a:off x="6777100" y="4472475"/>
              <a:ext cx="436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90°</a:t>
              </a:r>
              <a:endParaRPr sz="900">
                <a:solidFill>
                  <a:schemeClr val="lt1"/>
                </a:solidFill>
              </a:endParaRPr>
            </a:p>
          </p:txBody>
        </p:sp>
      </p:grpSp>
      <p:sp>
        <p:nvSpPr>
          <p:cNvPr id="1013" name="Google Shape;1013;p50"/>
          <p:cNvSpPr txBox="1"/>
          <p:nvPr/>
        </p:nvSpPr>
        <p:spPr>
          <a:xfrm>
            <a:off x="208099" y="293746"/>
            <a:ext cx="357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Consider an Equilateral Triangle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4" name="Google Shape;1014;p50"/>
          <p:cNvSpPr txBox="1"/>
          <p:nvPr/>
        </p:nvSpPr>
        <p:spPr>
          <a:xfrm>
            <a:off x="675953" y="676821"/>
            <a:ext cx="17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  =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font&quot;:{&quot;color&quot;:&quot;#ffffff&quot;,&quot;size&quot;:12,&quot;family&quot;:&quot;Arial&quot;},&quot;code&quot;:&quot;$$\\c{f7a529}{\\frac{\\text{Sum}\\;\\text{of}\\;\\text{interior}\\;\\text{angles}}{\\text{n}}}$$&quot;,&quot;aid&quot;:null,&quot;id&quot;:&quot;14&quot;,&quot;type&quot;:&quot;$$&quot;,&quot;backgroundColor&quot;:&quot;#000000&quot;,&quot;ts&quot;:1717412079666,&quot;cs&quot;:&quot;oUeJK13w5ghRuy0ZJOpftg==&quot;,&quot;size&quot;:{&quot;width&quot;:181.99999999999997,&quot;height&quot;:38.833333333333336}}" id="1015" name="Google Shape;101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2417" y="702981"/>
            <a:ext cx="1733550" cy="3698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50"/>
          <p:cNvSpPr txBox="1"/>
          <p:nvPr/>
        </p:nvSpPr>
        <p:spPr>
          <a:xfrm>
            <a:off x="687705" y="1701513"/>
            <a:ext cx="210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at each vertex,</a:t>
            </a:r>
            <a:endParaRPr/>
          </a:p>
        </p:txBody>
      </p:sp>
      <p:sp>
        <p:nvSpPr>
          <p:cNvPr id="1017" name="Google Shape;1017;p50"/>
          <p:cNvSpPr txBox="1"/>
          <p:nvPr/>
        </p:nvSpPr>
        <p:spPr>
          <a:xfrm>
            <a:off x="2428847" y="1710250"/>
            <a:ext cx="28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Interior angle + Exterior angle =</a:t>
            </a:r>
            <a:r>
              <a:rPr b="1"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180</a:t>
            </a:r>
            <a:r>
              <a:rPr b="1"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descr="{&quot;aid&quot;:null,&quot;font&quot;:{&quot;size&quot;:16,&quot;family&quot;:&quot;Lato&quot;,&quot;color&quot;:&quot;#FFFFFF&quot;},&quot;type&quot;:&quot;$$&quot;,&quot;code&quot;:&quot;$$=\\frac{180\\udeg}{3}\\,\\,\\,\\,$$&quot;,&quot;backgroundColor&quot;:&quot;#000000&quot;,&quot;id&quot;:&quot;18&quot;,&quot;ts&quot;:1717411647625,&quot;cs&quot;:&quot;8wVA83hScxBIQ9HwVUXI+w==&quot;,&quot;size&quot;:{&quot;width&quot;:70.5,&quot;height&quot;:44.666666666666664}}" id="1018" name="Google Shape;1018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680" y="708886"/>
            <a:ext cx="591343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50"/>
          <p:cNvSpPr txBox="1"/>
          <p:nvPr/>
        </p:nvSpPr>
        <p:spPr>
          <a:xfrm>
            <a:off x="3267412" y="2529281"/>
            <a:ext cx="357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Consider a Square now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0" name="Google Shape;1020;p50"/>
          <p:cNvSpPr txBox="1"/>
          <p:nvPr/>
        </p:nvSpPr>
        <p:spPr>
          <a:xfrm>
            <a:off x="3735475" y="3433936"/>
            <a:ext cx="17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exterior angle  =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1" name="Google Shape;1021;p50"/>
          <p:cNvSpPr txBox="1"/>
          <p:nvPr/>
        </p:nvSpPr>
        <p:spPr>
          <a:xfrm>
            <a:off x="3735475" y="2856048"/>
            <a:ext cx="17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  =</a:t>
            </a:r>
            <a:endParaRPr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font&quot;:{&quot;family&quot;:&quot;Arial&quot;,&quot;color&quot;:&quot;#ffffff&quot;,&quot;size&quot;:12},&quot;aid&quot;:null,&quot;id&quot;:&quot;14&quot;,&quot;code&quot;:&quot;$$\\c{ffb224}{\\frac{\\text{Sum}\\;\\text{of}\\;\\text{interior}\\;\\text{angles}}{\\text{n}}}$$&quot;,&quot;type&quot;:&quot;$$&quot;,&quot;backgroundColor&quot;:&quot;#000000&quot;,&quot;ts&quot;:1717402083710,&quot;cs&quot;:&quot;r7hrVOPFoYJ7pnZHMVPBYg==&quot;,&quot;size&quot;:{&quot;width&quot;:182,&quot;height&quot;:38.833333333333336}}" id="1022" name="Google Shape;1022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1939" y="2882209"/>
            <a:ext cx="1733550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8&quot;,&quot;backgroundColor&quot;:&quot;#000000&quot;,&quot;font&quot;:{&quot;family&quot;:&quot;Lato&quot;,&quot;size&quot;:14,&quot;color&quot;:&quot;#FFFFFF&quot;},&quot;type&quot;:&quot;$&quot;,&quot;code&quot;:&quot;$=60\\udeg$&quot;,&quot;aid&quot;:null,&quot;backgroundColorModified&quot;:false,&quot;ts&quot;:1717411697766,&quot;cs&quot;:&quot;XVIBbHwhOkq5m6vsP50+LA==&quot;,&quot;size&quot;:{&quot;width&quot;:44.5,&quot;height&quot;:13.333333333333334}}" id="1023" name="Google Shape;1023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5234" y="807060"/>
            <a:ext cx="423863" cy="12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000000&quot;,&quot;code&quot;:&quot;$$\\c{f7a529}{\\left(\\frac{360}{\\text{n}}\\right)^{\\text{o}}}$$&quot;,&quot;font&quot;:{&quot;size&quot;:12,&quot;color&quot;:&quot;#ffffff&quot;,&quot;family&quot;:&quot;Arial&quot;},&quot;aid&quot;:null,&quot;type&quot;:&quot;$$&quot;,&quot;id&quot;:&quot;12&quot;,&quot;ts&quot;:1717412107628,&quot;cs&quot;:&quot;9xK1nw0/M558U5cMNQfJ8A==&quot;,&quot;size&quot;:{&quot;width&quot;:67.16666666666667,&quot;height&quot;:45.833333333333336}}" id="1024" name="Google Shape;1024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91865" y="1225476"/>
            <a:ext cx="639763" cy="436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000000&quot;,&quot;aid&quot;:null,&quot;type&quot;:&quot;$$&quot;,&quot;code&quot;:&quot;$$=\\frac{360^{\\text{o}}}{4}$$&quot;,&quot;id&quot;:&quot;15&quot;,&quot;font&quot;:{&quot;family&quot;:&quot;Arial&quot;,&quot;color&quot;:&quot;#ffffff&quot;,&quot;size&quot;:12},&quot;ts&quot;:1717412315843,&quot;cs&quot;:&quot;IZA4e73i8v14/1WwvvVyKw==&quot;,&quot;size&quot;:{&quot;width&quot;:61.166666666666664,&quot;height&quot;:39}}" id="1025" name="Google Shape;1025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89181" y="2871583"/>
            <a:ext cx="582613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=90^{\\text{o}}$$&quot;,&quot;type&quot;:&quot;$$&quot;,&quot;backgroundColorModified&quot;:false,&quot;backgroundColor&quot;:&quot;#000000&quot;,&quot;aid&quot;:null,&quot;font&quot;:{&quot;size&quot;:12,&quot;family&quot;:&quot;Arial&quot;,&quot;color&quot;:&quot;#ffffff&quot;},&quot;id&quot;:&quot;15&quot;,&quot;ts&quot;:1717412362745,&quot;cs&quot;:&quot;LZURz944vwQZHn8btDyoxQ==&quot;,&quot;size&quot;:{&quot;width&quot;:44.5,&quot;height&quot;:14.333333333333334}}" id="1026" name="Google Shape;1026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74981" y="2963492"/>
            <a:ext cx="423863" cy="13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000000&quot;,&quot;code&quot;:&quot;$$\\c{f7a529}{\\left(\\frac{360}{\\text{n}}\\right)^{\\text{o}}}$$&quot;,&quot;font&quot;:{&quot;size&quot;:12,&quot;color&quot;:&quot;#ffffff&quot;,&quot;family&quot;:&quot;Arial&quot;},&quot;aid&quot;:null,&quot;type&quot;:&quot;$$&quot;,&quot;id&quot;:&quot;12&quot;,&quot;ts&quot;:1717412107628,&quot;cs&quot;:&quot;9xK1nw0/M558U5cMNQfJ8A==&quot;,&quot;size&quot;:{&quot;width&quot;:67.16666666666667,&quot;height&quot;:45.833333333333336}}" id="1027" name="Google Shape;1027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62688" y="3405174"/>
            <a:ext cx="639763" cy="436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000000&quot;,&quot;aid&quot;:null,&quot;type&quot;:&quot;$$&quot;,&quot;code&quot;:&quot;$$=\\frac{360^{\\text{o}}}{4}$$&quot;,&quot;id&quot;:&quot;15&quot;,&quot;font&quot;:{&quot;family&quot;:&quot;Arial&quot;,&quot;color&quot;:&quot;#ffffff&quot;,&quot;size&quot;:12},&quot;ts&quot;:1717412315843,&quot;cs&quot;:&quot;IZA4e73i8v14/1WwvvVyKw==&quot;,&quot;size&quot;:{&quot;width&quot;:61.166666666666664,&quot;height&quot;:39}}" id="1028" name="Google Shape;1028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58535" y="3440478"/>
            <a:ext cx="582613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=90^{\\text{o}}$$&quot;,&quot;type&quot;:&quot;$$&quot;,&quot;backgroundColorModified&quot;:false,&quot;backgroundColor&quot;:&quot;#000000&quot;,&quot;aid&quot;:null,&quot;font&quot;:{&quot;size&quot;:12,&quot;family&quot;:&quot;Arial&quot;,&quot;color&quot;:&quot;#ffffff&quot;},&quot;id&quot;:&quot;15&quot;,&quot;ts&quot;:1717412362745,&quot;cs&quot;:&quot;LZURz944vwQZHn8btDyoxQ==&quot;,&quot;size&quot;:{&quot;width&quot;:44.5,&quot;height&quot;:14.333333333333334}}" id="1029" name="Google Shape;1029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44335" y="3532386"/>
            <a:ext cx="423863" cy="136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0" name="Google Shape;1030;p50"/>
          <p:cNvGrpSpPr/>
          <p:nvPr/>
        </p:nvGrpSpPr>
        <p:grpSpPr>
          <a:xfrm>
            <a:off x="6812948" y="404200"/>
            <a:ext cx="1421321" cy="1318912"/>
            <a:chOff x="6812948" y="709000"/>
            <a:chExt cx="1421321" cy="1318912"/>
          </a:xfrm>
        </p:grpSpPr>
        <p:sp>
          <p:nvSpPr>
            <p:cNvPr id="1031" name="Google Shape;1031;p50"/>
            <p:cNvSpPr/>
            <p:nvPr/>
          </p:nvSpPr>
          <p:spPr>
            <a:xfrm rot="10421551">
              <a:off x="7994466" y="1782333"/>
              <a:ext cx="232105" cy="193032"/>
            </a:xfrm>
            <a:prstGeom prst="pie">
              <a:avLst>
                <a:gd fmla="val 405083" name="adj1"/>
                <a:gd fmla="val 3738515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50"/>
            <p:cNvSpPr/>
            <p:nvPr/>
          </p:nvSpPr>
          <p:spPr>
            <a:xfrm rot="3138014">
              <a:off x="7425275" y="751399"/>
              <a:ext cx="223703" cy="200801"/>
            </a:xfrm>
            <a:prstGeom prst="pie">
              <a:avLst>
                <a:gd fmla="val 488984" name="adj1"/>
                <a:gd fmla="val 3779804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50"/>
            <p:cNvSpPr/>
            <p:nvPr/>
          </p:nvSpPr>
          <p:spPr>
            <a:xfrm rot="-2994136">
              <a:off x="6851925" y="1782190"/>
              <a:ext cx="218447" cy="199543"/>
            </a:xfrm>
            <a:prstGeom prst="pie">
              <a:avLst>
                <a:gd fmla="val 21211949" name="adj1"/>
                <a:gd fmla="val 306662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50"/>
          <p:cNvGrpSpPr/>
          <p:nvPr/>
        </p:nvGrpSpPr>
        <p:grpSpPr>
          <a:xfrm rot="3085412">
            <a:off x="6662349" y="1408224"/>
            <a:ext cx="639823" cy="508445"/>
            <a:chOff x="5909656" y="1183425"/>
            <a:chExt cx="773942" cy="734740"/>
          </a:xfrm>
        </p:grpSpPr>
        <p:sp>
          <p:nvSpPr>
            <p:cNvPr id="1035" name="Google Shape;1035;p50"/>
            <p:cNvSpPr/>
            <p:nvPr/>
          </p:nvSpPr>
          <p:spPr>
            <a:xfrm rot="-5897754">
              <a:off x="5949714" y="1305999"/>
              <a:ext cx="571783" cy="575432"/>
            </a:xfrm>
            <a:prstGeom prst="pie">
              <a:avLst>
                <a:gd fmla="val 20858679" name="adj1"/>
                <a:gd fmla="val 10154750" name="adj2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6" name="Google Shape;1036;p50"/>
            <p:cNvSpPr txBox="1"/>
            <p:nvPr/>
          </p:nvSpPr>
          <p:spPr>
            <a:xfrm rot="3708054">
              <a:off x="6056580" y="1343218"/>
              <a:ext cx="606937" cy="409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180</a:t>
              </a:r>
              <a:r>
                <a:rPr baseline="30000" lang="en-GB" sz="9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baseline="30000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37" name="Google Shape;1037;p50"/>
          <p:cNvGrpSpPr/>
          <p:nvPr/>
        </p:nvGrpSpPr>
        <p:grpSpPr>
          <a:xfrm>
            <a:off x="827622" y="2683834"/>
            <a:ext cx="1418625" cy="1103450"/>
            <a:chOff x="6659947" y="3268259"/>
            <a:chExt cx="1418625" cy="1103450"/>
          </a:xfrm>
        </p:grpSpPr>
        <p:sp>
          <p:nvSpPr>
            <p:cNvPr id="1038" name="Google Shape;1038;p50"/>
            <p:cNvSpPr/>
            <p:nvPr/>
          </p:nvSpPr>
          <p:spPr>
            <a:xfrm>
              <a:off x="6659947" y="4293109"/>
              <a:ext cx="67500" cy="786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9" name="Google Shape;1039;p50"/>
            <p:cNvSpPr/>
            <p:nvPr/>
          </p:nvSpPr>
          <p:spPr>
            <a:xfrm>
              <a:off x="8011072" y="4293109"/>
              <a:ext cx="67500" cy="786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40" name="Google Shape;1040;p50"/>
            <p:cNvSpPr/>
            <p:nvPr/>
          </p:nvSpPr>
          <p:spPr>
            <a:xfrm>
              <a:off x="8011072" y="3268259"/>
              <a:ext cx="67500" cy="786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41" name="Google Shape;1041;p50"/>
            <p:cNvSpPr/>
            <p:nvPr/>
          </p:nvSpPr>
          <p:spPr>
            <a:xfrm>
              <a:off x="6659947" y="3268259"/>
              <a:ext cx="67500" cy="786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42" name="Google Shape;1042;p50"/>
          <p:cNvGrpSpPr/>
          <p:nvPr/>
        </p:nvGrpSpPr>
        <p:grpSpPr>
          <a:xfrm>
            <a:off x="818022" y="2674709"/>
            <a:ext cx="1458300" cy="1161300"/>
            <a:chOff x="6650347" y="3259134"/>
            <a:chExt cx="1458300" cy="1161300"/>
          </a:xfrm>
        </p:grpSpPr>
        <p:sp>
          <p:nvSpPr>
            <p:cNvPr id="1043" name="Google Shape;1043;p50"/>
            <p:cNvSpPr txBox="1"/>
            <p:nvPr/>
          </p:nvSpPr>
          <p:spPr>
            <a:xfrm>
              <a:off x="6650347" y="4097334"/>
              <a:ext cx="391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1044" name="Google Shape;1044;p50"/>
            <p:cNvSpPr txBox="1"/>
            <p:nvPr/>
          </p:nvSpPr>
          <p:spPr>
            <a:xfrm>
              <a:off x="7717147" y="4097334"/>
              <a:ext cx="391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1045" name="Google Shape;1045;p50"/>
            <p:cNvSpPr txBox="1"/>
            <p:nvPr/>
          </p:nvSpPr>
          <p:spPr>
            <a:xfrm>
              <a:off x="7717147" y="3259134"/>
              <a:ext cx="391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1046" name="Google Shape;1046;p50"/>
            <p:cNvSpPr txBox="1"/>
            <p:nvPr/>
          </p:nvSpPr>
          <p:spPr>
            <a:xfrm>
              <a:off x="6650347" y="3259134"/>
              <a:ext cx="391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90°</a:t>
              </a:r>
              <a:endParaRPr sz="900">
                <a:solidFill>
                  <a:schemeClr val="lt1"/>
                </a:solidFill>
              </a:endParaRPr>
            </a:p>
          </p:txBody>
        </p:sp>
      </p:grpSp>
      <p:grpSp>
        <p:nvGrpSpPr>
          <p:cNvPr id="1047" name="Google Shape;1047;p50"/>
          <p:cNvGrpSpPr/>
          <p:nvPr/>
        </p:nvGrpSpPr>
        <p:grpSpPr>
          <a:xfrm>
            <a:off x="7000051" y="585193"/>
            <a:ext cx="1140899" cy="1088207"/>
            <a:chOff x="7000051" y="889993"/>
            <a:chExt cx="1140899" cy="1088207"/>
          </a:xfrm>
        </p:grpSpPr>
        <p:sp>
          <p:nvSpPr>
            <p:cNvPr id="1048" name="Google Shape;1048;p50"/>
            <p:cNvSpPr txBox="1"/>
            <p:nvPr/>
          </p:nvSpPr>
          <p:spPr>
            <a:xfrm>
              <a:off x="7748550" y="1655100"/>
              <a:ext cx="392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60°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1049" name="Google Shape;1049;p50"/>
            <p:cNvSpPr txBox="1"/>
            <p:nvPr/>
          </p:nvSpPr>
          <p:spPr>
            <a:xfrm>
              <a:off x="7378075" y="889993"/>
              <a:ext cx="384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60°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1050" name="Google Shape;1050;p50"/>
            <p:cNvSpPr txBox="1"/>
            <p:nvPr/>
          </p:nvSpPr>
          <p:spPr>
            <a:xfrm>
              <a:off x="7000051" y="1595875"/>
              <a:ext cx="392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60°</a:t>
              </a:r>
              <a:endParaRPr sz="900">
                <a:solidFill>
                  <a:schemeClr val="lt1"/>
                </a:solidFill>
              </a:endParaRPr>
            </a:p>
          </p:txBody>
        </p:sp>
      </p:grpSp>
      <p:sp>
        <p:nvSpPr>
          <p:cNvPr id="1051" name="Google Shape;1051;p50"/>
          <p:cNvSpPr txBox="1"/>
          <p:nvPr/>
        </p:nvSpPr>
        <p:spPr>
          <a:xfrm>
            <a:off x="3729536" y="3867875"/>
            <a:ext cx="28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at each vertex,</a:t>
            </a:r>
            <a:endParaRPr/>
          </a:p>
        </p:txBody>
      </p:sp>
      <p:sp>
        <p:nvSpPr>
          <p:cNvPr id="1052" name="Google Shape;1052;p50"/>
          <p:cNvSpPr txBox="1"/>
          <p:nvPr/>
        </p:nvSpPr>
        <p:spPr>
          <a:xfrm>
            <a:off x="5490966" y="3867984"/>
            <a:ext cx="28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Interior angle + Exterior angle =</a:t>
            </a:r>
            <a:r>
              <a:rPr b="1"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180</a:t>
            </a:r>
            <a:r>
              <a:rPr b="1"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>
              <a:solidFill>
                <a:srgbClr val="FFFF00"/>
              </a:solidFill>
            </a:endParaRPr>
          </a:p>
        </p:txBody>
      </p:sp>
      <p:grpSp>
        <p:nvGrpSpPr>
          <p:cNvPr id="1053" name="Google Shape;1053;p50"/>
          <p:cNvGrpSpPr/>
          <p:nvPr/>
        </p:nvGrpSpPr>
        <p:grpSpPr>
          <a:xfrm rot="-4272074">
            <a:off x="2015069" y="3518551"/>
            <a:ext cx="591758" cy="487604"/>
            <a:chOff x="5909656" y="1213518"/>
            <a:chExt cx="715808" cy="704647"/>
          </a:xfrm>
        </p:grpSpPr>
        <p:sp>
          <p:nvSpPr>
            <p:cNvPr id="1054" name="Google Shape;1054;p50"/>
            <p:cNvSpPr/>
            <p:nvPr/>
          </p:nvSpPr>
          <p:spPr>
            <a:xfrm rot="-5897754">
              <a:off x="5949714" y="1305999"/>
              <a:ext cx="571783" cy="575432"/>
            </a:xfrm>
            <a:prstGeom prst="pie">
              <a:avLst>
                <a:gd fmla="val 20858679" name="adj1"/>
                <a:gd fmla="val 10154750" name="adj2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5" name="Google Shape;1055;p50"/>
            <p:cNvSpPr txBox="1"/>
            <p:nvPr/>
          </p:nvSpPr>
          <p:spPr>
            <a:xfrm rot="4635816">
              <a:off x="6045480" y="1349309"/>
              <a:ext cx="628669" cy="396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180</a:t>
              </a:r>
              <a:r>
                <a:rPr baseline="30000" lang="en-GB" sz="9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baseline="30000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56" name="Google Shape;1056;p50"/>
          <p:cNvSpPr txBox="1"/>
          <p:nvPr/>
        </p:nvSpPr>
        <p:spPr>
          <a:xfrm>
            <a:off x="2057050" y="4633850"/>
            <a:ext cx="61773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Interior angle and its corresponding Exterior angle forms a </a:t>
            </a:r>
            <a:r>
              <a:rPr b="1" lang="en-GB" sz="1200">
                <a:solidFill>
                  <a:srgbClr val="D5A6BD"/>
                </a:solidFill>
                <a:latin typeface="Lato"/>
                <a:ea typeface="Lato"/>
                <a:cs typeface="Lato"/>
                <a:sym typeface="Lato"/>
              </a:rPr>
              <a:t>Linear Pair i.e. Sum = 180°</a:t>
            </a:r>
            <a:endParaRPr>
              <a:solidFill>
                <a:srgbClr val="D5A6BD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51"/>
          <p:cNvSpPr/>
          <p:nvPr/>
        </p:nvSpPr>
        <p:spPr>
          <a:xfrm>
            <a:off x="1233225" y="3308704"/>
            <a:ext cx="6425700" cy="111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2" name="Google Shape;1062;p51"/>
          <p:cNvSpPr/>
          <p:nvPr/>
        </p:nvSpPr>
        <p:spPr>
          <a:xfrm>
            <a:off x="1254450" y="1948125"/>
            <a:ext cx="6425700" cy="111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3" name="Google Shape;1063;p51"/>
          <p:cNvSpPr/>
          <p:nvPr/>
        </p:nvSpPr>
        <p:spPr>
          <a:xfrm>
            <a:off x="1269325" y="880970"/>
            <a:ext cx="6425700" cy="83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4" name="Google Shape;1064;p51"/>
          <p:cNvSpPr txBox="1"/>
          <p:nvPr/>
        </p:nvSpPr>
        <p:spPr>
          <a:xfrm>
            <a:off x="1207949" y="1079452"/>
            <a:ext cx="26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-sided polygon 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5" name="Google Shape;1065;p51"/>
          <p:cNvSpPr txBox="1"/>
          <p:nvPr/>
        </p:nvSpPr>
        <p:spPr>
          <a:xfrm>
            <a:off x="3304355" y="1079449"/>
            <a:ext cx="19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  number of diagonals      =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id&quot;:&quot;12&quot;,&quot;code&quot;:&quot;$$\\c{ffb224}{\\frac{\\text{n(n-3)}}{2}}$$&quot;,&quot;font&quot;:{&quot;size&quot;:12,&quot;color&quot;:&quot;#ffffff&quot;,&quot;family&quot;:&quot;Arial&quot;},&quot;aid&quot;:null,&quot;type&quot;:&quot;$$&quot;,&quot;ts&quot;:1717408830407,&quot;cs&quot;:&quot;HztQigX0P0l9ATvmGuN8PA==&quot;,&quot;size&quot;:{&quot;width&quot;:55,&quot;height&quot;:40.333333333333336}}" id="1066" name="Google Shape;106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3890" y="1082722"/>
            <a:ext cx="523875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51"/>
          <p:cNvSpPr txBox="1"/>
          <p:nvPr/>
        </p:nvSpPr>
        <p:spPr>
          <a:xfrm>
            <a:off x="1196873" y="1995535"/>
            <a:ext cx="26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-sided polygon 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8" name="Google Shape;1068;p51"/>
          <p:cNvSpPr txBox="1"/>
          <p:nvPr/>
        </p:nvSpPr>
        <p:spPr>
          <a:xfrm>
            <a:off x="3303973" y="2006250"/>
            <a:ext cx="214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  sum of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interior angles   =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9" name="Google Shape;1069;p51"/>
          <p:cNvSpPr txBox="1"/>
          <p:nvPr/>
        </p:nvSpPr>
        <p:spPr>
          <a:xfrm>
            <a:off x="1196873" y="3335606"/>
            <a:ext cx="26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-sided polygon 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0" name="Google Shape;1070;p51"/>
          <p:cNvSpPr txBox="1"/>
          <p:nvPr/>
        </p:nvSpPr>
        <p:spPr>
          <a:xfrm>
            <a:off x="3303973" y="3346321"/>
            <a:ext cx="214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  sum of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exterior angles   =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1" name="Google Shape;1071;p51"/>
          <p:cNvSpPr txBox="1"/>
          <p:nvPr/>
        </p:nvSpPr>
        <p:spPr>
          <a:xfrm>
            <a:off x="5414912" y="3354274"/>
            <a:ext cx="5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/>
          </a:p>
        </p:txBody>
      </p:sp>
      <p:sp>
        <p:nvSpPr>
          <p:cNvPr id="1072" name="Google Shape;1072;p51"/>
          <p:cNvSpPr txBox="1"/>
          <p:nvPr/>
        </p:nvSpPr>
        <p:spPr>
          <a:xfrm>
            <a:off x="5322973" y="2003850"/>
            <a:ext cx="11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en-GB">
                <a:solidFill>
                  <a:srgbClr val="FF99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-2) x 180</a:t>
            </a:r>
            <a:r>
              <a:rPr b="1" baseline="30000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1073" name="Google Shape;1073;p51"/>
          <p:cNvSpPr txBox="1"/>
          <p:nvPr/>
        </p:nvSpPr>
        <p:spPr>
          <a:xfrm>
            <a:off x="1239928" y="432225"/>
            <a:ext cx="43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summarize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super important formula for your exams, 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4" name="Google Shape;1074;p51"/>
          <p:cNvSpPr/>
          <p:nvPr/>
        </p:nvSpPr>
        <p:spPr>
          <a:xfrm>
            <a:off x="3190278" y="40406"/>
            <a:ext cx="1898700" cy="369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ato"/>
                <a:ea typeface="Lato"/>
                <a:cs typeface="Lato"/>
                <a:sym typeface="Lato"/>
              </a:rPr>
              <a:t>Summary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5" name="Google Shape;1075;p51"/>
          <p:cNvSpPr txBox="1"/>
          <p:nvPr/>
        </p:nvSpPr>
        <p:spPr>
          <a:xfrm>
            <a:off x="5166594" y="432225"/>
            <a:ext cx="24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 let's stay sharp and focused!</a:t>
            </a:r>
            <a:endParaRPr b="1" sz="12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6" name="Google Shape;1076;p51"/>
          <p:cNvSpPr txBox="1"/>
          <p:nvPr/>
        </p:nvSpPr>
        <p:spPr>
          <a:xfrm>
            <a:off x="1958875" y="2519900"/>
            <a:ext cx="296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-sided Regular Polygon, 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type&quot;:&quot;$$&quot;,&quot;font&quot;:{&quot;size&quot;:12,&quot;color&quot;:&quot;#ffffff&quot;,&quot;family&quot;:&quot;Arial&quot;},&quot;id&quot;:&quot;19&quot;,&quot;backgroundColor&quot;:&quot;#000000&quot;,&quot;code&quot;:&quot;$$\\c{ffeb3b}{\\frac{\\left(n-2\\right)180\\udeg}{n}}$$&quot;,&quot;aid&quot;:null,&quot;ts&quot;:1717410560598,&quot;cs&quot;:&quot;PYeg8ezzYqE/iVQfppuasA==&quot;,&quot;size&quot;:{&quot;width&quot;:98.33333333333333,&quot;height&quot;:40.5}}" id="1077" name="Google Shape;107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1047" y="2510046"/>
            <a:ext cx="936625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51"/>
          <p:cNvSpPr txBox="1"/>
          <p:nvPr/>
        </p:nvSpPr>
        <p:spPr>
          <a:xfrm>
            <a:off x="4692630" y="2523900"/>
            <a:ext cx="17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   =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9" name="Google Shape;1079;p51"/>
          <p:cNvSpPr txBox="1"/>
          <p:nvPr/>
        </p:nvSpPr>
        <p:spPr>
          <a:xfrm>
            <a:off x="1958875" y="3891500"/>
            <a:ext cx="296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any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-sided Regular Polygon, 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0" name="Google Shape;1080;p51"/>
          <p:cNvSpPr txBox="1"/>
          <p:nvPr/>
        </p:nvSpPr>
        <p:spPr>
          <a:xfrm>
            <a:off x="4688618" y="3895500"/>
            <a:ext cx="185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exterior angle   =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code&quot;:&quot;$$\\c{ffeb3b}{\\left(\\frac{360}{\\text{n}}\\right)^{\\text{o}}}$$&quot;,&quot;id&quot;:&quot;12&quot;,&quot;backgroundColor&quot;:&quot;#000000&quot;,&quot;type&quot;:&quot;$$&quot;,&quot;font&quot;:{&quot;family&quot;:&quot;Arial&quot;,&quot;color&quot;:&quot;#ffffff&quot;,&quot;size&quot;:12},&quot;aid&quot;:null,&quot;ts&quot;:1717408304041,&quot;cs&quot;:&quot;ED1R1ClVXON5EhGhg7gSUg==&quot;,&quot;size&quot;:{&quot;width&quot;:67.16666666666667,&quot;height&quot;:45.833333333333336}}" id="1081" name="Google Shape;1081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5949" y="3785672"/>
            <a:ext cx="639762" cy="43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51"/>
          <p:cNvSpPr txBox="1"/>
          <p:nvPr/>
        </p:nvSpPr>
        <p:spPr>
          <a:xfrm>
            <a:off x="1227875" y="4633850"/>
            <a:ext cx="64257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Interior angle and its corresponding Exterior angle forms a 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Linear Pair i.e. sum = 180°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2"/>
          <p:cNvSpPr txBox="1"/>
          <p:nvPr/>
        </p:nvSpPr>
        <p:spPr>
          <a:xfrm>
            <a:off x="1975950" y="1771825"/>
            <a:ext cx="5243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Now let’s understand the </a:t>
            </a:r>
            <a:r>
              <a:rPr b="1" lang="en-GB" sz="2000">
                <a:solidFill>
                  <a:srgbClr val="FBB03C"/>
                </a:solidFill>
                <a:latin typeface="Lato"/>
                <a:ea typeface="Lato"/>
                <a:cs typeface="Lato"/>
                <a:sym typeface="Lato"/>
              </a:rPr>
              <a:t>Types of Questions</a:t>
            </a:r>
            <a:endParaRPr b="1" sz="2000">
              <a:solidFill>
                <a:srgbClr val="FBB03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</a:t>
            </a:r>
            <a:r>
              <a:rPr b="1" lang="en-GB" sz="2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POLYGONS</a:t>
            </a:r>
            <a:r>
              <a:rPr b="1"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! </a:t>
            </a:r>
            <a:endParaRPr b="1" sz="20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53"/>
          <p:cNvSpPr txBox="1"/>
          <p:nvPr/>
        </p:nvSpPr>
        <p:spPr>
          <a:xfrm>
            <a:off x="4770650" y="1252925"/>
            <a:ext cx="3784500" cy="3849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no. of diagonals for 15 sided polygon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3" name="Google Shape;1093;p53"/>
          <p:cNvSpPr txBox="1"/>
          <p:nvPr/>
        </p:nvSpPr>
        <p:spPr>
          <a:xfrm>
            <a:off x="364025" y="354025"/>
            <a:ext cx="1875600" cy="400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 1 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4" name="Google Shape;1094;p53"/>
          <p:cNvSpPr txBox="1"/>
          <p:nvPr/>
        </p:nvSpPr>
        <p:spPr>
          <a:xfrm>
            <a:off x="2323450" y="354025"/>
            <a:ext cx="4362900" cy="40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Direct Application of the </a:t>
            </a:r>
            <a:r>
              <a:rPr b="1" lang="en-GB">
                <a:solidFill>
                  <a:srgbClr val="FFF2CC"/>
                </a:solidFill>
                <a:latin typeface="Lato"/>
                <a:ea typeface="Lato"/>
                <a:cs typeface="Lato"/>
                <a:sym typeface="Lato"/>
              </a:rPr>
              <a:t>No. of Diagonals 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formula</a:t>
            </a:r>
            <a:r>
              <a:rPr b="1" lang="en-GB">
                <a:solidFill>
                  <a:srgbClr val="FFF2C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2C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5" name="Google Shape;1095;p53"/>
          <p:cNvSpPr txBox="1"/>
          <p:nvPr/>
        </p:nvSpPr>
        <p:spPr>
          <a:xfrm>
            <a:off x="2527397" y="5238150"/>
            <a:ext cx="299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see how to solve such questions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6" name="Google Shape;1096;p53"/>
          <p:cNvSpPr txBox="1"/>
          <p:nvPr/>
        </p:nvSpPr>
        <p:spPr>
          <a:xfrm>
            <a:off x="931600" y="146986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7" name="Google Shape;1097;p53"/>
          <p:cNvSpPr txBox="1"/>
          <p:nvPr/>
        </p:nvSpPr>
        <p:spPr>
          <a:xfrm>
            <a:off x="3499708" y="1468625"/>
            <a:ext cx="2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8" name="Google Shape;1098;p53"/>
          <p:cNvSpPr txBox="1"/>
          <p:nvPr/>
        </p:nvSpPr>
        <p:spPr>
          <a:xfrm>
            <a:off x="4731085" y="3458031"/>
            <a:ext cx="3738300" cy="3849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Which polygon has 9 diagonals?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9" name="Google Shape;1099;p53"/>
          <p:cNvSpPr/>
          <p:nvPr/>
        </p:nvSpPr>
        <p:spPr>
          <a:xfrm>
            <a:off x="7160199" y="1307525"/>
            <a:ext cx="260700" cy="2757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type&quot;:&quot;$$&quot;,&quot;code&quot;:&quot;$$\\c{ff9800}{9\\,=\\frac{\\text{n(n-3)}}{2}}$$&quot;,&quot;aid&quot;:null,&quot;font&quot;:{&quot;size&quot;:11.5,&quot;family&quot;:&quot;Arial&quot;,&quot;color&quot;:&quot;#ffffff&quot;},&quot;backgroundColor&quot;:&quot;#000000&quot;,&quot;id&quot;:&quot;12&quot;,&quot;ts&quot;:1718110218720,&quot;cs&quot;:&quot;rmQOlWZaPB1d4VwlTxA2lQ==&quot;,&quot;size&quot;:{&quot;width&quot;:90.16666666666667,&quot;height&quot;:38.666666666666664}}" id="1100" name="Google Shape;1100;p53"/>
          <p:cNvPicPr preferRelativeResize="0"/>
          <p:nvPr/>
        </p:nvPicPr>
        <p:blipFill rotWithShape="1">
          <a:blip r:embed="rId3">
            <a:alphaModFix/>
          </a:blip>
          <a:srcRect b="0" l="-24038" r="0" t="0"/>
          <a:stretch/>
        </p:blipFill>
        <p:spPr>
          <a:xfrm>
            <a:off x="6104383" y="4602363"/>
            <a:ext cx="1065275" cy="36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1" name="Google Shape;1101;p53"/>
          <p:cNvGrpSpPr/>
          <p:nvPr/>
        </p:nvGrpSpPr>
        <p:grpSpPr>
          <a:xfrm>
            <a:off x="1320875" y="2322900"/>
            <a:ext cx="2405700" cy="831300"/>
            <a:chOff x="3408800" y="2312200"/>
            <a:chExt cx="2405700" cy="831300"/>
          </a:xfrm>
        </p:grpSpPr>
        <p:sp>
          <p:nvSpPr>
            <p:cNvPr id="1102" name="Google Shape;1102;p53"/>
            <p:cNvSpPr txBox="1"/>
            <p:nvPr/>
          </p:nvSpPr>
          <p:spPr>
            <a:xfrm>
              <a:off x="3408800" y="2312200"/>
              <a:ext cx="2405700" cy="831300"/>
            </a:xfrm>
            <a:prstGeom prst="rect">
              <a:avLst/>
            </a:prstGeom>
            <a:noFill/>
            <a:ln cap="flat" cmpd="sng" w="19050">
              <a:solidFill>
                <a:srgbClr val="D9D2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00"/>
                  </a:solidFill>
                  <a:latin typeface="Lato"/>
                  <a:ea typeface="Lato"/>
                  <a:cs typeface="Lato"/>
                  <a:sym typeface="Lato"/>
                </a:rPr>
                <a:t>No. of diagonals   =</a:t>
              </a:r>
              <a:endParaRPr b="1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b="1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descr="{&quot;backgroundColor&quot;:&quot;#000000&quot;,&quot;id&quot;:&quot;12&quot;,&quot;code&quot;:&quot;$$\\c{ffb224}{\\frac{\\text{n(n-3)}}{2}}$$&quot;,&quot;font&quot;:{&quot;size&quot;:12,&quot;color&quot;:&quot;#ffffff&quot;,&quot;family&quot;:&quot;Arial&quot;},&quot;aid&quot;:null,&quot;type&quot;:&quot;$$&quot;,&quot;ts&quot;:1717408830407,&quot;cs&quot;:&quot;HztQigX0P0l9ATvmGuN8PA==&quot;,&quot;size&quot;:{&quot;width&quot;:55,&quot;height&quot;:40.333333333333336}}" id="1103" name="Google Shape;1103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05839" y="2509829"/>
              <a:ext cx="545697" cy="400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4" name="Google Shape;1104;p53"/>
          <p:cNvSpPr txBox="1"/>
          <p:nvPr/>
        </p:nvSpPr>
        <p:spPr>
          <a:xfrm>
            <a:off x="3008832" y="146862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5" name="Google Shape;1105;p53"/>
          <p:cNvSpPr txBox="1"/>
          <p:nvPr/>
        </p:nvSpPr>
        <p:spPr>
          <a:xfrm>
            <a:off x="1455241" y="1469868"/>
            <a:ext cx="13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06" name="Google Shape;1106;p53"/>
          <p:cNvCxnSpPr/>
          <p:nvPr/>
        </p:nvCxnSpPr>
        <p:spPr>
          <a:xfrm rot="10800000">
            <a:off x="1872868" y="1758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53"/>
          <p:cNvCxnSpPr/>
          <p:nvPr/>
        </p:nvCxnSpPr>
        <p:spPr>
          <a:xfrm>
            <a:off x="3317350" y="3161242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53"/>
          <p:cNvCxnSpPr/>
          <p:nvPr/>
        </p:nvCxnSpPr>
        <p:spPr>
          <a:xfrm>
            <a:off x="1868800" y="31542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9" name="Google Shape;1109;p53"/>
          <p:cNvSpPr txBox="1"/>
          <p:nvPr/>
        </p:nvSpPr>
        <p:spPr>
          <a:xfrm>
            <a:off x="2893456" y="370781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0" name="Google Shape;1110;p53"/>
          <p:cNvSpPr txBox="1"/>
          <p:nvPr/>
        </p:nvSpPr>
        <p:spPr>
          <a:xfrm>
            <a:off x="3455125" y="3707825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11" name="Google Shape;1111;p53"/>
          <p:cNvCxnSpPr/>
          <p:nvPr/>
        </p:nvCxnSpPr>
        <p:spPr>
          <a:xfrm rot="10800000">
            <a:off x="3319643" y="1758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2" name="Google Shape;1112;p53"/>
          <p:cNvSpPr txBox="1"/>
          <p:nvPr/>
        </p:nvSpPr>
        <p:spPr>
          <a:xfrm>
            <a:off x="5508548" y="1648800"/>
            <a:ext cx="70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 = 15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3" name="Google Shape;1113;p53"/>
          <p:cNvSpPr txBox="1"/>
          <p:nvPr/>
        </p:nvSpPr>
        <p:spPr>
          <a:xfrm>
            <a:off x="5041581" y="1648800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4" name="Google Shape;1114;p53"/>
          <p:cNvSpPr txBox="1"/>
          <p:nvPr/>
        </p:nvSpPr>
        <p:spPr>
          <a:xfrm>
            <a:off x="6017475" y="1639331"/>
            <a:ext cx="30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Substitute this value of </a:t>
            </a: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formula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5" name="Google Shape;1115;p53"/>
          <p:cNvSpPr txBox="1"/>
          <p:nvPr/>
        </p:nvSpPr>
        <p:spPr>
          <a:xfrm>
            <a:off x="6128082" y="4156875"/>
            <a:ext cx="288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Substitute this value in the formula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id&quot;:&quot;12&quot;,&quot;type&quot;:&quot;$$&quot;,&quot;code&quot;:&quot;$$\\c{ff9800}{=\\frac{\\text{15(15-3)}}{2}}$$&quot;,&quot;aid&quot;:null,&quot;font&quot;:{&quot;size&quot;:16,&quot;family&quot;:&quot;Arial&quot;,&quot;color&quot;:&quot;#ffffff&quot;},&quot;ts&quot;:1718002025211,&quot;cs&quot;:&quot;qfupVj+ik1GCQyR84bAebg==&quot;,&quot;size&quot;:{&quot;width&quot;:123.66666666666667,&quot;height&quot;:53.833333333333336}}" id="1116" name="Google Shape;1116;p53"/>
          <p:cNvPicPr preferRelativeResize="0"/>
          <p:nvPr/>
        </p:nvPicPr>
        <p:blipFill rotWithShape="1">
          <a:blip r:embed="rId5">
            <a:alphaModFix/>
          </a:blip>
          <a:srcRect b="0" l="17170" r="0" t="0"/>
          <a:stretch/>
        </p:blipFill>
        <p:spPr>
          <a:xfrm>
            <a:off x="7126451" y="1998191"/>
            <a:ext cx="702728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53"/>
          <p:cNvSpPr txBox="1"/>
          <p:nvPr/>
        </p:nvSpPr>
        <p:spPr>
          <a:xfrm>
            <a:off x="5056403" y="197375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8" name="Google Shape;1118;p53"/>
          <p:cNvSpPr txBox="1"/>
          <p:nvPr/>
        </p:nvSpPr>
        <p:spPr>
          <a:xfrm>
            <a:off x="5656244" y="1973758"/>
            <a:ext cx="13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9" name="Google Shape;1119;p53"/>
          <p:cNvSpPr txBox="1"/>
          <p:nvPr/>
        </p:nvSpPr>
        <p:spPr>
          <a:xfrm>
            <a:off x="6845310" y="1984476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0" name="Google Shape;1120;p53"/>
          <p:cNvSpPr txBox="1"/>
          <p:nvPr/>
        </p:nvSpPr>
        <p:spPr>
          <a:xfrm>
            <a:off x="872697" y="368501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1" name="Google Shape;1121;p53"/>
          <p:cNvSpPr txBox="1"/>
          <p:nvPr/>
        </p:nvSpPr>
        <p:spPr>
          <a:xfrm>
            <a:off x="1389748" y="3677158"/>
            <a:ext cx="13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2" name="Google Shape;1122;p53"/>
          <p:cNvSpPr txBox="1"/>
          <p:nvPr/>
        </p:nvSpPr>
        <p:spPr>
          <a:xfrm>
            <a:off x="5057660" y="3831643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3" name="Google Shape;1123;p53"/>
          <p:cNvSpPr txBox="1"/>
          <p:nvPr/>
        </p:nvSpPr>
        <p:spPr>
          <a:xfrm>
            <a:off x="5657501" y="3831643"/>
            <a:ext cx="13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diagonals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4" name="Google Shape;1124;p53"/>
          <p:cNvSpPr txBox="1"/>
          <p:nvPr/>
        </p:nvSpPr>
        <p:spPr>
          <a:xfrm>
            <a:off x="6819975" y="3842360"/>
            <a:ext cx="8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9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5" name="Google Shape;1125;p53"/>
          <p:cNvSpPr/>
          <p:nvPr/>
        </p:nvSpPr>
        <p:spPr>
          <a:xfrm>
            <a:off x="6430469" y="3512631"/>
            <a:ext cx="260700" cy="2757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6" name="Google Shape;1126;p53"/>
          <p:cNvSpPr txBox="1"/>
          <p:nvPr/>
        </p:nvSpPr>
        <p:spPr>
          <a:xfrm>
            <a:off x="5229077" y="460846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7" name="Google Shape;1127;p53"/>
          <p:cNvSpPr txBox="1"/>
          <p:nvPr/>
        </p:nvSpPr>
        <p:spPr>
          <a:xfrm>
            <a:off x="5790746" y="4608475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8" name="Google Shape;1128;p53"/>
          <p:cNvSpPr txBox="1"/>
          <p:nvPr/>
        </p:nvSpPr>
        <p:spPr>
          <a:xfrm>
            <a:off x="5898704" y="4609126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4"/>
          <p:cNvSpPr txBox="1"/>
          <p:nvPr/>
        </p:nvSpPr>
        <p:spPr>
          <a:xfrm>
            <a:off x="424200" y="330550"/>
            <a:ext cx="566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Find the no. of diagonals for 15 sided polygon</a:t>
            </a:r>
            <a:endParaRPr b="1" sz="13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4" name="Google Shape;1134;p54"/>
          <p:cNvSpPr txBox="1"/>
          <p:nvPr/>
        </p:nvSpPr>
        <p:spPr>
          <a:xfrm>
            <a:off x="510900" y="1140850"/>
            <a:ext cx="36693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Step 1 : Identify the value of 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i="1" sz="1300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5" name="Google Shape;1135;p54"/>
          <p:cNvSpPr txBox="1"/>
          <p:nvPr/>
        </p:nvSpPr>
        <p:spPr>
          <a:xfrm>
            <a:off x="4508675" y="1140850"/>
            <a:ext cx="71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-&gt;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6" name="Google Shape;1136;p54"/>
          <p:cNvSpPr txBox="1"/>
          <p:nvPr/>
        </p:nvSpPr>
        <p:spPr>
          <a:xfrm>
            <a:off x="4889675" y="1140850"/>
            <a:ext cx="222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Number of sides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7" name="Google Shape;1137;p54"/>
          <p:cNvSpPr txBox="1"/>
          <p:nvPr/>
        </p:nvSpPr>
        <p:spPr>
          <a:xfrm>
            <a:off x="4432475" y="1521850"/>
            <a:ext cx="71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Here,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8" name="Google Shape;1138;p54"/>
          <p:cNvSpPr txBox="1"/>
          <p:nvPr/>
        </p:nvSpPr>
        <p:spPr>
          <a:xfrm>
            <a:off x="4965875" y="1521850"/>
            <a:ext cx="180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value of 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=</a:t>
            </a:r>
            <a:endParaRPr i="1" sz="1300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9" name="Google Shape;1139;p54"/>
          <p:cNvSpPr/>
          <p:nvPr/>
        </p:nvSpPr>
        <p:spPr>
          <a:xfrm>
            <a:off x="2769775" y="385525"/>
            <a:ext cx="233400" cy="2757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0" name="Google Shape;1140;p54"/>
          <p:cNvSpPr txBox="1"/>
          <p:nvPr/>
        </p:nvSpPr>
        <p:spPr>
          <a:xfrm>
            <a:off x="6108875" y="1521850"/>
            <a:ext cx="41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15 </a:t>
            </a:r>
            <a:endParaRPr b="1"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1" name="Google Shape;1141;p54"/>
          <p:cNvSpPr txBox="1"/>
          <p:nvPr/>
        </p:nvSpPr>
        <p:spPr>
          <a:xfrm>
            <a:off x="510900" y="2664850"/>
            <a:ext cx="36168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Step 2: Substitute the value of 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formula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2" name="Google Shape;1142;p54"/>
          <p:cNvSpPr txBox="1"/>
          <p:nvPr/>
        </p:nvSpPr>
        <p:spPr>
          <a:xfrm>
            <a:off x="4280075" y="2664850"/>
            <a:ext cx="298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Number of diagonals in a polygon =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code&quot;:&quot;$$\\c{ff9800}{\\frac{\\text{n(n-3)}}{2}}$$&quot;,&quot;font&quot;:{&quot;color&quot;:&quot;#ffffff&quot;,&quot;size&quot;:12,&quot;family&quot;:&quot;Arial&quot;},&quot;backgroundColor&quot;:&quot;#000000&quot;,&quot;aid&quot;:null,&quot;id&quot;:&quot;12&quot;,&quot;type&quot;:&quot;$$&quot;,&quot;ts&quot;:1717762977056,&quot;cs&quot;:&quot;2giFEZMaxtlkHOsejMUqcQ==&quot;,&quot;size&quot;:{&quot;width&quot;:55.000000000000036,&quot;height&quot;:40.33333333333334}}" id="1143" name="Google Shape;114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9350" y="2528124"/>
            <a:ext cx="711300" cy="521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000000&quot;,&quot;id&quot;:&quot;12&quot;,&quot;type&quot;:&quot;$$&quot;,&quot;code&quot;:&quot;$$\\c{ff9800}{=\\frac{\\text{15(15-3)}}{2}}$$&quot;,&quot;aid&quot;:null,&quot;font&quot;:{&quot;size&quot;:16,&quot;family&quot;:&quot;Arial&quot;,&quot;color&quot;:&quot;#ffffff&quot;},&quot;ts&quot;:1718002025211,&quot;cs&quot;:&quot;qfupVj+ik1GCQyR84bAebg==&quot;,&quot;size&quot;:{&quot;width&quot;:123.66666666666667,&quot;height&quot;:53.833333333333336}}" id="1144" name="Google Shape;114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9600" y="3224475"/>
            <a:ext cx="969675" cy="422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c{ff9800}{=\\frac{\\text{15}\\;\\text{x}\\;\\text{12}}{2}}$$&quot;,&quot;aid&quot;:null,&quot;type&quot;:&quot;$$&quot;,&quot;id&quot;:&quot;12&quot;,&quot;backgroundColor&quot;:&quot;#000000&quot;,&quot;font&quot;:{&quot;family&quot;:&quot;Arial&quot;,&quot;color&quot;:&quot;#ffffff&quot;,&quot;size&quot;:13},&quot;ts&quot;:1718002521646,&quot;cs&quot;:&quot;D6z2ELXKVbtUluiv7OFKsQ==&quot;,&quot;size&quot;:{&quot;width&quot;:89.66666666666667,&quot;height&quot;:41.333333333333336}}" id="1145" name="Google Shape;1145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9601" y="3821300"/>
            <a:ext cx="854075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c{ff9800}{=\\frac{\\text{180}}{2}}$$&quot;,&quot;font&quot;:{&quot;family&quot;:&quot;Arial&quot;,&quot;color&quot;:&quot;#ffffff&quot;,&quot;size&quot;:13},&quot;backgroundColor&quot;:&quot;#000000&quot;,&quot;type&quot;:&quot;$$&quot;,&quot;id&quot;:&quot;12&quot;,&quot;aid&quot;:null,&quot;ts&quot;:1718002562772,&quot;cs&quot;:&quot;Qwmx5/4ThzetR0JiFfVZ2g==&quot;,&quot;size&quot;:{&quot;width&quot;:57.5,&quot;height&quot;:41.333333333333336}}" id="1146" name="Google Shape;1146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0395" y="4278500"/>
            <a:ext cx="547688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backgroundColor&quot;:&quot;#000000&quot;,&quot;font&quot;:{&quot;family&quot;:&quot;Arial&quot;,&quot;color&quot;:&quot;#ffffff&quot;,&quot;size&quot;:13},&quot;code&quot;:&quot;$$\\c{ff9800}{=\\,90}$$&quot;,&quot;id&quot;:&quot;12&quot;,&quot;type&quot;:&quot;$$&quot;,&quot;ts&quot;:1718002606422,&quot;cs&quot;:&quot;zE/91BBLwEp9AL1tyYKk+w==&quot;,&quot;size&quot;:{&quot;width&quot;:43.333333333333336,&quot;height&quot;:14.166666666666666}}" id="1147" name="Google Shape;1147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99995" y="4385824"/>
            <a:ext cx="412750" cy="134938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54"/>
          <p:cNvSpPr txBox="1"/>
          <p:nvPr/>
        </p:nvSpPr>
        <p:spPr>
          <a:xfrm>
            <a:off x="470075" y="4569850"/>
            <a:ext cx="41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9" name="Google Shape;1149;p54"/>
          <p:cNvSpPr txBox="1"/>
          <p:nvPr/>
        </p:nvSpPr>
        <p:spPr>
          <a:xfrm>
            <a:off x="698675" y="4569850"/>
            <a:ext cx="398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Number of diagonals of a 15 sided  polygon =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0" name="Google Shape;1150;p54"/>
          <p:cNvSpPr txBox="1"/>
          <p:nvPr/>
        </p:nvSpPr>
        <p:spPr>
          <a:xfrm>
            <a:off x="4051475" y="4569850"/>
            <a:ext cx="41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90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55"/>
          <p:cNvSpPr txBox="1"/>
          <p:nvPr/>
        </p:nvSpPr>
        <p:spPr>
          <a:xfrm>
            <a:off x="4856631" y="1252925"/>
            <a:ext cx="4197300" cy="3849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sum of interior angles of 15 sided polygon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6" name="Google Shape;1156;p55"/>
          <p:cNvSpPr txBox="1"/>
          <p:nvPr/>
        </p:nvSpPr>
        <p:spPr>
          <a:xfrm>
            <a:off x="364025" y="354025"/>
            <a:ext cx="1875600" cy="400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 2 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7" name="Google Shape;1157;p55"/>
          <p:cNvSpPr txBox="1"/>
          <p:nvPr/>
        </p:nvSpPr>
        <p:spPr>
          <a:xfrm>
            <a:off x="2323450" y="354025"/>
            <a:ext cx="5418000" cy="40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Direct Application of the </a:t>
            </a:r>
            <a:r>
              <a:rPr b="1" lang="en-GB">
                <a:solidFill>
                  <a:srgbClr val="FFF2CC"/>
                </a:solidFill>
                <a:latin typeface="Lato"/>
                <a:ea typeface="Lato"/>
                <a:cs typeface="Lato"/>
                <a:sym typeface="Lato"/>
              </a:rPr>
              <a:t>Sum of Interior Angle 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formula</a:t>
            </a:r>
            <a:r>
              <a:rPr b="1" lang="en-GB">
                <a:solidFill>
                  <a:srgbClr val="FFF2C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2C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8" name="Google Shape;1158;p55"/>
          <p:cNvSpPr txBox="1"/>
          <p:nvPr/>
        </p:nvSpPr>
        <p:spPr>
          <a:xfrm>
            <a:off x="2527397" y="5238150"/>
            <a:ext cx="299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see how to solve such questions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9" name="Google Shape;1159;p55"/>
          <p:cNvSpPr txBox="1"/>
          <p:nvPr/>
        </p:nvSpPr>
        <p:spPr>
          <a:xfrm>
            <a:off x="626800" y="146986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0" name="Google Shape;1160;p55"/>
          <p:cNvSpPr txBox="1"/>
          <p:nvPr/>
        </p:nvSpPr>
        <p:spPr>
          <a:xfrm>
            <a:off x="3499708" y="1468625"/>
            <a:ext cx="2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1" name="Google Shape;1161;p55"/>
          <p:cNvSpPr txBox="1"/>
          <p:nvPr/>
        </p:nvSpPr>
        <p:spPr>
          <a:xfrm>
            <a:off x="4883475" y="3065075"/>
            <a:ext cx="4133700" cy="600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Sum of interior angles of a polygon is 1080</a:t>
            </a:r>
            <a:r>
              <a:rPr b="1"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Find the polygon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2" name="Google Shape;1162;p55"/>
          <p:cNvSpPr/>
          <p:nvPr/>
        </p:nvSpPr>
        <p:spPr>
          <a:xfrm>
            <a:off x="7568476" y="1242032"/>
            <a:ext cx="419100" cy="3693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3" name="Google Shape;1163;p55"/>
          <p:cNvSpPr txBox="1"/>
          <p:nvPr/>
        </p:nvSpPr>
        <p:spPr>
          <a:xfrm>
            <a:off x="781608" y="2322900"/>
            <a:ext cx="3265800" cy="831300"/>
          </a:xfrm>
          <a:prstGeom prst="rect">
            <a:avLst/>
          </a:prstGeom>
          <a:noFill/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Sum of Interior Angles   =   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en-GB">
                <a:solidFill>
                  <a:srgbClr val="FF99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-2) x 180</a:t>
            </a:r>
            <a:r>
              <a:rPr b="1" baseline="30000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4" name="Google Shape;1164;p55"/>
          <p:cNvSpPr txBox="1"/>
          <p:nvPr/>
        </p:nvSpPr>
        <p:spPr>
          <a:xfrm>
            <a:off x="3008832" y="146862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5" name="Google Shape;1165;p55"/>
          <p:cNvSpPr txBox="1"/>
          <p:nvPr/>
        </p:nvSpPr>
        <p:spPr>
          <a:xfrm>
            <a:off x="1150450" y="1469875"/>
            <a:ext cx="178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66" name="Google Shape;1166;p55"/>
          <p:cNvCxnSpPr/>
          <p:nvPr/>
        </p:nvCxnSpPr>
        <p:spPr>
          <a:xfrm rot="10800000">
            <a:off x="1872868" y="1758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7" name="Google Shape;1167;p55"/>
          <p:cNvCxnSpPr/>
          <p:nvPr/>
        </p:nvCxnSpPr>
        <p:spPr>
          <a:xfrm>
            <a:off x="3317350" y="3161242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8" name="Google Shape;1168;p55"/>
          <p:cNvCxnSpPr/>
          <p:nvPr/>
        </p:nvCxnSpPr>
        <p:spPr>
          <a:xfrm>
            <a:off x="1868800" y="31542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9" name="Google Shape;1169;p55"/>
          <p:cNvSpPr txBox="1"/>
          <p:nvPr/>
        </p:nvSpPr>
        <p:spPr>
          <a:xfrm>
            <a:off x="2893456" y="370781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0" name="Google Shape;1170;p55"/>
          <p:cNvSpPr txBox="1"/>
          <p:nvPr/>
        </p:nvSpPr>
        <p:spPr>
          <a:xfrm>
            <a:off x="3455125" y="3707825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71" name="Google Shape;1171;p55"/>
          <p:cNvCxnSpPr/>
          <p:nvPr/>
        </p:nvCxnSpPr>
        <p:spPr>
          <a:xfrm rot="10800000">
            <a:off x="3319643" y="1758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2" name="Google Shape;1172;p55"/>
          <p:cNvSpPr txBox="1"/>
          <p:nvPr/>
        </p:nvSpPr>
        <p:spPr>
          <a:xfrm>
            <a:off x="5508549" y="1648800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 = 15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3" name="Google Shape;1173;p55"/>
          <p:cNvSpPr txBox="1"/>
          <p:nvPr/>
        </p:nvSpPr>
        <p:spPr>
          <a:xfrm>
            <a:off x="5041581" y="1648800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4" name="Google Shape;1174;p55"/>
          <p:cNvSpPr txBox="1"/>
          <p:nvPr/>
        </p:nvSpPr>
        <p:spPr>
          <a:xfrm>
            <a:off x="6093675" y="1660746"/>
            <a:ext cx="30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Substitute this value of </a:t>
            </a: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formula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5" name="Google Shape;1175;p55"/>
          <p:cNvSpPr txBox="1"/>
          <p:nvPr/>
        </p:nvSpPr>
        <p:spPr>
          <a:xfrm>
            <a:off x="6432882" y="4069968"/>
            <a:ext cx="288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Substitute this value in the formula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6" name="Google Shape;1176;p55"/>
          <p:cNvSpPr txBox="1"/>
          <p:nvPr/>
        </p:nvSpPr>
        <p:spPr>
          <a:xfrm>
            <a:off x="5056403" y="1985715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7" name="Google Shape;1177;p55"/>
          <p:cNvSpPr txBox="1"/>
          <p:nvPr/>
        </p:nvSpPr>
        <p:spPr>
          <a:xfrm>
            <a:off x="5656252" y="1985725"/>
            <a:ext cx="178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8" name="Google Shape;1178;p55"/>
          <p:cNvSpPr txBox="1"/>
          <p:nvPr/>
        </p:nvSpPr>
        <p:spPr>
          <a:xfrm>
            <a:off x="7302510" y="1996432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9" name="Google Shape;1179;p55"/>
          <p:cNvSpPr txBox="1"/>
          <p:nvPr/>
        </p:nvSpPr>
        <p:spPr>
          <a:xfrm>
            <a:off x="546482" y="368501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0" name="Google Shape;1180;p55"/>
          <p:cNvSpPr txBox="1"/>
          <p:nvPr/>
        </p:nvSpPr>
        <p:spPr>
          <a:xfrm>
            <a:off x="1063536" y="3677150"/>
            <a:ext cx="17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1" name="Google Shape;1181;p55"/>
          <p:cNvSpPr txBox="1"/>
          <p:nvPr/>
        </p:nvSpPr>
        <p:spPr>
          <a:xfrm>
            <a:off x="5057660" y="3722072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2" name="Google Shape;1182;p55"/>
          <p:cNvSpPr txBox="1"/>
          <p:nvPr/>
        </p:nvSpPr>
        <p:spPr>
          <a:xfrm>
            <a:off x="5559885" y="3722075"/>
            <a:ext cx="17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3" name="Google Shape;1183;p55"/>
          <p:cNvSpPr txBox="1"/>
          <p:nvPr/>
        </p:nvSpPr>
        <p:spPr>
          <a:xfrm>
            <a:off x="7102111" y="3732790"/>
            <a:ext cx="8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1080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4" name="Google Shape;1184;p55"/>
          <p:cNvSpPr/>
          <p:nvPr/>
        </p:nvSpPr>
        <p:spPr>
          <a:xfrm>
            <a:off x="7941775" y="3119675"/>
            <a:ext cx="567300" cy="2757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5" name="Google Shape;1185;p55"/>
          <p:cNvSpPr txBox="1"/>
          <p:nvPr/>
        </p:nvSpPr>
        <p:spPr>
          <a:xfrm>
            <a:off x="5076677" y="453226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6" name="Google Shape;1186;p55"/>
          <p:cNvSpPr txBox="1"/>
          <p:nvPr/>
        </p:nvSpPr>
        <p:spPr>
          <a:xfrm>
            <a:off x="5649053" y="4532275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7" name="Google Shape;1187;p55"/>
          <p:cNvSpPr txBox="1"/>
          <p:nvPr/>
        </p:nvSpPr>
        <p:spPr>
          <a:xfrm>
            <a:off x="5757011" y="4532926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font&quot;:{&quot;family&quot;:&quot;Arial&quot;,&quot;color&quot;:&quot;#ffffff&quot;,&quot;size&quot;:11.5},&quot;code&quot;:&quot;$$\\c{fbff00}{=\\left(15-2\\right)180\\udeg}$$&quot;,&quot;backgroundColor&quot;:&quot;#000000&quot;,&quot;id&quot;:&quot;19&quot;,&quot;ts&quot;:1718003515036,&quot;cs&quot;:&quot;Z8mCCGE3uacBlq3EHSewAw==&quot;,&quot;size&quot;:{&quot;width&quot;:116.8690687664042,&quot;height&quot;:18.887141207349067}}" id="1188" name="Google Shape;1188;p55"/>
          <p:cNvPicPr preferRelativeResize="0"/>
          <p:nvPr/>
        </p:nvPicPr>
        <p:blipFill rotWithShape="1">
          <a:blip r:embed="rId3">
            <a:alphaModFix/>
          </a:blip>
          <a:srcRect b="0" l="16135" r="0" t="0"/>
          <a:stretch/>
        </p:blipFill>
        <p:spPr>
          <a:xfrm>
            <a:off x="7638801" y="2100889"/>
            <a:ext cx="933550" cy="1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55"/>
          <p:cNvSpPr txBox="1"/>
          <p:nvPr/>
        </p:nvSpPr>
        <p:spPr>
          <a:xfrm>
            <a:off x="5985362" y="4536557"/>
            <a:ext cx="8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1080</a:t>
            </a:r>
            <a:r>
              <a:rPr baseline="30000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 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190" name="Google Shape;1190;p55"/>
          <p:cNvPicPr preferRelativeResize="0"/>
          <p:nvPr/>
        </p:nvPicPr>
        <p:blipFill rotWithShape="1">
          <a:blip r:embed="rId4">
            <a:alphaModFix/>
          </a:blip>
          <a:srcRect b="50139" l="0" r="0" t="0"/>
          <a:stretch/>
        </p:blipFill>
        <p:spPr>
          <a:xfrm>
            <a:off x="6800287" y="4659246"/>
            <a:ext cx="909491" cy="17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6"/>
          <p:cNvSpPr txBox="1"/>
          <p:nvPr/>
        </p:nvSpPr>
        <p:spPr>
          <a:xfrm>
            <a:off x="230302" y="141775"/>
            <a:ext cx="70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Find the sum of interior angles of 15 sided polygon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6" name="Google Shape;1196;p56"/>
          <p:cNvSpPr txBox="1"/>
          <p:nvPr/>
        </p:nvSpPr>
        <p:spPr>
          <a:xfrm>
            <a:off x="282300" y="683650"/>
            <a:ext cx="36693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Step 1 : Identify the value of 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i="1" sz="1300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7" name="Google Shape;1197;p56"/>
          <p:cNvSpPr txBox="1"/>
          <p:nvPr/>
        </p:nvSpPr>
        <p:spPr>
          <a:xfrm>
            <a:off x="4280075" y="683650"/>
            <a:ext cx="71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-&gt;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8" name="Google Shape;1198;p56"/>
          <p:cNvSpPr txBox="1"/>
          <p:nvPr/>
        </p:nvSpPr>
        <p:spPr>
          <a:xfrm>
            <a:off x="4661075" y="683650"/>
            <a:ext cx="222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Number of sides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9" name="Google Shape;1199;p56"/>
          <p:cNvSpPr txBox="1"/>
          <p:nvPr/>
        </p:nvSpPr>
        <p:spPr>
          <a:xfrm>
            <a:off x="4203875" y="1064650"/>
            <a:ext cx="71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Here,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0" name="Google Shape;1200;p56"/>
          <p:cNvSpPr txBox="1"/>
          <p:nvPr/>
        </p:nvSpPr>
        <p:spPr>
          <a:xfrm>
            <a:off x="4737275" y="1064650"/>
            <a:ext cx="180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value of 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=</a:t>
            </a:r>
            <a:endParaRPr i="1" sz="1300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01" name="Google Shape;1201;p56"/>
          <p:cNvSpPr txBox="1"/>
          <p:nvPr/>
        </p:nvSpPr>
        <p:spPr>
          <a:xfrm>
            <a:off x="282300" y="2207650"/>
            <a:ext cx="36168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Step 2: Substitute the value of 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formula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2" name="Google Shape;1202;p56"/>
          <p:cNvSpPr/>
          <p:nvPr/>
        </p:nvSpPr>
        <p:spPr>
          <a:xfrm>
            <a:off x="3169600" y="204025"/>
            <a:ext cx="233400" cy="2757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3" name="Google Shape;1203;p56"/>
          <p:cNvSpPr txBox="1"/>
          <p:nvPr/>
        </p:nvSpPr>
        <p:spPr>
          <a:xfrm>
            <a:off x="5880275" y="1064650"/>
            <a:ext cx="41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15 </a:t>
            </a:r>
            <a:endParaRPr b="1" sz="13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4" name="Google Shape;1204;p56"/>
          <p:cNvSpPr txBox="1"/>
          <p:nvPr/>
        </p:nvSpPr>
        <p:spPr>
          <a:xfrm>
            <a:off x="4127675" y="2207650"/>
            <a:ext cx="298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 =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205" name="Google Shape;1205;p56"/>
          <p:cNvPicPr preferRelativeResize="0"/>
          <p:nvPr/>
        </p:nvPicPr>
        <p:blipFill rotWithShape="1">
          <a:blip r:embed="rId3">
            <a:alphaModFix/>
          </a:blip>
          <a:srcRect b="50139" l="0" r="0" t="0"/>
          <a:stretch/>
        </p:blipFill>
        <p:spPr>
          <a:xfrm>
            <a:off x="6009400" y="2330338"/>
            <a:ext cx="909491" cy="1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font&quot;:{&quot;family&quot;:&quot;Arial&quot;,&quot;color&quot;:&quot;#ffffff&quot;,&quot;size&quot;:11.5},&quot;code&quot;:&quot;$$\\c{fbff00}{=\\left(15-2\\right)180\\udeg}$$&quot;,&quot;backgroundColor&quot;:&quot;#000000&quot;,&quot;id&quot;:&quot;19&quot;,&quot;ts&quot;:1718003515036,&quot;cs&quot;:&quot;Z8mCCGE3uacBlq3EHSewAw==&quot;,&quot;size&quot;:{&quot;width&quot;:116.8690687664042,&quot;height&quot;:18.887141207349067}}" id="1206" name="Google Shape;120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726" y="2643831"/>
            <a:ext cx="1113178" cy="1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font&quot;:{&quot;family&quot;:&quot;Arial&quot;,&quot;size&quot;:11.5,&quot;color&quot;:&quot;#ffffff&quot;},&quot;backgroundColor&quot;:&quot;#000000&quot;,&quot;backgroundColorModified&quot;:false,&quot;id&quot;:&quot;19&quot;,&quot;code&quot;:&quot;$$\\c{fbff00}{=13\\,\\text{x}\\;180\\udeg}$$&quot;,&quot;ts&quot;:1718003597659,&quot;cs&quot;:&quot;AY/VNa4u7UyY17/RxdI87w==&quot;,&quot;size&quot;:{&quot;width&quot;:86.83333333333333,&quot;height&quot;:13.666666666666666}}" id="1207" name="Google Shape;120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5726" y="2950980"/>
            <a:ext cx="827088" cy="13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000000&quot;,&quot;id&quot;:&quot;19&quot;,&quot;type&quot;:&quot;$$&quot;,&quot;font&quot;:{&quot;color&quot;:&quot;#ffffff&quot;,&quot;family&quot;:&quot;Arial&quot;,&quot;size&quot;:11.5},&quot;code&quot;:&quot;$$\\c{fbff00}{=2340\\udeg}$$&quot;,&quot;aid&quot;:null,&quot;ts&quot;:1718003651311,&quot;cs&quot;:&quot;GOtpZ0pQKz+e2VyIwHy3kA==&quot;,&quot;size&quot;:{&quot;width&quot;:60.333333333333336,&quot;height&quot;:13.666666666666666}}" id="1208" name="Google Shape;1208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9532" y="3255780"/>
            <a:ext cx="574675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56"/>
          <p:cNvSpPr txBox="1"/>
          <p:nvPr/>
        </p:nvSpPr>
        <p:spPr>
          <a:xfrm>
            <a:off x="470075" y="4188850"/>
            <a:ext cx="41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0" name="Google Shape;1210;p56"/>
          <p:cNvSpPr txBox="1"/>
          <p:nvPr/>
        </p:nvSpPr>
        <p:spPr>
          <a:xfrm>
            <a:off x="622475" y="4188850"/>
            <a:ext cx="398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Sum of interior angles of a 15 sided  polygon =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1" name="Google Shape;1211;p56"/>
          <p:cNvSpPr txBox="1"/>
          <p:nvPr/>
        </p:nvSpPr>
        <p:spPr>
          <a:xfrm>
            <a:off x="3975275" y="4188850"/>
            <a:ext cx="124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2340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57"/>
          <p:cNvSpPr txBox="1"/>
          <p:nvPr/>
        </p:nvSpPr>
        <p:spPr>
          <a:xfrm>
            <a:off x="230300" y="141775"/>
            <a:ext cx="86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If the sum of all interior angles of a polygon is 1080</a:t>
            </a:r>
            <a:r>
              <a:rPr b="1" baseline="30000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,  which polygon is it ?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7" name="Google Shape;1217;p57"/>
          <p:cNvSpPr/>
          <p:nvPr/>
        </p:nvSpPr>
        <p:spPr>
          <a:xfrm>
            <a:off x="4127799" y="204025"/>
            <a:ext cx="566100" cy="2757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8" name="Google Shape;1218;p57"/>
          <p:cNvSpPr txBox="1"/>
          <p:nvPr/>
        </p:nvSpPr>
        <p:spPr>
          <a:xfrm>
            <a:off x="282300" y="683650"/>
            <a:ext cx="36168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Step 1: Substitute the value  in the formula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9" name="Google Shape;1219;p57"/>
          <p:cNvSpPr txBox="1"/>
          <p:nvPr/>
        </p:nvSpPr>
        <p:spPr>
          <a:xfrm>
            <a:off x="326376" y="1220475"/>
            <a:ext cx="137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57"/>
          <p:cNvSpPr txBox="1"/>
          <p:nvPr/>
        </p:nvSpPr>
        <p:spPr>
          <a:xfrm>
            <a:off x="1424600" y="1222708"/>
            <a:ext cx="298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 =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221" name="Google Shape;1221;p57"/>
          <p:cNvPicPr preferRelativeResize="0"/>
          <p:nvPr/>
        </p:nvPicPr>
        <p:blipFill rotWithShape="1">
          <a:blip r:embed="rId3">
            <a:alphaModFix/>
          </a:blip>
          <a:srcRect b="50139" l="0" r="0" t="0"/>
          <a:stretch/>
        </p:blipFill>
        <p:spPr>
          <a:xfrm>
            <a:off x="3287264" y="1344365"/>
            <a:ext cx="909491" cy="1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57"/>
          <p:cNvSpPr txBox="1"/>
          <p:nvPr/>
        </p:nvSpPr>
        <p:spPr>
          <a:xfrm>
            <a:off x="2074775" y="1640971"/>
            <a:ext cx="64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given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3" name="Google Shape;1223;p57"/>
          <p:cNvSpPr txBox="1"/>
          <p:nvPr/>
        </p:nvSpPr>
        <p:spPr>
          <a:xfrm>
            <a:off x="2476918" y="2021918"/>
            <a:ext cx="1023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1080</a:t>
            </a:r>
            <a:r>
              <a:rPr baseline="30000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 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224" name="Google Shape;1224;p57"/>
          <p:cNvPicPr preferRelativeResize="0"/>
          <p:nvPr/>
        </p:nvPicPr>
        <p:blipFill rotWithShape="1">
          <a:blip r:embed="rId3">
            <a:alphaModFix/>
          </a:blip>
          <a:srcRect b="50139" l="0" r="0" t="0"/>
          <a:stretch/>
        </p:blipFill>
        <p:spPr>
          <a:xfrm>
            <a:off x="3291717" y="2124406"/>
            <a:ext cx="909491" cy="1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57"/>
          <p:cNvSpPr txBox="1"/>
          <p:nvPr/>
        </p:nvSpPr>
        <p:spPr>
          <a:xfrm>
            <a:off x="272447" y="2539383"/>
            <a:ext cx="36693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Step 2 : Identify the value of 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i="1" sz="1300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6" name="Google Shape;1226;p57"/>
          <p:cNvSpPr txBox="1"/>
          <p:nvPr/>
        </p:nvSpPr>
        <p:spPr>
          <a:xfrm>
            <a:off x="1228487" y="3002975"/>
            <a:ext cx="8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1080</a:t>
            </a:r>
            <a:r>
              <a:rPr baseline="30000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 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227" name="Google Shape;1227;p57"/>
          <p:cNvPicPr preferRelativeResize="0"/>
          <p:nvPr/>
        </p:nvPicPr>
        <p:blipFill rotWithShape="1">
          <a:blip r:embed="rId3">
            <a:alphaModFix/>
          </a:blip>
          <a:srcRect b="50139" l="0" r="0" t="0"/>
          <a:stretch/>
        </p:blipFill>
        <p:spPr>
          <a:xfrm>
            <a:off x="2043412" y="3125663"/>
            <a:ext cx="909491" cy="17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8" name="Google Shape;1228;p57"/>
          <p:cNvCxnSpPr/>
          <p:nvPr/>
        </p:nvCxnSpPr>
        <p:spPr>
          <a:xfrm flipH="1" rot="5400000">
            <a:off x="2148917" y="2680072"/>
            <a:ext cx="600" cy="1184400"/>
          </a:xfrm>
          <a:prstGeom prst="curvedConnector3">
            <a:avLst>
              <a:gd fmla="val -39692339" name="adj1"/>
            </a:avLst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{&quot;id&quot;:&quot;21&quot;,&quot;code&quot;:&quot;$$\\frac{1080}{180}\\,=\\,$$&quot;,&quot;type&quot;:&quot;$$&quot;,&quot;aid&quot;:null,&quot;font&quot;:{&quot;family&quot;:&quot;Arial&quot;,&quot;color&quot;:&quot;#ffffff&quot;,&quot;size&quot;:12.5},&quot;backgroundColor&quot;:&quot;#000000&quot;,&quot;ts&quot;:1718104645103,&quot;cs&quot;:&quot;dzpfxlvPHrLAyaUOjyFylw==&quot;,&quot;size&quot;:{&quot;width&quot;:68.33333333333333,&quot;height&quot;:40.166666666666664}}" id="1229" name="Google Shape;122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452" y="3632600"/>
            <a:ext cx="650875" cy="3825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0" name="Google Shape;1230;p57"/>
          <p:cNvCxnSpPr/>
          <p:nvPr/>
        </p:nvCxnSpPr>
        <p:spPr>
          <a:xfrm flipH="1" rot="5400000">
            <a:off x="2094917" y="4185443"/>
            <a:ext cx="600" cy="644400"/>
          </a:xfrm>
          <a:prstGeom prst="curvedConnector3">
            <a:avLst>
              <a:gd fmla="val -39692339" name="adj1"/>
            </a:avLst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1" name="Google Shape;1231;p57"/>
          <p:cNvSpPr txBox="1"/>
          <p:nvPr/>
        </p:nvSpPr>
        <p:spPr>
          <a:xfrm>
            <a:off x="1303941" y="4750853"/>
            <a:ext cx="129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 + 2   = 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2" name="Google Shape;1232;p57"/>
          <p:cNvSpPr txBox="1"/>
          <p:nvPr/>
        </p:nvSpPr>
        <p:spPr>
          <a:xfrm>
            <a:off x="4563200" y="4451910"/>
            <a:ext cx="90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∴  </a:t>
            </a:r>
            <a:r>
              <a:rPr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8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3" name="Google Shape;1233;p57"/>
          <p:cNvSpPr txBox="1"/>
          <p:nvPr/>
        </p:nvSpPr>
        <p:spPr>
          <a:xfrm>
            <a:off x="3577475" y="4755694"/>
            <a:ext cx="31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 8-sided polygon is </a:t>
            </a:r>
            <a:r>
              <a:rPr b="1"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Octagon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34" name="Google Shape;1234;p57"/>
          <p:cNvCxnSpPr/>
          <p:nvPr/>
        </p:nvCxnSpPr>
        <p:spPr>
          <a:xfrm flipH="1">
            <a:off x="2781350" y="1557635"/>
            <a:ext cx="600" cy="504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font&quot;:{&quot;size&quot;:12,&quot;family&quot;:&quot;Arial&quot;,&quot;color&quot;:&quot;#ffffff&quot;},&quot;aid&quot;:null,&quot;id&quot;:&quot;22&quot;,&quot;backgroundColor&quot;:&quot;#000000&quot;,&quot;type&quot;:&quot;$$&quot;,&quot;code&quot;:&quot;$$\\c{ffeb3b}{6\\,=\\,n-2}$$&quot;,&quot;ts&quot;:1718101412692,&quot;cs&quot;:&quot;2Hz/DYiE9+S/efNWRnP27w==&quot;,&quot;size&quot;:{&quot;width&quot;:82.5,&quot;height&quot;:13.166666666666666}}" id="1235" name="Google Shape;1235;p57"/>
          <p:cNvPicPr preferRelativeResize="0"/>
          <p:nvPr/>
        </p:nvPicPr>
        <p:blipFill rotWithShape="1">
          <a:blip r:embed="rId5">
            <a:alphaModFix/>
          </a:blip>
          <a:srcRect b="-14" l="41472" r="0" t="-43437"/>
          <a:stretch/>
        </p:blipFill>
        <p:spPr>
          <a:xfrm>
            <a:off x="2007395" y="3726020"/>
            <a:ext cx="459926" cy="1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57"/>
          <p:cNvSpPr txBox="1"/>
          <p:nvPr/>
        </p:nvSpPr>
        <p:spPr>
          <a:xfrm>
            <a:off x="1443569" y="4168525"/>
            <a:ext cx="64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       =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font&quot;:{&quot;size&quot;:12,&quot;family&quot;:&quot;Arial&quot;,&quot;color&quot;:&quot;#ffffff&quot;},&quot;aid&quot;:null,&quot;id&quot;:&quot;22&quot;,&quot;backgroundColor&quot;:&quot;#000000&quot;,&quot;type&quot;:&quot;$$&quot;,&quot;code&quot;:&quot;$$\\c{ffeb3b}{6\\,=\\,n-2}$$&quot;,&quot;ts&quot;:1718101412692,&quot;cs&quot;:&quot;2Hz/DYiE9+S/efNWRnP27w==&quot;,&quot;size&quot;:{&quot;width&quot;:82.5,&quot;height&quot;:13.166666666666666}}" id="1237" name="Google Shape;1237;p57"/>
          <p:cNvPicPr preferRelativeResize="0"/>
          <p:nvPr/>
        </p:nvPicPr>
        <p:blipFill rotWithShape="1">
          <a:blip r:embed="rId5">
            <a:alphaModFix/>
          </a:blip>
          <a:srcRect b="-14" l="41472" r="0" t="-43437"/>
          <a:stretch/>
        </p:blipFill>
        <p:spPr>
          <a:xfrm>
            <a:off x="2028809" y="4259420"/>
            <a:ext cx="459926" cy="17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8"/>
          <p:cNvSpPr txBox="1"/>
          <p:nvPr/>
        </p:nvSpPr>
        <p:spPr>
          <a:xfrm>
            <a:off x="4856625" y="1252925"/>
            <a:ext cx="4233900" cy="5850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 interior angle of 10-sided polygon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3" name="Google Shape;1243;p58"/>
          <p:cNvSpPr txBox="1"/>
          <p:nvPr/>
        </p:nvSpPr>
        <p:spPr>
          <a:xfrm>
            <a:off x="364025" y="354025"/>
            <a:ext cx="1875600" cy="400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 3 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4" name="Google Shape;1244;p58"/>
          <p:cNvSpPr txBox="1"/>
          <p:nvPr/>
        </p:nvSpPr>
        <p:spPr>
          <a:xfrm>
            <a:off x="2323450" y="354025"/>
            <a:ext cx="6114000" cy="40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Direct Application of </a:t>
            </a:r>
            <a:r>
              <a:rPr b="1" lang="en-GB">
                <a:solidFill>
                  <a:srgbClr val="FFF2CC"/>
                </a:solidFill>
                <a:latin typeface="Lato"/>
                <a:ea typeface="Lato"/>
                <a:cs typeface="Lato"/>
                <a:sym typeface="Lato"/>
              </a:rPr>
              <a:t>Each Interior Angle of Regular Polygon 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formula</a:t>
            </a:r>
            <a:r>
              <a:rPr b="1" lang="en-GB">
                <a:solidFill>
                  <a:srgbClr val="FFF2C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2C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5" name="Google Shape;1245;p58"/>
          <p:cNvSpPr txBox="1"/>
          <p:nvPr/>
        </p:nvSpPr>
        <p:spPr>
          <a:xfrm>
            <a:off x="2527397" y="5238150"/>
            <a:ext cx="299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see how to solve such questions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6" name="Google Shape;1246;p58"/>
          <p:cNvSpPr txBox="1"/>
          <p:nvPr/>
        </p:nvSpPr>
        <p:spPr>
          <a:xfrm>
            <a:off x="626800" y="146986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7" name="Google Shape;1247;p58"/>
          <p:cNvSpPr txBox="1"/>
          <p:nvPr/>
        </p:nvSpPr>
        <p:spPr>
          <a:xfrm>
            <a:off x="3499708" y="1468625"/>
            <a:ext cx="2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8" name="Google Shape;1248;p58"/>
          <p:cNvSpPr txBox="1"/>
          <p:nvPr/>
        </p:nvSpPr>
        <p:spPr>
          <a:xfrm>
            <a:off x="4883475" y="3065075"/>
            <a:ext cx="4133700" cy="5850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For which regular polygon, each interior angle is of 108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9" name="Google Shape;1249;p58"/>
          <p:cNvSpPr/>
          <p:nvPr/>
        </p:nvSpPr>
        <p:spPr>
          <a:xfrm>
            <a:off x="8253726" y="1242920"/>
            <a:ext cx="419100" cy="3693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0" name="Google Shape;1250;p58"/>
          <p:cNvSpPr txBox="1"/>
          <p:nvPr/>
        </p:nvSpPr>
        <p:spPr>
          <a:xfrm>
            <a:off x="781608" y="2322900"/>
            <a:ext cx="3265800" cy="1046700"/>
          </a:xfrm>
          <a:prstGeom prst="rect">
            <a:avLst/>
          </a:prstGeom>
          <a:noFill/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Each Interior Angle of      =</a:t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Regular Polygon   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1" name="Google Shape;1251;p58"/>
          <p:cNvSpPr txBox="1"/>
          <p:nvPr/>
        </p:nvSpPr>
        <p:spPr>
          <a:xfrm>
            <a:off x="3008832" y="146862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2" name="Google Shape;1252;p58"/>
          <p:cNvSpPr txBox="1"/>
          <p:nvPr/>
        </p:nvSpPr>
        <p:spPr>
          <a:xfrm>
            <a:off x="1150450" y="1469875"/>
            <a:ext cx="178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53" name="Google Shape;1253;p58"/>
          <p:cNvCxnSpPr/>
          <p:nvPr/>
        </p:nvCxnSpPr>
        <p:spPr>
          <a:xfrm rot="10800000">
            <a:off x="1872868" y="1758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58"/>
          <p:cNvCxnSpPr/>
          <p:nvPr/>
        </p:nvCxnSpPr>
        <p:spPr>
          <a:xfrm>
            <a:off x="3317350" y="3466042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58"/>
          <p:cNvCxnSpPr/>
          <p:nvPr/>
        </p:nvCxnSpPr>
        <p:spPr>
          <a:xfrm>
            <a:off x="1868800" y="3459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6" name="Google Shape;1256;p58"/>
          <p:cNvSpPr txBox="1"/>
          <p:nvPr/>
        </p:nvSpPr>
        <p:spPr>
          <a:xfrm>
            <a:off x="2893456" y="401261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7" name="Google Shape;1257;p58"/>
          <p:cNvSpPr txBox="1"/>
          <p:nvPr/>
        </p:nvSpPr>
        <p:spPr>
          <a:xfrm>
            <a:off x="3455125" y="4012625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58" name="Google Shape;1258;p58"/>
          <p:cNvCxnSpPr/>
          <p:nvPr/>
        </p:nvCxnSpPr>
        <p:spPr>
          <a:xfrm rot="10800000">
            <a:off x="3319643" y="1758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58"/>
          <p:cNvSpPr txBox="1"/>
          <p:nvPr/>
        </p:nvSpPr>
        <p:spPr>
          <a:xfrm>
            <a:off x="5508549" y="1834571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 = 10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0" name="Google Shape;1260;p58"/>
          <p:cNvSpPr txBox="1"/>
          <p:nvPr/>
        </p:nvSpPr>
        <p:spPr>
          <a:xfrm>
            <a:off x="5041581" y="1834571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1" name="Google Shape;1261;p58"/>
          <p:cNvSpPr txBox="1"/>
          <p:nvPr/>
        </p:nvSpPr>
        <p:spPr>
          <a:xfrm>
            <a:off x="6093675" y="1846517"/>
            <a:ext cx="30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Substitute this value of </a:t>
            </a: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formula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2" name="Google Shape;1262;p58"/>
          <p:cNvSpPr txBox="1"/>
          <p:nvPr/>
        </p:nvSpPr>
        <p:spPr>
          <a:xfrm>
            <a:off x="6432882" y="4069968"/>
            <a:ext cx="288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Substitute this value in the formula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3" name="Google Shape;1263;p58"/>
          <p:cNvSpPr txBox="1"/>
          <p:nvPr/>
        </p:nvSpPr>
        <p:spPr>
          <a:xfrm>
            <a:off x="5056403" y="2171485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4" name="Google Shape;1264;p58"/>
          <p:cNvSpPr txBox="1"/>
          <p:nvPr/>
        </p:nvSpPr>
        <p:spPr>
          <a:xfrm>
            <a:off x="5656250" y="2171500"/>
            <a:ext cx="154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5" name="Google Shape;1265;p58"/>
          <p:cNvSpPr txBox="1"/>
          <p:nvPr/>
        </p:nvSpPr>
        <p:spPr>
          <a:xfrm>
            <a:off x="7073910" y="2182203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6" name="Google Shape;1266;p58"/>
          <p:cNvSpPr txBox="1"/>
          <p:nvPr/>
        </p:nvSpPr>
        <p:spPr>
          <a:xfrm>
            <a:off x="546482" y="398981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7" name="Google Shape;1267;p58"/>
          <p:cNvSpPr txBox="1"/>
          <p:nvPr/>
        </p:nvSpPr>
        <p:spPr>
          <a:xfrm>
            <a:off x="1063536" y="4003365"/>
            <a:ext cx="17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8" name="Google Shape;1268;p58"/>
          <p:cNvSpPr txBox="1"/>
          <p:nvPr/>
        </p:nvSpPr>
        <p:spPr>
          <a:xfrm>
            <a:off x="5057660" y="3722072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9" name="Google Shape;1269;p58"/>
          <p:cNvSpPr txBox="1"/>
          <p:nvPr/>
        </p:nvSpPr>
        <p:spPr>
          <a:xfrm>
            <a:off x="5680154" y="3732782"/>
            <a:ext cx="154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0" name="Google Shape;1270;p58"/>
          <p:cNvSpPr txBox="1"/>
          <p:nvPr/>
        </p:nvSpPr>
        <p:spPr>
          <a:xfrm>
            <a:off x="7102111" y="3732790"/>
            <a:ext cx="8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108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1" name="Google Shape;1271;p58"/>
          <p:cNvSpPr/>
          <p:nvPr/>
        </p:nvSpPr>
        <p:spPr>
          <a:xfrm>
            <a:off x="5042003" y="3305976"/>
            <a:ext cx="567300" cy="2757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2" name="Google Shape;1272;p58"/>
          <p:cNvSpPr txBox="1"/>
          <p:nvPr/>
        </p:nvSpPr>
        <p:spPr>
          <a:xfrm>
            <a:off x="5076677" y="453226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3" name="Google Shape;1273;p58"/>
          <p:cNvSpPr txBox="1"/>
          <p:nvPr/>
        </p:nvSpPr>
        <p:spPr>
          <a:xfrm>
            <a:off x="5649053" y="4532275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4" name="Google Shape;1274;p58"/>
          <p:cNvSpPr txBox="1"/>
          <p:nvPr/>
        </p:nvSpPr>
        <p:spPr>
          <a:xfrm>
            <a:off x="5757011" y="4532926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5" name="Google Shape;1275;p58"/>
          <p:cNvSpPr txBox="1"/>
          <p:nvPr/>
        </p:nvSpPr>
        <p:spPr>
          <a:xfrm>
            <a:off x="6213962" y="4536557"/>
            <a:ext cx="8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108</a:t>
            </a:r>
            <a:r>
              <a:rPr baseline="30000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 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276" name="Google Shape;127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5561" y="2615208"/>
            <a:ext cx="909500" cy="360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000000&quot;,&quot;type&quot;:&quot;$$&quot;,&quot;font&quot;:{&quot;family&quot;:&quot;Arial&quot;,&quot;color&quot;:&quot;#ffffff&quot;,&quot;size&quot;:11},&quot;id&quot;:&quot;19&quot;,&quot;code&quot;:&quot;$$\\c{fbff00}{\\frac{\\left(10-2\\right)180\\udeg}{10}}$$&quot;,&quot;ts&quot;:1718113881147,&quot;cs&quot;:&quot;QrHcTGuw4Jau12Xi2TEIbg==&quot;,&quot;size&quot;:{&quot;width&quot;:97,&quot;height&quot;:37.333333333333336}}" id="1277" name="Google Shape;127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1781" y="2191708"/>
            <a:ext cx="923925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278" name="Google Shape;127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7133" y="4537888"/>
            <a:ext cx="909500" cy="360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59"/>
          <p:cNvSpPr txBox="1"/>
          <p:nvPr/>
        </p:nvSpPr>
        <p:spPr>
          <a:xfrm>
            <a:off x="70300" y="181875"/>
            <a:ext cx="705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of the interior angle of a regular polygon having 10 Sides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4" name="Google Shape;1284;p59"/>
          <p:cNvSpPr txBox="1"/>
          <p:nvPr/>
        </p:nvSpPr>
        <p:spPr>
          <a:xfrm>
            <a:off x="130982" y="740589"/>
            <a:ext cx="875400" cy="369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ato"/>
                <a:ea typeface="Lato"/>
                <a:cs typeface="Lato"/>
                <a:sym typeface="Lato"/>
              </a:rPr>
              <a:t>Solution:</a:t>
            </a:r>
            <a:endParaRPr/>
          </a:p>
        </p:txBody>
      </p:sp>
      <p:sp>
        <p:nvSpPr>
          <p:cNvPr id="1285" name="Google Shape;1285;p59"/>
          <p:cNvSpPr txBox="1"/>
          <p:nvPr/>
        </p:nvSpPr>
        <p:spPr>
          <a:xfrm>
            <a:off x="178625" y="138605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Sum of interior angles of the given Polygon</a:t>
            </a:r>
            <a:endParaRPr b="1" i="1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6" name="Google Shape;1286;p59"/>
          <p:cNvSpPr txBox="1"/>
          <p:nvPr/>
        </p:nvSpPr>
        <p:spPr>
          <a:xfrm>
            <a:off x="4548261" y="1973868"/>
            <a:ext cx="213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sides =  </a:t>
            </a:r>
            <a:r>
              <a:rPr i="1" lang="en-GB" sz="12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=10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287" name="Google Shape;1287;p59"/>
          <p:cNvSpPr txBox="1"/>
          <p:nvPr/>
        </p:nvSpPr>
        <p:spPr>
          <a:xfrm>
            <a:off x="746097" y="1755351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Interior angles   =   (</a:t>
            </a:r>
            <a:r>
              <a:rPr lang="en-GB" sz="1200">
                <a:solidFill>
                  <a:srgbClr val="FF99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-2) x 180</a:t>
            </a:r>
            <a:r>
              <a:rPr baseline="30000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8" name="Google Shape;1288;p59"/>
          <p:cNvSpPr txBox="1"/>
          <p:nvPr/>
        </p:nvSpPr>
        <p:spPr>
          <a:xfrm>
            <a:off x="768768" y="4026465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Measure of each interior angle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font&quot;:{&quot;family&quot;:&quot;Arial&quot;,&quot;color&quot;:&quot;#ffffff&quot;,&quot;size&quot;:12},&quot;aid&quot;:null,&quot;id&quot;:&quot;14&quot;,&quot;code&quot;:&quot;$$\\c{ffb224}{\\frac{\\text{Sum}\\;\\text{of}\\;\\text{interior}\\;\\text{angles}}{\\text{n}}}$$&quot;,&quot;type&quot;:&quot;$$&quot;,&quot;backgroundColor&quot;:&quot;#000000&quot;,&quot;ts&quot;:1717402083710,&quot;cs&quot;:&quot;r7hrVOPFoYJ7pnZHMVPBYg==&quot;,&quot;size&quot;:{&quot;width&quot;:182,&quot;height&quot;:38.833333333333336}}" id="1289" name="Google Shape;128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604" y="4046940"/>
            <a:ext cx="1733550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000000&quot;,&quot;type&quot;:&quot;$$&quot;,&quot;aid&quot;:null,&quot;id&quot;:&quot;15&quot;,&quot;code&quot;:&quot;$$=\\frac{1440^{\\text{o}}}{10}$$&quot;,&quot;font&quot;:{&quot;family&quot;:&quot;Arial&quot;,&quot;size&quot;:12,&quot;color&quot;:&quot;#ffffff&quot;},&quot;ts&quot;:1718005199026,&quot;cs&quot;:&quot;+l1lTP1MEsu+h7oNKNzCEA==&quot;,&quot;size&quot;:{&quot;width&quot;:70.5,&quot;height&quot;:39.5}}" id="1290" name="Google Shape;129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6953" y="4033060"/>
            <a:ext cx="671513" cy="376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59"/>
          <p:cNvSpPr/>
          <p:nvPr/>
        </p:nvSpPr>
        <p:spPr>
          <a:xfrm>
            <a:off x="1745003" y="221175"/>
            <a:ext cx="17334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2" name="Google Shape;1292;p59"/>
          <p:cNvSpPr txBox="1"/>
          <p:nvPr/>
        </p:nvSpPr>
        <p:spPr>
          <a:xfrm>
            <a:off x="3270421" y="22629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(10 -2) x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8 x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1440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3" name="Google Shape;1293;p59"/>
          <p:cNvSpPr txBox="1"/>
          <p:nvPr/>
        </p:nvSpPr>
        <p:spPr>
          <a:xfrm>
            <a:off x="167925" y="350950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interior angle of a Regular Polygon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4" name="Google Shape;1294;p59"/>
          <p:cNvSpPr/>
          <p:nvPr/>
        </p:nvSpPr>
        <p:spPr>
          <a:xfrm>
            <a:off x="5395725" y="201525"/>
            <a:ext cx="7488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5" name="Google Shape;1295;p59"/>
          <p:cNvSpPr txBox="1"/>
          <p:nvPr/>
        </p:nvSpPr>
        <p:spPr>
          <a:xfrm>
            <a:off x="768776" y="4584900"/>
            <a:ext cx="307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Measure of each interior angle  = 144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96" name="Google Shape;1296;p59"/>
          <p:cNvGrpSpPr/>
          <p:nvPr/>
        </p:nvGrpSpPr>
        <p:grpSpPr>
          <a:xfrm>
            <a:off x="6435071" y="4015768"/>
            <a:ext cx="207136" cy="445364"/>
            <a:chOff x="6435071" y="3863368"/>
            <a:chExt cx="207136" cy="445364"/>
          </a:xfrm>
        </p:grpSpPr>
        <p:cxnSp>
          <p:nvCxnSpPr>
            <p:cNvPr id="1297" name="Google Shape;1297;p59"/>
            <p:cNvCxnSpPr/>
            <p:nvPr/>
          </p:nvCxnSpPr>
          <p:spPr>
            <a:xfrm>
              <a:off x="6488607" y="3863368"/>
              <a:ext cx="153600" cy="194100"/>
            </a:xfrm>
            <a:prstGeom prst="straightConnector1">
              <a:avLst/>
            </a:prstGeom>
            <a:noFill/>
            <a:ln cap="flat" cmpd="sng" w="1905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8" name="Google Shape;1298;p59"/>
            <p:cNvCxnSpPr/>
            <p:nvPr/>
          </p:nvCxnSpPr>
          <p:spPr>
            <a:xfrm>
              <a:off x="6435071" y="4114631"/>
              <a:ext cx="153600" cy="194100"/>
            </a:xfrm>
            <a:prstGeom prst="straightConnector1">
              <a:avLst/>
            </a:prstGeom>
            <a:noFill/>
            <a:ln cap="flat" cmpd="sng" w="1905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99" name="Google Shape;1299;p59"/>
          <p:cNvCxnSpPr/>
          <p:nvPr/>
        </p:nvCxnSpPr>
        <p:spPr>
          <a:xfrm>
            <a:off x="758069" y="4932657"/>
            <a:ext cx="3075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60"/>
          <p:cNvSpPr txBox="1"/>
          <p:nvPr/>
        </p:nvSpPr>
        <p:spPr>
          <a:xfrm>
            <a:off x="157207" y="181875"/>
            <a:ext cx="70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 :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5" name="Google Shape;1305;p60"/>
          <p:cNvSpPr txBox="1"/>
          <p:nvPr/>
        </p:nvSpPr>
        <p:spPr>
          <a:xfrm>
            <a:off x="130982" y="643682"/>
            <a:ext cx="875400" cy="369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ato"/>
                <a:ea typeface="Lato"/>
                <a:cs typeface="Lato"/>
                <a:sym typeface="Lato"/>
              </a:rPr>
              <a:t>Solution:</a:t>
            </a:r>
            <a:endParaRPr/>
          </a:p>
        </p:txBody>
      </p:sp>
      <p:sp>
        <p:nvSpPr>
          <p:cNvPr id="1306" name="Google Shape;1306;p60"/>
          <p:cNvSpPr txBox="1"/>
          <p:nvPr/>
        </p:nvSpPr>
        <p:spPr>
          <a:xfrm>
            <a:off x="178625" y="115745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interior angle of a Regular Polygon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font&quot;:{&quot;family&quot;:&quot;Arial&quot;,&quot;color&quot;:&quot;#ffffff&quot;,&quot;size&quot;:12},&quot;aid&quot;:null,&quot;id&quot;:&quot;14&quot;,&quot;code&quot;:&quot;$$\\c{ffb224}{\\frac{\\text{Sum}\\;\\text{of}\\;\\text{interior}\\;\\text{angles}}{\\text{n}}}$$&quot;,&quot;type&quot;:&quot;$$&quot;,&quot;backgroundColor&quot;:&quot;#000000&quot;,&quot;ts&quot;:1717402083710,&quot;cs&quot;:&quot;r7hrVOPFoYJ7pnZHMVPBYg==&quot;,&quot;size&quot;:{&quot;width&quot;:182,&quot;height&quot;:38.833333333333336}}" id="1307" name="Google Shape;130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054" y="1671815"/>
            <a:ext cx="1733550" cy="3698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60"/>
          <p:cNvSpPr/>
          <p:nvPr/>
        </p:nvSpPr>
        <p:spPr>
          <a:xfrm>
            <a:off x="2406125" y="210825"/>
            <a:ext cx="19569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9" name="Google Shape;1309;p60"/>
          <p:cNvSpPr txBox="1"/>
          <p:nvPr/>
        </p:nvSpPr>
        <p:spPr>
          <a:xfrm>
            <a:off x="167925" y="312850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value of </a:t>
            </a:r>
            <a:r>
              <a:rPr i="1" lang="en-GB" sz="12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solving the equation</a:t>
            </a:r>
            <a:endParaRPr b="1" sz="1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0" name="Google Shape;1310;p60"/>
          <p:cNvSpPr/>
          <p:nvPr/>
        </p:nvSpPr>
        <p:spPr>
          <a:xfrm>
            <a:off x="1268825" y="204975"/>
            <a:ext cx="11373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1" name="Google Shape;1311;p60"/>
          <p:cNvSpPr txBox="1"/>
          <p:nvPr/>
        </p:nvSpPr>
        <p:spPr>
          <a:xfrm>
            <a:off x="502650" y="218900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which regular polygon, each interior angle is of 108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2" name="Google Shape;1312;p60"/>
          <p:cNvSpPr txBox="1"/>
          <p:nvPr/>
        </p:nvSpPr>
        <p:spPr>
          <a:xfrm>
            <a:off x="672686" y="1626962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Measure of each interior angle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13" name="Google Shape;1313;p60"/>
          <p:cNvCxnSpPr/>
          <p:nvPr/>
        </p:nvCxnSpPr>
        <p:spPr>
          <a:xfrm>
            <a:off x="3242632" y="1985900"/>
            <a:ext cx="900" cy="501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4" name="Google Shape;1314;p60"/>
          <p:cNvSpPr txBox="1"/>
          <p:nvPr/>
        </p:nvSpPr>
        <p:spPr>
          <a:xfrm>
            <a:off x="2999550" y="2547100"/>
            <a:ext cx="70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108</a:t>
            </a:r>
            <a:r>
              <a:rPr baseline="30000" lang="en-GB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315" name="Google Shape;131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536" y="2552792"/>
            <a:ext cx="909500" cy="36081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60"/>
          <p:cNvSpPr txBox="1"/>
          <p:nvPr/>
        </p:nvSpPr>
        <p:spPr>
          <a:xfrm>
            <a:off x="3762797" y="2568452"/>
            <a:ext cx="36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/>
          </a:p>
        </p:txBody>
      </p:sp>
      <p:cxnSp>
        <p:nvCxnSpPr>
          <p:cNvPr id="1317" name="Google Shape;1317;p60"/>
          <p:cNvCxnSpPr/>
          <p:nvPr/>
        </p:nvCxnSpPr>
        <p:spPr>
          <a:xfrm>
            <a:off x="4499882" y="2089500"/>
            <a:ext cx="0" cy="32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8" name="Google Shape;1318;p60"/>
          <p:cNvSpPr txBox="1"/>
          <p:nvPr/>
        </p:nvSpPr>
        <p:spPr>
          <a:xfrm>
            <a:off x="6000849" y="2523310"/>
            <a:ext cx="12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Cross multiply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9" name="Google Shape;1319;p60"/>
          <p:cNvSpPr txBox="1"/>
          <p:nvPr/>
        </p:nvSpPr>
        <p:spPr>
          <a:xfrm>
            <a:off x="3220707" y="3596422"/>
            <a:ext cx="5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108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n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320" name="Google Shape;1320;p60"/>
          <p:cNvSpPr txBox="1"/>
          <p:nvPr/>
        </p:nvSpPr>
        <p:spPr>
          <a:xfrm>
            <a:off x="3786395" y="3596425"/>
            <a:ext cx="102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 (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n-2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180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321" name="Google Shape;1321;p60"/>
          <p:cNvSpPr txBox="1"/>
          <p:nvPr/>
        </p:nvSpPr>
        <p:spPr>
          <a:xfrm>
            <a:off x="3220707" y="3901222"/>
            <a:ext cx="5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108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n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322" name="Google Shape;1322;p60"/>
          <p:cNvSpPr txBox="1"/>
          <p:nvPr/>
        </p:nvSpPr>
        <p:spPr>
          <a:xfrm>
            <a:off x="3786399" y="3901225"/>
            <a:ext cx="87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 180 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323" name="Google Shape;1323;p60"/>
          <p:cNvSpPr txBox="1"/>
          <p:nvPr/>
        </p:nvSpPr>
        <p:spPr>
          <a:xfrm>
            <a:off x="4499875" y="3901225"/>
            <a:ext cx="62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– 360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324" name="Google Shape;1324;p60"/>
          <p:cNvSpPr txBox="1"/>
          <p:nvPr/>
        </p:nvSpPr>
        <p:spPr>
          <a:xfrm>
            <a:off x="2687301" y="4216375"/>
            <a:ext cx="113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180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n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– 108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n</a:t>
            </a:r>
            <a:endParaRPr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60"/>
          <p:cNvSpPr txBox="1"/>
          <p:nvPr/>
        </p:nvSpPr>
        <p:spPr>
          <a:xfrm>
            <a:off x="3803727" y="4206025"/>
            <a:ext cx="102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 360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326" name="Google Shape;1326;p60"/>
          <p:cNvSpPr txBox="1"/>
          <p:nvPr/>
        </p:nvSpPr>
        <p:spPr>
          <a:xfrm>
            <a:off x="3185911" y="4500475"/>
            <a:ext cx="6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72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n</a:t>
            </a:r>
            <a:endParaRPr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7" name="Google Shape;1327;p60"/>
          <p:cNvSpPr txBox="1"/>
          <p:nvPr/>
        </p:nvSpPr>
        <p:spPr>
          <a:xfrm>
            <a:off x="3803727" y="4510825"/>
            <a:ext cx="102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 360</a:t>
            </a:r>
            <a:endParaRPr i="1">
              <a:solidFill>
                <a:srgbClr val="FFFF00"/>
              </a:solidFill>
            </a:endParaRPr>
          </a:p>
        </p:txBody>
      </p:sp>
      <p:cxnSp>
        <p:nvCxnSpPr>
          <p:cNvPr id="1328" name="Google Shape;1328;p60"/>
          <p:cNvCxnSpPr/>
          <p:nvPr/>
        </p:nvCxnSpPr>
        <p:spPr>
          <a:xfrm>
            <a:off x="5563007" y="3663000"/>
            <a:ext cx="6900" cy="136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p60"/>
          <p:cNvSpPr txBox="1"/>
          <p:nvPr/>
        </p:nvSpPr>
        <p:spPr>
          <a:xfrm>
            <a:off x="6853102" y="3628225"/>
            <a:ext cx="102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360</a:t>
            </a:r>
            <a:endParaRPr sz="12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72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330" name="Google Shape;1330;p60"/>
          <p:cNvSpPr txBox="1"/>
          <p:nvPr/>
        </p:nvSpPr>
        <p:spPr>
          <a:xfrm>
            <a:off x="6538636" y="3628225"/>
            <a:ext cx="6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1" name="Google Shape;1331;p60"/>
          <p:cNvSpPr txBox="1"/>
          <p:nvPr/>
        </p:nvSpPr>
        <p:spPr>
          <a:xfrm>
            <a:off x="6589715" y="4126838"/>
            <a:ext cx="102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=     5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332" name="Google Shape;1332;p60"/>
          <p:cNvSpPr txBox="1"/>
          <p:nvPr/>
        </p:nvSpPr>
        <p:spPr>
          <a:xfrm>
            <a:off x="5787350" y="4499125"/>
            <a:ext cx="315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its a 5-sided regular polygon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Called </a:t>
            </a:r>
            <a:r>
              <a:rPr b="1"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Regular Pentagon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61"/>
          <p:cNvSpPr txBox="1"/>
          <p:nvPr/>
        </p:nvSpPr>
        <p:spPr>
          <a:xfrm>
            <a:off x="4856625" y="1252925"/>
            <a:ext cx="4405200" cy="5850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 exterior angle of 15-sided polygon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8" name="Google Shape;1338;p61"/>
          <p:cNvSpPr txBox="1"/>
          <p:nvPr/>
        </p:nvSpPr>
        <p:spPr>
          <a:xfrm>
            <a:off x="364025" y="354025"/>
            <a:ext cx="1875600" cy="400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 4 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9" name="Google Shape;1339;p61"/>
          <p:cNvSpPr txBox="1"/>
          <p:nvPr/>
        </p:nvSpPr>
        <p:spPr>
          <a:xfrm>
            <a:off x="2323450" y="354025"/>
            <a:ext cx="6114000" cy="40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Direct Application of </a:t>
            </a:r>
            <a:r>
              <a:rPr b="1" lang="en-GB">
                <a:solidFill>
                  <a:srgbClr val="FFF2CC"/>
                </a:solidFill>
                <a:latin typeface="Lato"/>
                <a:ea typeface="Lato"/>
                <a:cs typeface="Lato"/>
                <a:sym typeface="Lato"/>
              </a:rPr>
              <a:t>Each Exterior Angle of Regular Polygon 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formula</a:t>
            </a:r>
            <a:r>
              <a:rPr b="1" lang="en-GB">
                <a:solidFill>
                  <a:srgbClr val="FFF2C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2C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0" name="Google Shape;1340;p61"/>
          <p:cNvSpPr txBox="1"/>
          <p:nvPr/>
        </p:nvSpPr>
        <p:spPr>
          <a:xfrm>
            <a:off x="2527397" y="5238150"/>
            <a:ext cx="299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Let’s see how to solve such questions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1" name="Google Shape;1341;p61"/>
          <p:cNvSpPr txBox="1"/>
          <p:nvPr/>
        </p:nvSpPr>
        <p:spPr>
          <a:xfrm>
            <a:off x="626800" y="146986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2" name="Google Shape;1342;p61"/>
          <p:cNvSpPr txBox="1"/>
          <p:nvPr/>
        </p:nvSpPr>
        <p:spPr>
          <a:xfrm>
            <a:off x="3499708" y="1468625"/>
            <a:ext cx="2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3" name="Google Shape;1343;p61"/>
          <p:cNvSpPr txBox="1"/>
          <p:nvPr/>
        </p:nvSpPr>
        <p:spPr>
          <a:xfrm>
            <a:off x="4883475" y="3065075"/>
            <a:ext cx="4133700" cy="600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For which regular polygon, each Exterior angle is of 60</a:t>
            </a:r>
            <a:r>
              <a:rPr b="1"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4" name="Google Shape;1344;p61"/>
          <p:cNvSpPr/>
          <p:nvPr/>
        </p:nvSpPr>
        <p:spPr>
          <a:xfrm>
            <a:off x="8253726" y="1242920"/>
            <a:ext cx="419100" cy="3693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5" name="Google Shape;1345;p61"/>
          <p:cNvSpPr txBox="1"/>
          <p:nvPr/>
        </p:nvSpPr>
        <p:spPr>
          <a:xfrm>
            <a:off x="781608" y="2322900"/>
            <a:ext cx="3265800" cy="1046700"/>
          </a:xfrm>
          <a:prstGeom prst="rect">
            <a:avLst/>
          </a:prstGeom>
          <a:noFill/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Each Exterior Angle of      =</a:t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Regular Polygon   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6" name="Google Shape;1346;p61"/>
          <p:cNvSpPr txBox="1"/>
          <p:nvPr/>
        </p:nvSpPr>
        <p:spPr>
          <a:xfrm>
            <a:off x="3008832" y="146862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7" name="Google Shape;1347;p61"/>
          <p:cNvSpPr txBox="1"/>
          <p:nvPr/>
        </p:nvSpPr>
        <p:spPr>
          <a:xfrm>
            <a:off x="1150450" y="1469875"/>
            <a:ext cx="178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Exterior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8" name="Google Shape;1348;p61"/>
          <p:cNvCxnSpPr/>
          <p:nvPr/>
        </p:nvCxnSpPr>
        <p:spPr>
          <a:xfrm rot="10800000">
            <a:off x="1872868" y="1758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9" name="Google Shape;1349;p61"/>
          <p:cNvCxnSpPr/>
          <p:nvPr/>
        </p:nvCxnSpPr>
        <p:spPr>
          <a:xfrm>
            <a:off x="3317350" y="3466042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0" name="Google Shape;1350;p61"/>
          <p:cNvCxnSpPr/>
          <p:nvPr/>
        </p:nvCxnSpPr>
        <p:spPr>
          <a:xfrm>
            <a:off x="1868800" y="3459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1" name="Google Shape;1351;p61"/>
          <p:cNvSpPr txBox="1"/>
          <p:nvPr/>
        </p:nvSpPr>
        <p:spPr>
          <a:xfrm>
            <a:off x="2893456" y="401261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2" name="Google Shape;1352;p61"/>
          <p:cNvSpPr txBox="1"/>
          <p:nvPr/>
        </p:nvSpPr>
        <p:spPr>
          <a:xfrm>
            <a:off x="3455125" y="4012625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53" name="Google Shape;1353;p61"/>
          <p:cNvCxnSpPr/>
          <p:nvPr/>
        </p:nvCxnSpPr>
        <p:spPr>
          <a:xfrm rot="10800000">
            <a:off x="3319643" y="1758000"/>
            <a:ext cx="0" cy="564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4" name="Google Shape;1354;p61"/>
          <p:cNvSpPr txBox="1"/>
          <p:nvPr/>
        </p:nvSpPr>
        <p:spPr>
          <a:xfrm>
            <a:off x="5508549" y="1834571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 = 15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5" name="Google Shape;1355;p61"/>
          <p:cNvSpPr txBox="1"/>
          <p:nvPr/>
        </p:nvSpPr>
        <p:spPr>
          <a:xfrm>
            <a:off x="5041581" y="1834571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6" name="Google Shape;1356;p61"/>
          <p:cNvSpPr txBox="1"/>
          <p:nvPr/>
        </p:nvSpPr>
        <p:spPr>
          <a:xfrm>
            <a:off x="6093675" y="1846517"/>
            <a:ext cx="30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Substitute this value of </a:t>
            </a: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formula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7" name="Google Shape;1357;p61"/>
          <p:cNvSpPr txBox="1"/>
          <p:nvPr/>
        </p:nvSpPr>
        <p:spPr>
          <a:xfrm>
            <a:off x="6432882" y="4069968"/>
            <a:ext cx="288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Substitute this value in the formula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8" name="Google Shape;1358;p61"/>
          <p:cNvSpPr txBox="1"/>
          <p:nvPr/>
        </p:nvSpPr>
        <p:spPr>
          <a:xfrm>
            <a:off x="5056403" y="2247685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9" name="Google Shape;1359;p61"/>
          <p:cNvSpPr txBox="1"/>
          <p:nvPr/>
        </p:nvSpPr>
        <p:spPr>
          <a:xfrm>
            <a:off x="5656250" y="2247700"/>
            <a:ext cx="154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0" name="Google Shape;1360;p61"/>
          <p:cNvSpPr txBox="1"/>
          <p:nvPr/>
        </p:nvSpPr>
        <p:spPr>
          <a:xfrm>
            <a:off x="7073910" y="2258403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1" name="Google Shape;1361;p61"/>
          <p:cNvSpPr txBox="1"/>
          <p:nvPr/>
        </p:nvSpPr>
        <p:spPr>
          <a:xfrm>
            <a:off x="546482" y="398981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2" name="Google Shape;1362;p61"/>
          <p:cNvSpPr txBox="1"/>
          <p:nvPr/>
        </p:nvSpPr>
        <p:spPr>
          <a:xfrm>
            <a:off x="1063536" y="4003365"/>
            <a:ext cx="17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Exterior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3" name="Google Shape;1363;p61"/>
          <p:cNvSpPr txBox="1"/>
          <p:nvPr/>
        </p:nvSpPr>
        <p:spPr>
          <a:xfrm>
            <a:off x="5057660" y="3722072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Given: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4" name="Google Shape;1364;p61"/>
          <p:cNvSpPr txBox="1"/>
          <p:nvPr/>
        </p:nvSpPr>
        <p:spPr>
          <a:xfrm>
            <a:off x="5680154" y="3732782"/>
            <a:ext cx="154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5" name="Google Shape;1365;p61"/>
          <p:cNvSpPr txBox="1"/>
          <p:nvPr/>
        </p:nvSpPr>
        <p:spPr>
          <a:xfrm>
            <a:off x="7102111" y="3732790"/>
            <a:ext cx="8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6" name="Google Shape;1366;p61"/>
          <p:cNvSpPr/>
          <p:nvPr/>
        </p:nvSpPr>
        <p:spPr>
          <a:xfrm>
            <a:off x="5130407" y="3304107"/>
            <a:ext cx="567300" cy="2757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7" name="Google Shape;1367;p61"/>
          <p:cNvSpPr txBox="1"/>
          <p:nvPr/>
        </p:nvSpPr>
        <p:spPr>
          <a:xfrm>
            <a:off x="5076677" y="4532268"/>
            <a:ext cx="6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To find: 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8" name="Google Shape;1368;p61"/>
          <p:cNvSpPr txBox="1"/>
          <p:nvPr/>
        </p:nvSpPr>
        <p:spPr>
          <a:xfrm>
            <a:off x="5649053" y="4532275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b="1"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9" name="Google Shape;1369;p61"/>
          <p:cNvSpPr txBox="1"/>
          <p:nvPr/>
        </p:nvSpPr>
        <p:spPr>
          <a:xfrm>
            <a:off x="5757011" y="4532926"/>
            <a:ext cx="3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0" name="Google Shape;1370;p61"/>
          <p:cNvSpPr txBox="1"/>
          <p:nvPr/>
        </p:nvSpPr>
        <p:spPr>
          <a:xfrm>
            <a:off x="6213962" y="4536557"/>
            <a:ext cx="8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60</a:t>
            </a:r>
            <a:r>
              <a:rPr baseline="30000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 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=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type&quot;:&quot;$$&quot;,&quot;backgroundColor&quot;:&quot;#000000&quot;,&quot;id&quot;:&quot;12&quot;,&quot;aid&quot;:null,&quot;code&quot;:&quot;$$\\c{ffeb3b}{\\left(\\frac{360}{\\text{n}}\\right)^{\\text{o}}}$$&quot;,&quot;font&quot;:{&quot;family&quot;:&quot;Arial&quot;,&quot;size&quot;:17,&quot;color&quot;:&quot;#ffffff&quot;},&quot;ts&quot;:1718114104238,&quot;cs&quot;:&quot;WhWhws46V4RfMx+hHK5NxQ==&quot;,&quot;size&quot;:{&quot;width&quot;:95,&quot;height&quot;:65}}" id="1371" name="Google Shape;137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775" y="2505280"/>
            <a:ext cx="732649" cy="501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font&quot;:{&quot;family&quot;:&quot;Arial&quot;,&quot;size&quot;:17,&quot;color&quot;:&quot;#ffffff&quot;},&quot;id&quot;:&quot;12&quot;,&quot;backgroundColor&quot;:&quot;#000000&quot;,&quot;code&quot;:&quot;$$\\c{ffeb3b}{\\left(\\frac{360}{\\text{15}}\\right)^{\\text{o}}}$$&quot;,&quot;ts&quot;:1718114160538,&quot;cs&quot;:&quot;9Vi+gv8KLgRs2k7Py34KMQ==&quot;,&quot;size&quot;:{&quot;width&quot;:95,&quot;height&quot;:65}}" id="1372" name="Google Shape;137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9000" y="2210099"/>
            <a:ext cx="693899" cy="474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&quot;:&quot;#000000&quot;,&quot;id&quot;:&quot;12&quot;,&quot;aid&quot;:null,&quot;code&quot;:&quot;$$\\c{ffeb3b}{\\left(\\frac{360}{\\text{n}}\\right)^{\\text{o}}}$$&quot;,&quot;font&quot;:{&quot;family&quot;:&quot;Arial&quot;,&quot;size&quot;:17,&quot;color&quot;:&quot;#ffffff&quot;},&quot;ts&quot;:1718114104238,&quot;cs&quot;:&quot;WhWhws46V4RfMx+hHK5NxQ==&quot;,&quot;size&quot;:{&quot;width&quot;:95,&quot;height&quot;:65}}" id="1373" name="Google Shape;137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8989" y="4476994"/>
            <a:ext cx="693899" cy="474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62"/>
          <p:cNvSpPr txBox="1"/>
          <p:nvPr/>
        </p:nvSpPr>
        <p:spPr>
          <a:xfrm>
            <a:off x="70300" y="181875"/>
            <a:ext cx="705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of the exterior angle of a regular polygon having 15 Sides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9" name="Google Shape;1379;p62"/>
          <p:cNvSpPr txBox="1"/>
          <p:nvPr/>
        </p:nvSpPr>
        <p:spPr>
          <a:xfrm>
            <a:off x="130982" y="740589"/>
            <a:ext cx="875400" cy="369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ato"/>
                <a:ea typeface="Lato"/>
                <a:cs typeface="Lato"/>
                <a:sym typeface="Lato"/>
              </a:rPr>
              <a:t>Solution:</a:t>
            </a:r>
            <a:endParaRPr/>
          </a:p>
        </p:txBody>
      </p:sp>
      <p:sp>
        <p:nvSpPr>
          <p:cNvPr id="1380" name="Google Shape;1380;p62"/>
          <p:cNvSpPr txBox="1"/>
          <p:nvPr/>
        </p:nvSpPr>
        <p:spPr>
          <a:xfrm>
            <a:off x="178625" y="138605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Sum of exterior angles of the given Polygon</a:t>
            </a:r>
            <a:endParaRPr b="1" i="1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1" name="Google Shape;1381;p62"/>
          <p:cNvSpPr txBox="1"/>
          <p:nvPr/>
        </p:nvSpPr>
        <p:spPr>
          <a:xfrm>
            <a:off x="5081661" y="3421668"/>
            <a:ext cx="213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No. of sides =  </a:t>
            </a:r>
            <a:r>
              <a:rPr i="1" lang="en-GB" sz="12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=15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382" name="Google Shape;1382;p62"/>
          <p:cNvSpPr txBox="1"/>
          <p:nvPr/>
        </p:nvSpPr>
        <p:spPr>
          <a:xfrm>
            <a:off x="746097" y="1907751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exterior angles   =   360</a:t>
            </a:r>
            <a:r>
              <a:rPr baseline="30000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3" name="Google Shape;1383;p62"/>
          <p:cNvSpPr txBox="1"/>
          <p:nvPr/>
        </p:nvSpPr>
        <p:spPr>
          <a:xfrm>
            <a:off x="768768" y="2959665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Measure of each exterior angle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code&quot;:&quot;$$\\c{ffeb3b}{\\left(\\frac{360}{\\text{n}}\\right)^{\\text{o}}}$$&quot;,&quot;font&quot;:{&quot;size&quot;:12,&quot;family&quot;:&quot;Arial&quot;,&quot;color&quot;:&quot;#ffffff&quot;},&quot;aid&quot;:null,&quot;type&quot;:&quot;$$&quot;,&quot;id&quot;:&quot;14&quot;,&quot;backgroundColor&quot;:&quot;#000000&quot;,&quot;ts&quot;:1717410272718,&quot;cs&quot;:&quot;fMkpLWepv6tUQpTXPiO8Bg==&quot;,&quot;size&quot;:{&quot;width&quot;:67.16666666666667,&quot;height&quot;:45.833333333333336}}" id="1384" name="Google Shape;138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102" y="2926040"/>
            <a:ext cx="639763" cy="43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62"/>
          <p:cNvSpPr/>
          <p:nvPr/>
        </p:nvSpPr>
        <p:spPr>
          <a:xfrm>
            <a:off x="1740340" y="221175"/>
            <a:ext cx="17874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6" name="Google Shape;1386;p62"/>
          <p:cNvSpPr txBox="1"/>
          <p:nvPr/>
        </p:nvSpPr>
        <p:spPr>
          <a:xfrm>
            <a:off x="167925" y="244270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exterior angle of a Regular Polygon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7" name="Google Shape;1387;p62"/>
          <p:cNvSpPr/>
          <p:nvPr/>
        </p:nvSpPr>
        <p:spPr>
          <a:xfrm>
            <a:off x="5371393" y="221175"/>
            <a:ext cx="7488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8" name="Google Shape;1388;p62"/>
          <p:cNvSpPr txBox="1"/>
          <p:nvPr/>
        </p:nvSpPr>
        <p:spPr>
          <a:xfrm>
            <a:off x="768776" y="4584900"/>
            <a:ext cx="307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Measure of each exterior angle  = 24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89" name="Google Shape;1389;p62"/>
          <p:cNvCxnSpPr/>
          <p:nvPr/>
        </p:nvCxnSpPr>
        <p:spPr>
          <a:xfrm>
            <a:off x="758069" y="4932657"/>
            <a:ext cx="3075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aid&quot;:null,&quot;code&quot;:&quot;$$\\c{ffeb3b}{=\\left(\\frac{360}{\\text{15}}\\right)^{\\text{o}}}$$&quot;,&quot;backgroundColor&quot;:&quot;#000000&quot;,&quot;font&quot;:{&quot;size&quot;:12,&quot;family&quot;:&quot;Arial&quot;,&quot;color&quot;:&quot;#ffffff&quot;},&quot;type&quot;:&quot;$$&quot;,&quot;id&quot;:&quot;14&quot;,&quot;ts&quot;:1717410601051,&quot;cs&quot;:&quot;JDmKzxRpQ6U9j/a6NV+LEg==&quot;,&quot;size&quot;:{&quot;width&quot;:89.83333333333333,&quot;height&quot;:45.833333333333336}}" id="1390" name="Google Shape;139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0202" y="3564117"/>
            <a:ext cx="855663" cy="436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id&quot;:&quot;14&quot;,&quot;font&quot;:{&quot;color&quot;:&quot;#ffffff&quot;,&quot;family&quot;:&quot;Arial&quot;,&quot;size&quot;:12},&quot;backgroundColor&quot;:&quot;#000000&quot;,&quot;aid&quot;:null,&quot;code&quot;:&quot;$$\\c{ffeb3b}{=24^{o}}$$&quot;,&quot;ts&quot;:1717410631823,&quot;cs&quot;:&quot;QlwcNW57bQHZWPxQXcwcBw==&quot;,&quot;size&quot;:{&quot;width&quot;:44.5,&quot;height&quot;:13.666666666666666}}" id="1391" name="Google Shape;1391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0202" y="4286666"/>
            <a:ext cx="423863" cy="1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63"/>
          <p:cNvSpPr txBox="1"/>
          <p:nvPr/>
        </p:nvSpPr>
        <p:spPr>
          <a:xfrm>
            <a:off x="146500" y="181875"/>
            <a:ext cx="45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7" name="Google Shape;1397;p63"/>
          <p:cNvSpPr txBox="1"/>
          <p:nvPr/>
        </p:nvSpPr>
        <p:spPr>
          <a:xfrm>
            <a:off x="130982" y="643682"/>
            <a:ext cx="875400" cy="369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ato"/>
                <a:ea typeface="Lato"/>
                <a:cs typeface="Lato"/>
                <a:sym typeface="Lato"/>
              </a:rPr>
              <a:t>Solution:</a:t>
            </a:r>
            <a:endParaRPr/>
          </a:p>
        </p:txBody>
      </p:sp>
      <p:sp>
        <p:nvSpPr>
          <p:cNvPr id="1398" name="Google Shape;1398;p63"/>
          <p:cNvSpPr txBox="1"/>
          <p:nvPr/>
        </p:nvSpPr>
        <p:spPr>
          <a:xfrm>
            <a:off x="178625" y="115745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each Exterior angle of a Regular Polygon</a:t>
            </a:r>
            <a:endParaRPr b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type&quot;:&quot;$$&quot;,&quot;id&quot;:&quot;14&quot;,&quot;aid&quot;:null,&quot;backgroundColor&quot;:&quot;#000000&quot;,&quot;font&quot;:{&quot;size&quot;:12,&quot;color&quot;:&quot;#ffffff&quot;,&quot;family&quot;:&quot;Arial&quot;},&quot;code&quot;:&quot;$$\\c{ffb224}{\\frac{\\text{Sum}\\;\\text{of}\\;\\text{Exterior}\\;\\text{angles}}{\\text{n}}}$$&quot;,&quot;ts&quot;:1717764609840,&quot;cs&quot;:&quot;UemXjLn9SSnLtgyNJOjEJQ==&quot;,&quot;size&quot;:{&quot;width&quot;:189,&quot;height&quot;:38.833333333333336}}" id="1399" name="Google Shape;139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054" y="1678665"/>
            <a:ext cx="1800225" cy="3698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63"/>
          <p:cNvSpPr/>
          <p:nvPr/>
        </p:nvSpPr>
        <p:spPr>
          <a:xfrm>
            <a:off x="2406125" y="210825"/>
            <a:ext cx="19569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1" name="Google Shape;1401;p63"/>
          <p:cNvSpPr txBox="1"/>
          <p:nvPr/>
        </p:nvSpPr>
        <p:spPr>
          <a:xfrm>
            <a:off x="167925" y="3128500"/>
            <a:ext cx="49038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value of </a:t>
            </a:r>
            <a:r>
              <a:rPr i="1" lang="en-GB" sz="12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solving the equation</a:t>
            </a:r>
            <a:endParaRPr b="1" sz="1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2" name="Google Shape;1402;p63"/>
          <p:cNvSpPr/>
          <p:nvPr/>
        </p:nvSpPr>
        <p:spPr>
          <a:xfrm>
            <a:off x="1268825" y="204975"/>
            <a:ext cx="11373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3" name="Google Shape;1403;p63"/>
          <p:cNvSpPr txBox="1"/>
          <p:nvPr/>
        </p:nvSpPr>
        <p:spPr>
          <a:xfrm>
            <a:off x="502650" y="218900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which regular polygon, each Exterior angle is of 30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4" name="Google Shape;1404;p63"/>
          <p:cNvSpPr txBox="1"/>
          <p:nvPr/>
        </p:nvSpPr>
        <p:spPr>
          <a:xfrm>
            <a:off x="672686" y="1626962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Measure of each Exterior angle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5" name="Google Shape;1405;p63"/>
          <p:cNvCxnSpPr/>
          <p:nvPr/>
        </p:nvCxnSpPr>
        <p:spPr>
          <a:xfrm>
            <a:off x="3242632" y="1985900"/>
            <a:ext cx="900" cy="501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6" name="Google Shape;1406;p63"/>
          <p:cNvSpPr txBox="1"/>
          <p:nvPr/>
        </p:nvSpPr>
        <p:spPr>
          <a:xfrm>
            <a:off x="2999550" y="2425760"/>
            <a:ext cx="70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30</a:t>
            </a:r>
            <a:r>
              <a:rPr baseline="30000"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backgroundColor&quot;:&quot;#000000&quot;,&quot;type&quot;:&quot;$$&quot;,&quot;font&quot;:{&quot;family&quot;:&quot;Arial&quot;,&quot;color&quot;:&quot;#ffffff&quot;,&quot;size&quot;:13.5},&quot;code&quot;:&quot;$$\\frac{\\c{fbff00}{360\\udeg}}{\\c{ffeb3b}{n}}$$&quot;,&quot;id&quot;:&quot;19&quot;,&quot;ts&quot;:1717764727732,&quot;cs&quot;:&quot;P8hipEvJrxsAG3Cl5ZQJvw==&quot;,&quot;size&quot;:{&quot;width&quot;:45.333333333333336,&quot;height&quot;:43.333333333333336}}" id="1407" name="Google Shape;140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7173" y="2521743"/>
            <a:ext cx="365400" cy="34927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63"/>
          <p:cNvSpPr txBox="1"/>
          <p:nvPr/>
        </p:nvSpPr>
        <p:spPr>
          <a:xfrm>
            <a:off x="3797584" y="2471546"/>
            <a:ext cx="36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/>
          </a:p>
        </p:txBody>
      </p:sp>
      <p:cxnSp>
        <p:nvCxnSpPr>
          <p:cNvPr id="1409" name="Google Shape;1409;p63"/>
          <p:cNvCxnSpPr/>
          <p:nvPr/>
        </p:nvCxnSpPr>
        <p:spPr>
          <a:xfrm>
            <a:off x="4499882" y="2089500"/>
            <a:ext cx="0" cy="32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0" name="Google Shape;1410;p63"/>
          <p:cNvSpPr txBox="1"/>
          <p:nvPr/>
        </p:nvSpPr>
        <p:spPr>
          <a:xfrm>
            <a:off x="5125024" y="2511747"/>
            <a:ext cx="12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Cross multiply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1" name="Google Shape;1411;p63"/>
          <p:cNvSpPr txBox="1"/>
          <p:nvPr/>
        </p:nvSpPr>
        <p:spPr>
          <a:xfrm>
            <a:off x="3220707" y="3596422"/>
            <a:ext cx="5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30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n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412" name="Google Shape;1412;p63"/>
          <p:cNvSpPr txBox="1"/>
          <p:nvPr/>
        </p:nvSpPr>
        <p:spPr>
          <a:xfrm>
            <a:off x="3786395" y="3596425"/>
            <a:ext cx="102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 360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413" name="Google Shape;1413;p63"/>
          <p:cNvSpPr txBox="1"/>
          <p:nvPr/>
        </p:nvSpPr>
        <p:spPr>
          <a:xfrm>
            <a:off x="3747577" y="3965725"/>
            <a:ext cx="102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</a:t>
            </a:r>
            <a:r>
              <a:rPr lang="en-GB" sz="12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360</a:t>
            </a:r>
            <a:endParaRPr sz="12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30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414" name="Google Shape;1414;p63"/>
          <p:cNvSpPr txBox="1"/>
          <p:nvPr/>
        </p:nvSpPr>
        <p:spPr>
          <a:xfrm>
            <a:off x="3433111" y="3965725"/>
            <a:ext cx="6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i="1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5" name="Google Shape;1415;p63"/>
          <p:cNvSpPr txBox="1"/>
          <p:nvPr/>
        </p:nvSpPr>
        <p:spPr>
          <a:xfrm>
            <a:off x="3488872" y="4487991"/>
            <a:ext cx="102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=     12</a:t>
            </a:r>
            <a:endParaRPr i="1">
              <a:solidFill>
                <a:srgbClr val="FFFF00"/>
              </a:solidFill>
            </a:endParaRPr>
          </a:p>
        </p:txBody>
      </p:sp>
      <p:sp>
        <p:nvSpPr>
          <p:cNvPr id="1416" name="Google Shape;1416;p63"/>
          <p:cNvSpPr txBox="1"/>
          <p:nvPr/>
        </p:nvSpPr>
        <p:spPr>
          <a:xfrm>
            <a:off x="4876275" y="4488000"/>
            <a:ext cx="315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its a 12-sided regular polygon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Called </a:t>
            </a:r>
            <a:r>
              <a:rPr b="1"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Regular Dodecagon</a:t>
            </a:r>
            <a:endParaRPr b="1"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1" name="Google Shape;1421;p64"/>
          <p:cNvCxnSpPr/>
          <p:nvPr/>
        </p:nvCxnSpPr>
        <p:spPr>
          <a:xfrm flipH="1">
            <a:off x="1531500" y="985075"/>
            <a:ext cx="3041400" cy="894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2" name="Google Shape;1422;p64"/>
          <p:cNvCxnSpPr/>
          <p:nvPr/>
        </p:nvCxnSpPr>
        <p:spPr>
          <a:xfrm>
            <a:off x="4572900" y="985075"/>
            <a:ext cx="2849700" cy="977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3" name="Google Shape;1423;p64"/>
          <p:cNvSpPr txBox="1"/>
          <p:nvPr/>
        </p:nvSpPr>
        <p:spPr>
          <a:xfrm>
            <a:off x="655050" y="1955450"/>
            <a:ext cx="2189100" cy="5541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angles of a regular polygon is given.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4" name="Google Shape;1424;p64"/>
          <p:cNvSpPr txBox="1"/>
          <p:nvPr/>
        </p:nvSpPr>
        <p:spPr>
          <a:xfrm>
            <a:off x="6217650" y="2031650"/>
            <a:ext cx="2189100" cy="5541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exterior angles of a regular polygon is given.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5" name="Google Shape;1425;p64"/>
          <p:cNvSpPr txBox="1"/>
          <p:nvPr/>
        </p:nvSpPr>
        <p:spPr>
          <a:xfrm>
            <a:off x="2214015" y="2688482"/>
            <a:ext cx="1576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both the cases,</a:t>
            </a:r>
            <a:endParaRPr sz="1300"/>
          </a:p>
        </p:txBody>
      </p:sp>
      <p:sp>
        <p:nvSpPr>
          <p:cNvPr id="1426" name="Google Shape;1426;p64"/>
          <p:cNvSpPr txBox="1"/>
          <p:nvPr/>
        </p:nvSpPr>
        <p:spPr>
          <a:xfrm>
            <a:off x="3529950" y="2680200"/>
            <a:ext cx="425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have to find if the polygon exists or not</a:t>
            </a:r>
            <a:endParaRPr sz="1300"/>
          </a:p>
        </p:txBody>
      </p:sp>
      <p:sp>
        <p:nvSpPr>
          <p:cNvPr id="1427" name="Google Shape;1427;p64"/>
          <p:cNvSpPr txBox="1"/>
          <p:nvPr/>
        </p:nvSpPr>
        <p:spPr>
          <a:xfrm>
            <a:off x="2270272" y="2941657"/>
            <a:ext cx="449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finding the number of sides (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using angle sum property</a:t>
            </a:r>
            <a:endParaRPr sz="1300"/>
          </a:p>
        </p:txBody>
      </p:sp>
      <p:sp>
        <p:nvSpPr>
          <p:cNvPr id="1428" name="Google Shape;1428;p64"/>
          <p:cNvSpPr txBox="1"/>
          <p:nvPr/>
        </p:nvSpPr>
        <p:spPr>
          <a:xfrm>
            <a:off x="731250" y="3966400"/>
            <a:ext cx="263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the value of </a:t>
            </a:r>
            <a:r>
              <a:rPr i="1" lang="en-GB" sz="13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is a </a:t>
            </a:r>
            <a:r>
              <a:rPr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whole number </a:t>
            </a:r>
            <a:endParaRPr sz="1300">
              <a:solidFill>
                <a:srgbClr val="FF9900"/>
              </a:solidFill>
            </a:endParaRPr>
          </a:p>
        </p:txBody>
      </p:sp>
      <p:sp>
        <p:nvSpPr>
          <p:cNvPr id="1429" name="Google Shape;1429;p64"/>
          <p:cNvSpPr txBox="1"/>
          <p:nvPr/>
        </p:nvSpPr>
        <p:spPr>
          <a:xfrm>
            <a:off x="3228057" y="3963550"/>
            <a:ext cx="312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which is </a:t>
            </a:r>
            <a:r>
              <a:rPr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greater than or equal to 3 </a:t>
            </a:r>
            <a:endParaRPr sz="1300">
              <a:solidFill>
                <a:srgbClr val="FF9900"/>
              </a:solidFill>
            </a:endParaRPr>
          </a:p>
        </p:txBody>
      </p:sp>
      <p:sp>
        <p:nvSpPr>
          <p:cNvPr id="1430" name="Google Shape;1430;p64"/>
          <p:cNvSpPr txBox="1"/>
          <p:nvPr/>
        </p:nvSpPr>
        <p:spPr>
          <a:xfrm>
            <a:off x="5699272" y="3966400"/>
            <a:ext cx="312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only then the</a:t>
            </a:r>
            <a:r>
              <a:rPr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polygon 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would exist.</a:t>
            </a:r>
            <a:endParaRPr sz="1300">
              <a:solidFill>
                <a:srgbClr val="FF9900"/>
              </a:solidFill>
            </a:endParaRPr>
          </a:p>
        </p:txBody>
      </p:sp>
      <p:sp>
        <p:nvSpPr>
          <p:cNvPr id="1431" name="Google Shape;1431;p64"/>
          <p:cNvSpPr txBox="1"/>
          <p:nvPr/>
        </p:nvSpPr>
        <p:spPr>
          <a:xfrm>
            <a:off x="364025" y="320250"/>
            <a:ext cx="1875600" cy="400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 5 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2" name="Google Shape;1432;p64"/>
          <p:cNvSpPr txBox="1"/>
          <p:nvPr/>
        </p:nvSpPr>
        <p:spPr>
          <a:xfrm>
            <a:off x="2323450" y="332618"/>
            <a:ext cx="5007600" cy="40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Possibility of a Regular Polygon to exist with given angle</a:t>
            </a:r>
            <a:endParaRPr b="1">
              <a:solidFill>
                <a:srgbClr val="FFF2C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65"/>
          <p:cNvSpPr txBox="1"/>
          <p:nvPr/>
        </p:nvSpPr>
        <p:spPr>
          <a:xfrm>
            <a:off x="180375" y="202400"/>
            <a:ext cx="531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 it possible to have a polygon whose each Interior Angle is 45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8" name="Google Shape;1438;p65"/>
          <p:cNvSpPr txBox="1"/>
          <p:nvPr/>
        </p:nvSpPr>
        <p:spPr>
          <a:xfrm>
            <a:off x="338125" y="829225"/>
            <a:ext cx="71703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Apply the formula to find Each Interior Angle of a Regular polygon</a:t>
            </a:r>
            <a:endParaRPr>
              <a:solidFill>
                <a:srgbClr val="D5A6BD"/>
              </a:solidFill>
            </a:endParaRPr>
          </a:p>
        </p:txBody>
      </p:sp>
      <p:sp>
        <p:nvSpPr>
          <p:cNvPr id="1439" name="Google Shape;1439;p65"/>
          <p:cNvSpPr txBox="1"/>
          <p:nvPr/>
        </p:nvSpPr>
        <p:spPr>
          <a:xfrm>
            <a:off x="311925" y="2788807"/>
            <a:ext cx="37284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Simplify to find 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i="1" u="sng">
              <a:solidFill>
                <a:srgbClr val="FFFF00"/>
              </a:solidFill>
            </a:endParaRPr>
          </a:p>
        </p:txBody>
      </p:sp>
      <p:sp>
        <p:nvSpPr>
          <p:cNvPr id="1440" name="Google Shape;1440;p65"/>
          <p:cNvSpPr txBox="1"/>
          <p:nvPr/>
        </p:nvSpPr>
        <p:spPr>
          <a:xfrm>
            <a:off x="1247175" y="1744957"/>
            <a:ext cx="20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Interior angle  =</a:t>
            </a:r>
            <a:endParaRPr/>
          </a:p>
        </p:txBody>
      </p:sp>
      <p:sp>
        <p:nvSpPr>
          <p:cNvPr id="1441" name="Google Shape;1441;p65"/>
          <p:cNvSpPr/>
          <p:nvPr/>
        </p:nvSpPr>
        <p:spPr>
          <a:xfrm>
            <a:off x="3273050" y="257296"/>
            <a:ext cx="22341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2" name="Google Shape;1442;p65"/>
          <p:cNvSpPr txBox="1"/>
          <p:nvPr/>
        </p:nvSpPr>
        <p:spPr>
          <a:xfrm>
            <a:off x="3213425" y="1744956"/>
            <a:ext cx="6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45</a:t>
            </a:r>
            <a:r>
              <a:rPr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443" name="Google Shape;1443;p65"/>
          <p:cNvSpPr txBox="1"/>
          <p:nvPr/>
        </p:nvSpPr>
        <p:spPr>
          <a:xfrm>
            <a:off x="6552000" y="4072275"/>
            <a:ext cx="253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Since </a:t>
            </a:r>
            <a:r>
              <a:rPr b="1"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is not the whole number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So, No!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Such a polygon does not exist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4" name="Google Shape;1444;p65"/>
          <p:cNvSpPr txBox="1"/>
          <p:nvPr/>
        </p:nvSpPr>
        <p:spPr>
          <a:xfrm>
            <a:off x="1358486" y="1398362"/>
            <a:ext cx="40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Measure of each interior angle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45" name="Google Shape;1445;p65"/>
          <p:cNvCxnSpPr/>
          <p:nvPr/>
        </p:nvCxnSpPr>
        <p:spPr>
          <a:xfrm>
            <a:off x="4082081" y="1702515"/>
            <a:ext cx="900" cy="501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46" name="Google Shape;1446;p65"/>
          <p:cNvSpPr txBox="1"/>
          <p:nvPr/>
        </p:nvSpPr>
        <p:spPr>
          <a:xfrm>
            <a:off x="3883074" y="2122025"/>
            <a:ext cx="84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45</a:t>
            </a:r>
            <a:r>
              <a:rPr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=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447" name="Google Shape;144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929" y="1404950"/>
            <a:ext cx="909500" cy="360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448" name="Google Shape;144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503" y="2157175"/>
            <a:ext cx="909500" cy="360811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65"/>
          <p:cNvSpPr txBox="1"/>
          <p:nvPr/>
        </p:nvSpPr>
        <p:spPr>
          <a:xfrm>
            <a:off x="6354174" y="2131520"/>
            <a:ext cx="12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Cross multiply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0" name="Google Shape;1450;p65"/>
          <p:cNvSpPr txBox="1"/>
          <p:nvPr/>
        </p:nvSpPr>
        <p:spPr>
          <a:xfrm>
            <a:off x="1090294" y="3436278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45</a:t>
            </a:r>
            <a:r>
              <a:rPr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=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1" name="Google Shape;1451;p65"/>
          <p:cNvSpPr txBox="1"/>
          <p:nvPr/>
        </p:nvSpPr>
        <p:spPr>
          <a:xfrm>
            <a:off x="2004694" y="3436278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en-GB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i="1"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- </a:t>
            </a: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180</a:t>
            </a:r>
            <a:r>
              <a:rPr baseline="30000"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endParaRPr baseline="30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2" name="Google Shape;1452;p65"/>
          <p:cNvSpPr txBox="1"/>
          <p:nvPr/>
        </p:nvSpPr>
        <p:spPr>
          <a:xfrm>
            <a:off x="1144193" y="4173082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45</a:t>
            </a:r>
            <a:r>
              <a:rPr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 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3" name="Google Shape;1453;p65"/>
          <p:cNvCxnSpPr/>
          <p:nvPr/>
        </p:nvCxnSpPr>
        <p:spPr>
          <a:xfrm rot="5400000">
            <a:off x="2507036" y="3287416"/>
            <a:ext cx="600" cy="644400"/>
          </a:xfrm>
          <a:prstGeom prst="curvedConnector3">
            <a:avLst>
              <a:gd fmla="val -39692339" name="adj1"/>
            </a:avLst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4" name="Google Shape;1454;p65"/>
          <p:cNvSpPr txBox="1"/>
          <p:nvPr/>
        </p:nvSpPr>
        <p:spPr>
          <a:xfrm>
            <a:off x="1906193" y="4173082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180</a:t>
            </a:r>
            <a:r>
              <a:rPr b="1"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i="1" lang="en-GB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b="1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5" name="Google Shape;1455;p65"/>
          <p:cNvSpPr txBox="1"/>
          <p:nvPr/>
        </p:nvSpPr>
        <p:spPr>
          <a:xfrm>
            <a:off x="2439593" y="4173082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-    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6" name="Google Shape;1456;p65"/>
          <p:cNvCxnSpPr/>
          <p:nvPr/>
        </p:nvCxnSpPr>
        <p:spPr>
          <a:xfrm rot="5400000">
            <a:off x="2660786" y="3420766"/>
            <a:ext cx="600" cy="428400"/>
          </a:xfrm>
          <a:prstGeom prst="curvedConnector3">
            <a:avLst>
              <a:gd fmla="val -39692339" name="adj1"/>
            </a:avLst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7" name="Google Shape;1457;p65"/>
          <p:cNvSpPr txBox="1"/>
          <p:nvPr/>
        </p:nvSpPr>
        <p:spPr>
          <a:xfrm>
            <a:off x="3787700" y="3444275"/>
            <a:ext cx="74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135</a:t>
            </a:r>
            <a:r>
              <a:rPr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 </a:t>
            </a:r>
            <a:r>
              <a:rPr i="1" lang="en-GB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b="1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8" name="Google Shape;1458;p65"/>
          <p:cNvSpPr txBox="1"/>
          <p:nvPr/>
        </p:nvSpPr>
        <p:spPr>
          <a:xfrm>
            <a:off x="4543775" y="3444275"/>
            <a:ext cx="10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  360</a:t>
            </a:r>
            <a:r>
              <a:rPr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9" name="Google Shape;1459;p65"/>
          <p:cNvSpPr txBox="1"/>
          <p:nvPr/>
        </p:nvSpPr>
        <p:spPr>
          <a:xfrm>
            <a:off x="4006478" y="4095235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        </a:t>
            </a:r>
            <a:r>
              <a:rPr i="1"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backgroundColor&quot;:&quot;#000000&quot;,&quot;code&quot;:&quot;$$\\frac{360^{0}}{135^{0}}$$&quot;,&quot;aid&quot;:null,&quot;id&quot;:&quot;23&quot;,&quot;type&quot;:&quot;$$&quot;,&quot;font&quot;:{&quot;size&quot;:12,&quot;family&quot;:&quot;Arial&quot;,&quot;color&quot;:&quot;#ffffff&quot;},&quot;ts&quot;:1718173943099,&quot;cs&quot;:&quot;KEb1FgAHs/VmMbKP5iROkQ==&quot;,&quot;size&quot;:{&quot;width&quot;:40.333333333333336,&quot;height&quot;:44.833333333333336}}" id="1460" name="Google Shape;146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577" y="4111975"/>
            <a:ext cx="384175" cy="427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65"/>
          <p:cNvSpPr txBox="1"/>
          <p:nvPr/>
        </p:nvSpPr>
        <p:spPr>
          <a:xfrm>
            <a:off x="4031675" y="4642435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n        </a:t>
            </a:r>
            <a:r>
              <a:rPr i="1"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2" name="Google Shape;1462;p65"/>
          <p:cNvSpPr txBox="1"/>
          <p:nvPr/>
        </p:nvSpPr>
        <p:spPr>
          <a:xfrm>
            <a:off x="4859168" y="4653143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2.67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63" name="Google Shape;1463;p65"/>
          <p:cNvCxnSpPr/>
          <p:nvPr/>
        </p:nvCxnSpPr>
        <p:spPr>
          <a:xfrm>
            <a:off x="3587025" y="3323400"/>
            <a:ext cx="0" cy="1820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66"/>
          <p:cNvSpPr txBox="1"/>
          <p:nvPr/>
        </p:nvSpPr>
        <p:spPr>
          <a:xfrm>
            <a:off x="180375" y="202400"/>
            <a:ext cx="531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Q: 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 it possible to have a polygon whose each exterior Angle is 45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9" name="Google Shape;1469;p66"/>
          <p:cNvSpPr txBox="1"/>
          <p:nvPr/>
        </p:nvSpPr>
        <p:spPr>
          <a:xfrm>
            <a:off x="4215025" y="4152061"/>
            <a:ext cx="3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i="1">
              <a:solidFill>
                <a:srgbClr val="FFFF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0" name="Google Shape;1470;p66"/>
          <p:cNvSpPr/>
          <p:nvPr/>
        </p:nvSpPr>
        <p:spPr>
          <a:xfrm>
            <a:off x="3273050" y="257296"/>
            <a:ext cx="2234100" cy="376200"/>
          </a:xfrm>
          <a:prstGeom prst="roundRect">
            <a:avLst>
              <a:gd fmla="val 16667" name="adj"/>
            </a:avLst>
          </a:prstGeom>
          <a:solidFill>
            <a:srgbClr val="00FF17">
              <a:alpha val="352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1" name="Google Shape;1471;p66"/>
          <p:cNvSpPr txBox="1"/>
          <p:nvPr/>
        </p:nvSpPr>
        <p:spPr>
          <a:xfrm>
            <a:off x="2694350" y="1973550"/>
            <a:ext cx="52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45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endParaRPr>
              <a:solidFill>
                <a:srgbClr val="D5A6BD"/>
              </a:solidFill>
            </a:endParaRPr>
          </a:p>
        </p:txBody>
      </p:sp>
      <p:pic>
        <p:nvPicPr>
          <p:cNvPr descr="{&quot;code&quot;:&quot;$$\\c{ffeb3b}{\\left(\\frac{360}{\\text{n}}\\right)^{\\text{o}}}$$&quot;,&quot;font&quot;:{&quot;size&quot;:12,&quot;family&quot;:&quot;Arial&quot;,&quot;color&quot;:&quot;#ffffff&quot;},&quot;aid&quot;:null,&quot;type&quot;:&quot;$$&quot;,&quot;id&quot;:&quot;14&quot;,&quot;backgroundColor&quot;:&quot;#000000&quot;,&quot;ts&quot;:1717410272718,&quot;cs&quot;:&quot;fMkpLWepv6tUQpTXPiO8Bg==&quot;,&quot;size&quot;:{&quot;width&quot;:67.16666666666667,&quot;height&quot;:45.833333333333336}}" id="1472" name="Google Shape;14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302" y="1440915"/>
            <a:ext cx="639763" cy="43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473" name="Google Shape;1473;p66"/>
          <p:cNvSpPr txBox="1"/>
          <p:nvPr/>
        </p:nvSpPr>
        <p:spPr>
          <a:xfrm>
            <a:off x="4111466" y="3573400"/>
            <a:ext cx="8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=      </a:t>
            </a:r>
            <a:endParaRPr>
              <a:solidFill>
                <a:srgbClr val="D5A6BD"/>
              </a:solidFill>
            </a:endParaRPr>
          </a:p>
        </p:txBody>
      </p:sp>
      <p:pic>
        <p:nvPicPr>
          <p:cNvPr descr="{&quot;backgroundColorModified&quot;:false,&quot;backgroundColor&quot;:&quot;#000000&quot;,&quot;code&quot;:&quot;$$\\c{ffeb3b}{\\frac{360}{\\text{45}}}$$&quot;,&quot;aid&quot;:null,&quot;font&quot;:{&quot;family&quot;:&quot;Arial&quot;,&quot;size&quot;:12,&quot;color&quot;:&quot;#ffffff&quot;},&quot;type&quot;:&quot;$$&quot;,&quot;id&quot;:&quot;14&quot;,&quot;ts&quot;:1718023887676,&quot;cs&quot;:&quot;BXE02uAXNmfYeKSJ1ZrEWQ==&quot;,&quot;size&quot;:{&quot;width&quot;:32,&quot;height&quot;:38.5}}" id="1474" name="Google Shape;147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0830" y="3574690"/>
            <a:ext cx="304800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66"/>
          <p:cNvSpPr txBox="1"/>
          <p:nvPr/>
        </p:nvSpPr>
        <p:spPr>
          <a:xfrm>
            <a:off x="4461531" y="4148607"/>
            <a:ext cx="6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     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8 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>
              <a:solidFill>
                <a:srgbClr val="D5A6BD"/>
              </a:solidFill>
            </a:endParaRPr>
          </a:p>
        </p:txBody>
      </p:sp>
      <p:sp>
        <p:nvSpPr>
          <p:cNvPr id="1476" name="Google Shape;1476;p66"/>
          <p:cNvSpPr txBox="1"/>
          <p:nvPr/>
        </p:nvSpPr>
        <p:spPr>
          <a:xfrm>
            <a:off x="5729025" y="4152550"/>
            <a:ext cx="321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Since </a:t>
            </a:r>
            <a:r>
              <a:rPr b="1"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 whole number greater than 3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So, Yes!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Such a polygon exists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7" name="Google Shape;1477;p66"/>
          <p:cNvSpPr txBox="1"/>
          <p:nvPr/>
        </p:nvSpPr>
        <p:spPr>
          <a:xfrm>
            <a:off x="311925" y="2941207"/>
            <a:ext cx="37284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Simplify to find </a:t>
            </a:r>
            <a:r>
              <a:rPr i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endParaRPr i="1" u="sng">
              <a:solidFill>
                <a:srgbClr val="FFFF00"/>
              </a:solidFill>
            </a:endParaRPr>
          </a:p>
        </p:txBody>
      </p:sp>
      <p:sp>
        <p:nvSpPr>
          <p:cNvPr id="1478" name="Google Shape;1478;p66"/>
          <p:cNvSpPr txBox="1"/>
          <p:nvPr/>
        </p:nvSpPr>
        <p:spPr>
          <a:xfrm>
            <a:off x="338125" y="905425"/>
            <a:ext cx="71703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Apply the formula to find Each Exterior Angle of a Regular polygon</a:t>
            </a:r>
            <a:endParaRPr>
              <a:solidFill>
                <a:srgbClr val="D5A6BD"/>
              </a:solidFill>
            </a:endParaRPr>
          </a:p>
        </p:txBody>
      </p:sp>
      <p:sp>
        <p:nvSpPr>
          <p:cNvPr id="1479" name="Google Shape;1479;p66"/>
          <p:cNvSpPr txBox="1"/>
          <p:nvPr/>
        </p:nvSpPr>
        <p:spPr>
          <a:xfrm>
            <a:off x="1358477" y="1474550"/>
            <a:ext cx="341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know that,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Measure of each Exterior angle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0" name="Google Shape;1480;p66"/>
          <p:cNvSpPr txBox="1"/>
          <p:nvPr/>
        </p:nvSpPr>
        <p:spPr>
          <a:xfrm>
            <a:off x="713775" y="1973550"/>
            <a:ext cx="229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Given: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Exterior angle  =</a:t>
            </a:r>
            <a:endParaRPr/>
          </a:p>
        </p:txBody>
      </p:sp>
      <p:cxnSp>
        <p:nvCxnSpPr>
          <p:cNvPr id="1481" name="Google Shape;1481;p66"/>
          <p:cNvCxnSpPr/>
          <p:nvPr/>
        </p:nvCxnSpPr>
        <p:spPr>
          <a:xfrm>
            <a:off x="4082081" y="1778715"/>
            <a:ext cx="900" cy="501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82" name="Google Shape;1482;p66"/>
          <p:cNvSpPr txBox="1"/>
          <p:nvPr/>
        </p:nvSpPr>
        <p:spPr>
          <a:xfrm>
            <a:off x="3883075" y="2198225"/>
            <a:ext cx="97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45</a:t>
            </a:r>
            <a:r>
              <a:rPr baseline="30000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=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code&quot;:&quot;$$\\c{ffeb3b}{\\left(\\frac{360}{\\text{n}}\\right)^{\\text{o}}}$$&quot;,&quot;font&quot;:{&quot;size&quot;:12,&quot;family&quot;:&quot;Arial&quot;,&quot;color&quot;:&quot;#ffffff&quot;},&quot;aid&quot;:null,&quot;type&quot;:&quot;$$&quot;,&quot;id&quot;:&quot;14&quot;,&quot;backgroundColor&quot;:&quot;#000000&quot;,&quot;ts&quot;:1717410272718,&quot;cs&quot;:&quot;fMkpLWepv6tUQpTXPiO8Bg==&quot;,&quot;size&quot;:{&quot;width&quot;:67.16666666666667,&quot;height&quot;:45.833333333333336}}" id="1483" name="Google Shape;148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010" y="2202915"/>
            <a:ext cx="639763" cy="43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66"/>
          <p:cNvSpPr txBox="1"/>
          <p:nvPr/>
        </p:nvSpPr>
        <p:spPr>
          <a:xfrm>
            <a:off x="6277974" y="2273213"/>
            <a:ext cx="12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Cross multiply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67"/>
          <p:cNvSpPr txBox="1"/>
          <p:nvPr/>
        </p:nvSpPr>
        <p:spPr>
          <a:xfrm>
            <a:off x="2888625" y="939294"/>
            <a:ext cx="319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These are always figure based questions.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0" name="Google Shape;1490;p67"/>
          <p:cNvSpPr txBox="1"/>
          <p:nvPr/>
        </p:nvSpPr>
        <p:spPr>
          <a:xfrm>
            <a:off x="1142690" y="1239931"/>
            <a:ext cx="217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these types of questions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1" name="Google Shape;1491;p67"/>
          <p:cNvSpPr txBox="1"/>
          <p:nvPr/>
        </p:nvSpPr>
        <p:spPr>
          <a:xfrm>
            <a:off x="364025" y="320250"/>
            <a:ext cx="1875600" cy="4002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 6 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2" name="Google Shape;1492;p67"/>
          <p:cNvSpPr txBox="1"/>
          <p:nvPr/>
        </p:nvSpPr>
        <p:spPr>
          <a:xfrm>
            <a:off x="2323450" y="332625"/>
            <a:ext cx="5535600" cy="40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Figure based Questions on Missing Angles</a:t>
            </a:r>
            <a:endParaRPr b="1">
              <a:solidFill>
                <a:srgbClr val="FFF2C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3" name="Google Shape;1493;p67"/>
          <p:cNvSpPr txBox="1"/>
          <p:nvPr/>
        </p:nvSpPr>
        <p:spPr>
          <a:xfrm>
            <a:off x="712903" y="1870163"/>
            <a:ext cx="1668300" cy="3693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Given angles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4" name="Google Shape;1494;p67"/>
          <p:cNvSpPr txBox="1"/>
          <p:nvPr/>
        </p:nvSpPr>
        <p:spPr>
          <a:xfrm>
            <a:off x="6387853" y="1855508"/>
            <a:ext cx="1668300" cy="3693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Angles asked to find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5" name="Google Shape;1495;p67"/>
          <p:cNvCxnSpPr>
            <a:stCxn id="1493" idx="3"/>
            <a:endCxn id="1494" idx="1"/>
          </p:cNvCxnSpPr>
          <p:nvPr/>
        </p:nvCxnSpPr>
        <p:spPr>
          <a:xfrm flipH="1" rot="10800000">
            <a:off x="2381203" y="2040113"/>
            <a:ext cx="4006800" cy="14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6" name="Google Shape;1496;p67"/>
          <p:cNvSpPr txBox="1"/>
          <p:nvPr/>
        </p:nvSpPr>
        <p:spPr>
          <a:xfrm>
            <a:off x="3401618" y="2554740"/>
            <a:ext cx="217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solve such questions,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7" name="Google Shape;1497;p67"/>
          <p:cNvSpPr txBox="1"/>
          <p:nvPr/>
        </p:nvSpPr>
        <p:spPr>
          <a:xfrm>
            <a:off x="1268550" y="3117850"/>
            <a:ext cx="68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AutoNum type="arabicPeriod"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First, we need to find the unknown angles which are not even asked but can be found directly (and easily) using Linear Pair or Angle Sum Property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8" name="Google Shape;1498;p67"/>
          <p:cNvSpPr txBox="1"/>
          <p:nvPr/>
        </p:nvSpPr>
        <p:spPr>
          <a:xfrm>
            <a:off x="3594530" y="1729479"/>
            <a:ext cx="1668300" cy="7389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Unknown angles in the figure but not asked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9" name="Google Shape;1499;p67"/>
          <p:cNvSpPr txBox="1"/>
          <p:nvPr/>
        </p:nvSpPr>
        <p:spPr>
          <a:xfrm>
            <a:off x="3103050" y="1239925"/>
            <a:ext cx="20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are given some angles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0" name="Google Shape;1500;p67"/>
          <p:cNvSpPr txBox="1"/>
          <p:nvPr/>
        </p:nvSpPr>
        <p:spPr>
          <a:xfrm>
            <a:off x="4855650" y="1229500"/>
            <a:ext cx="352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 we are asked to find an angle or few angles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1" name="Google Shape;1501;p67"/>
          <p:cNvSpPr txBox="1"/>
          <p:nvPr/>
        </p:nvSpPr>
        <p:spPr>
          <a:xfrm>
            <a:off x="2728128" y="4509950"/>
            <a:ext cx="352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Let’s see how to solve such type of questions</a:t>
            </a:r>
            <a:endParaRPr b="1" sz="13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2" name="Google Shape;1502;p67"/>
          <p:cNvSpPr txBox="1"/>
          <p:nvPr/>
        </p:nvSpPr>
        <p:spPr>
          <a:xfrm>
            <a:off x="1398751" y="3853438"/>
            <a:ext cx="634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     Generally these Unknown angles once found can then help us in calculating the Angles    </a:t>
            </a:r>
            <a:endParaRPr b="1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asked to find by once again using Linear Pair or Angle Sum Property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68"/>
          <p:cNvSpPr txBox="1"/>
          <p:nvPr/>
        </p:nvSpPr>
        <p:spPr>
          <a:xfrm>
            <a:off x="142300" y="82425"/>
            <a:ext cx="484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Q</a:t>
            </a:r>
            <a:r>
              <a:rPr b="1"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measure of </a:t>
            </a:r>
            <a:r>
              <a:rPr b="1" i="1" lang="en-GB" sz="13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the given figure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08" name="Google Shape;1508;p68"/>
          <p:cNvGrpSpPr/>
          <p:nvPr/>
        </p:nvGrpSpPr>
        <p:grpSpPr>
          <a:xfrm>
            <a:off x="5960400" y="-195599"/>
            <a:ext cx="2992200" cy="2573535"/>
            <a:chOff x="6112800" y="261601"/>
            <a:chExt cx="2992200" cy="2573535"/>
          </a:xfrm>
        </p:grpSpPr>
        <p:cxnSp>
          <p:nvCxnSpPr>
            <p:cNvPr id="1509" name="Google Shape;1509;p68"/>
            <p:cNvCxnSpPr/>
            <p:nvPr/>
          </p:nvCxnSpPr>
          <p:spPr>
            <a:xfrm>
              <a:off x="6112800" y="2470175"/>
              <a:ext cx="29922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cxnSp>
          <p:nvCxnSpPr>
            <p:cNvPr id="1510" name="Google Shape;1510;p68"/>
            <p:cNvCxnSpPr/>
            <p:nvPr/>
          </p:nvCxnSpPr>
          <p:spPr>
            <a:xfrm flipH="1" rot="10800000">
              <a:off x="7815675" y="2052500"/>
              <a:ext cx="431400" cy="4314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1" name="Google Shape;1511;p68"/>
            <p:cNvCxnSpPr/>
            <p:nvPr/>
          </p:nvCxnSpPr>
          <p:spPr>
            <a:xfrm rot="10800000">
              <a:off x="6772000" y="1761575"/>
              <a:ext cx="411000" cy="7119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2" name="Google Shape;1512;p68"/>
            <p:cNvCxnSpPr/>
            <p:nvPr/>
          </p:nvCxnSpPr>
          <p:spPr>
            <a:xfrm flipH="1" rot="10800000">
              <a:off x="6772000" y="590675"/>
              <a:ext cx="1170900" cy="11709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68"/>
            <p:cNvCxnSpPr/>
            <p:nvPr/>
          </p:nvCxnSpPr>
          <p:spPr>
            <a:xfrm>
              <a:off x="7942900" y="590675"/>
              <a:ext cx="310200" cy="14568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4" name="Google Shape;1514;p68"/>
            <p:cNvSpPr/>
            <p:nvPr/>
          </p:nvSpPr>
          <p:spPr>
            <a:xfrm rot="-4045244">
              <a:off x="6533237" y="1513412"/>
              <a:ext cx="521146" cy="524816"/>
            </a:xfrm>
            <a:prstGeom prst="pie">
              <a:avLst>
                <a:gd fmla="val 1051068" name="adj1"/>
                <a:gd fmla="val 7421088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8"/>
            <p:cNvSpPr/>
            <p:nvPr/>
          </p:nvSpPr>
          <p:spPr>
            <a:xfrm rot="7313821">
              <a:off x="7976287" y="1754617"/>
              <a:ext cx="521202" cy="524796"/>
            </a:xfrm>
            <a:prstGeom prst="pie">
              <a:avLst>
                <a:gd fmla="val 676036" name="adj1"/>
                <a:gd fmla="val 7985139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8"/>
            <p:cNvSpPr/>
            <p:nvPr/>
          </p:nvSpPr>
          <p:spPr>
            <a:xfrm rot="2043909">
              <a:off x="7673534" y="362617"/>
              <a:ext cx="521124" cy="524866"/>
            </a:xfrm>
            <a:prstGeom prst="pie">
              <a:avLst>
                <a:gd fmla="val 2525504" name="adj1"/>
                <a:gd fmla="val 60144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8"/>
            <p:cNvSpPr/>
            <p:nvPr/>
          </p:nvSpPr>
          <p:spPr>
            <a:xfrm rot="8663827">
              <a:off x="6925054" y="2207686"/>
              <a:ext cx="520987" cy="524999"/>
            </a:xfrm>
            <a:prstGeom prst="pie">
              <a:avLst>
                <a:gd fmla="val 1792058" name="adj1"/>
                <a:gd fmla="val 5806623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8"/>
            <p:cNvSpPr/>
            <p:nvPr/>
          </p:nvSpPr>
          <p:spPr>
            <a:xfrm rot="-5396042">
              <a:off x="7628872" y="2207669"/>
              <a:ext cx="521100" cy="525000"/>
            </a:xfrm>
            <a:prstGeom prst="pie">
              <a:avLst>
                <a:gd fmla="val 2335414" name="adj1"/>
                <a:gd fmla="val 519403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8"/>
            <p:cNvSpPr txBox="1"/>
            <p:nvPr/>
          </p:nvSpPr>
          <p:spPr>
            <a:xfrm>
              <a:off x="7571400" y="807600"/>
              <a:ext cx="525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50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sz="1000"/>
            </a:p>
          </p:txBody>
        </p:sp>
        <p:sp>
          <p:nvSpPr>
            <p:cNvPr id="1520" name="Google Shape;1520;p68"/>
            <p:cNvSpPr txBox="1"/>
            <p:nvPr/>
          </p:nvSpPr>
          <p:spPr>
            <a:xfrm>
              <a:off x="8097000" y="2075750"/>
              <a:ext cx="597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50</a:t>
              </a:r>
              <a:r>
                <a:rPr b="1" baseline="30000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sz="1000"/>
            </a:p>
          </p:txBody>
        </p:sp>
        <p:sp>
          <p:nvSpPr>
            <p:cNvPr id="1521" name="Google Shape;1521;p68"/>
            <p:cNvSpPr txBox="1"/>
            <p:nvPr/>
          </p:nvSpPr>
          <p:spPr>
            <a:xfrm>
              <a:off x="6531000" y="2075750"/>
              <a:ext cx="525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60</a:t>
              </a:r>
              <a:r>
                <a:rPr b="1" baseline="30000" lang="en-GB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endParaRPr sz="1100"/>
            </a:p>
          </p:txBody>
        </p:sp>
        <p:sp>
          <p:nvSpPr>
            <p:cNvPr id="1522" name="Google Shape;1522;p68"/>
            <p:cNvSpPr txBox="1"/>
            <p:nvPr/>
          </p:nvSpPr>
          <p:spPr>
            <a:xfrm>
              <a:off x="7712550" y="1605688"/>
              <a:ext cx="443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i="1" lang="en-GB" sz="9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x </a:t>
              </a:r>
              <a:r>
                <a:rPr b="1" baseline="30000" i="1" lang="en-GB" sz="9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O</a:t>
              </a:r>
              <a:endParaRPr sz="1000"/>
            </a:p>
          </p:txBody>
        </p:sp>
        <p:sp>
          <p:nvSpPr>
            <p:cNvPr id="1523" name="Google Shape;1523;p68"/>
            <p:cNvSpPr txBox="1"/>
            <p:nvPr/>
          </p:nvSpPr>
          <p:spPr>
            <a:xfrm>
              <a:off x="6974400" y="1583350"/>
              <a:ext cx="597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i="1" lang="en-GB" sz="9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x </a:t>
              </a:r>
              <a:r>
                <a:rPr b="1" baseline="30000" i="1" lang="en-GB" sz="900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O</a:t>
              </a:r>
              <a:endParaRPr sz="1000"/>
            </a:p>
          </p:txBody>
        </p:sp>
        <p:sp>
          <p:nvSpPr>
            <p:cNvPr id="1524" name="Google Shape;1524;p68"/>
            <p:cNvSpPr txBox="1"/>
            <p:nvPr/>
          </p:nvSpPr>
          <p:spPr>
            <a:xfrm flipH="1">
              <a:off x="6451350" y="1583363"/>
              <a:ext cx="310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/>
            </a:p>
          </p:txBody>
        </p:sp>
        <p:sp>
          <p:nvSpPr>
            <p:cNvPr id="1525" name="Google Shape;1525;p68"/>
            <p:cNvSpPr txBox="1"/>
            <p:nvPr/>
          </p:nvSpPr>
          <p:spPr>
            <a:xfrm>
              <a:off x="7030450" y="2483925"/>
              <a:ext cx="310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B</a:t>
              </a:r>
              <a:endParaRPr sz="1000"/>
            </a:p>
          </p:txBody>
        </p:sp>
        <p:sp>
          <p:nvSpPr>
            <p:cNvPr id="1526" name="Google Shape;1526;p68"/>
            <p:cNvSpPr txBox="1"/>
            <p:nvPr/>
          </p:nvSpPr>
          <p:spPr>
            <a:xfrm>
              <a:off x="7728600" y="2466750"/>
              <a:ext cx="411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/>
            </a:p>
          </p:txBody>
        </p:sp>
        <p:sp>
          <p:nvSpPr>
            <p:cNvPr id="1527" name="Google Shape;1527;p68"/>
            <p:cNvSpPr txBox="1"/>
            <p:nvPr/>
          </p:nvSpPr>
          <p:spPr>
            <a:xfrm>
              <a:off x="8296800" y="1761575"/>
              <a:ext cx="310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</a:t>
              </a:r>
              <a:endParaRPr sz="1000"/>
            </a:p>
          </p:txBody>
        </p:sp>
        <p:sp>
          <p:nvSpPr>
            <p:cNvPr id="1528" name="Google Shape;1528;p68"/>
            <p:cNvSpPr txBox="1"/>
            <p:nvPr/>
          </p:nvSpPr>
          <p:spPr>
            <a:xfrm>
              <a:off x="7968075" y="469266"/>
              <a:ext cx="431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E</a:t>
              </a:r>
              <a:endParaRPr sz="1100"/>
            </a:p>
          </p:txBody>
        </p:sp>
        <p:sp>
          <p:nvSpPr>
            <p:cNvPr id="1529" name="Google Shape;1529;p68"/>
            <p:cNvSpPr txBox="1"/>
            <p:nvPr/>
          </p:nvSpPr>
          <p:spPr>
            <a:xfrm>
              <a:off x="6400950" y="2479700"/>
              <a:ext cx="411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X</a:t>
              </a:r>
              <a:endParaRPr sz="1000"/>
            </a:p>
          </p:txBody>
        </p:sp>
        <p:sp>
          <p:nvSpPr>
            <p:cNvPr id="1530" name="Google Shape;1530;p68"/>
            <p:cNvSpPr txBox="1"/>
            <p:nvPr/>
          </p:nvSpPr>
          <p:spPr>
            <a:xfrm>
              <a:off x="8317850" y="2479700"/>
              <a:ext cx="36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Y</a:t>
              </a:r>
              <a:endParaRPr sz="1000"/>
            </a:p>
          </p:txBody>
        </p:sp>
        <p:sp>
          <p:nvSpPr>
            <p:cNvPr id="1531" name="Google Shape;1531;p68"/>
            <p:cNvSpPr/>
            <p:nvPr/>
          </p:nvSpPr>
          <p:spPr>
            <a:xfrm>
              <a:off x="6489500" y="2393675"/>
              <a:ext cx="153000" cy="153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8"/>
            <p:cNvSpPr/>
            <p:nvPr/>
          </p:nvSpPr>
          <p:spPr>
            <a:xfrm>
              <a:off x="8375400" y="2393675"/>
              <a:ext cx="153000" cy="153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3" name="Google Shape;1533;p68"/>
          <p:cNvSpPr txBox="1"/>
          <p:nvPr/>
        </p:nvSpPr>
        <p:spPr>
          <a:xfrm>
            <a:off x="1046598" y="1619228"/>
            <a:ext cx="106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AED = 50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34" name="Google Shape;1534;p68"/>
          <p:cNvCxnSpPr/>
          <p:nvPr/>
        </p:nvCxnSpPr>
        <p:spPr>
          <a:xfrm flipH="1">
            <a:off x="7033075" y="2010450"/>
            <a:ext cx="646200" cy="1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5" name="Google Shape;1535;p68"/>
          <p:cNvCxnSpPr>
            <a:stCxn id="1524" idx="1"/>
          </p:cNvCxnSpPr>
          <p:nvPr/>
        </p:nvCxnSpPr>
        <p:spPr>
          <a:xfrm>
            <a:off x="6609150" y="1287713"/>
            <a:ext cx="417300" cy="71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6" name="Google Shape;1536;p68"/>
          <p:cNvCxnSpPr>
            <a:stCxn id="1524" idx="1"/>
          </p:cNvCxnSpPr>
          <p:nvPr/>
        </p:nvCxnSpPr>
        <p:spPr>
          <a:xfrm flipH="1" rot="10800000">
            <a:off x="6609150" y="133613"/>
            <a:ext cx="1182000" cy="1154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7" name="Google Shape;1537;p68"/>
          <p:cNvCxnSpPr/>
          <p:nvPr/>
        </p:nvCxnSpPr>
        <p:spPr>
          <a:xfrm>
            <a:off x="7789425" y="140550"/>
            <a:ext cx="314400" cy="144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8" name="Google Shape;1538;p68"/>
          <p:cNvCxnSpPr/>
          <p:nvPr/>
        </p:nvCxnSpPr>
        <p:spPr>
          <a:xfrm flipH="1" rot="10800000">
            <a:off x="7674400" y="1590275"/>
            <a:ext cx="426000" cy="42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9" name="Google Shape;1539;p68"/>
          <p:cNvSpPr txBox="1"/>
          <p:nvPr/>
        </p:nvSpPr>
        <p:spPr>
          <a:xfrm>
            <a:off x="72471" y="971215"/>
            <a:ext cx="234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ABCDE is an Irregular Pentagon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0" name="Google Shape;1540;p68"/>
          <p:cNvSpPr txBox="1"/>
          <p:nvPr/>
        </p:nvSpPr>
        <p:spPr>
          <a:xfrm>
            <a:off x="146727" y="585475"/>
            <a:ext cx="46845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1: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Identify angles given and angles to find</a:t>
            </a:r>
            <a:endParaRPr b="1" i="1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1" name="Google Shape;1541;p68"/>
          <p:cNvSpPr txBox="1"/>
          <p:nvPr/>
        </p:nvSpPr>
        <p:spPr>
          <a:xfrm>
            <a:off x="64325" y="1617979"/>
            <a:ext cx="115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Interior angle: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2" name="Google Shape;1542;p68"/>
          <p:cNvSpPr txBox="1"/>
          <p:nvPr/>
        </p:nvSpPr>
        <p:spPr>
          <a:xfrm>
            <a:off x="58371" y="1908250"/>
            <a:ext cx="130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Exterior angles: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3" name="Google Shape;1543;p68"/>
          <p:cNvSpPr txBox="1"/>
          <p:nvPr/>
        </p:nvSpPr>
        <p:spPr>
          <a:xfrm>
            <a:off x="1147830" y="1908253"/>
            <a:ext cx="115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ABX = 60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4" name="Google Shape;1544;p68"/>
          <p:cNvSpPr txBox="1"/>
          <p:nvPr/>
        </p:nvSpPr>
        <p:spPr>
          <a:xfrm>
            <a:off x="2524771" y="1883879"/>
            <a:ext cx="115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DCY = 50</a:t>
            </a:r>
            <a:r>
              <a:rPr b="1"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="1"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5" name="Google Shape;1545;p68"/>
          <p:cNvSpPr txBox="1"/>
          <p:nvPr/>
        </p:nvSpPr>
        <p:spPr>
          <a:xfrm>
            <a:off x="166347" y="4377110"/>
            <a:ext cx="267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ABC + ∠ABX  = 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( Linear Pair)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∠ABC + 60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∠ABC = 120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6" name="Google Shape;1546;p68"/>
          <p:cNvSpPr txBox="1"/>
          <p:nvPr/>
        </p:nvSpPr>
        <p:spPr>
          <a:xfrm>
            <a:off x="172404" y="3197425"/>
            <a:ext cx="48402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2: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the unknown angles which can directly be found </a:t>
            </a:r>
            <a:endParaRPr b="1" i="1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7" name="Google Shape;1547;p68"/>
          <p:cNvSpPr txBox="1"/>
          <p:nvPr/>
        </p:nvSpPr>
        <p:spPr>
          <a:xfrm>
            <a:off x="2902286" y="4402653"/>
            <a:ext cx="267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DCB + ∠DCY  = 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( Linear Pair)</a:t>
            </a:r>
            <a:endParaRPr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∠DCB + 50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180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∠ABC = 130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48" name="Google Shape;1548;p68"/>
          <p:cNvCxnSpPr/>
          <p:nvPr/>
        </p:nvCxnSpPr>
        <p:spPr>
          <a:xfrm>
            <a:off x="5482708" y="2283025"/>
            <a:ext cx="57600" cy="27591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549" name="Google Shape;1549;p68"/>
          <p:cNvSpPr txBox="1"/>
          <p:nvPr/>
        </p:nvSpPr>
        <p:spPr>
          <a:xfrm>
            <a:off x="5697600" y="2524725"/>
            <a:ext cx="3057900" cy="369300"/>
          </a:xfrm>
          <a:prstGeom prst="rect">
            <a:avLst/>
          </a:prstGeom>
          <a:noFill/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Step 3:  </a:t>
            </a: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Apply the Angle Sum Property</a:t>
            </a:r>
            <a:endParaRPr b="1" i="1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0" name="Google Shape;1550;p68"/>
          <p:cNvSpPr txBox="1"/>
          <p:nvPr/>
        </p:nvSpPr>
        <p:spPr>
          <a:xfrm>
            <a:off x="5666625" y="3341025"/>
            <a:ext cx="342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∠AED + ∠ EAD + ∠EDC + ∠ ABC + ∠ DCB =  540</a:t>
            </a:r>
            <a:r>
              <a:rPr baseline="30000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1" name="Google Shape;1551;p68"/>
          <p:cNvSpPr txBox="1"/>
          <p:nvPr/>
        </p:nvSpPr>
        <p:spPr>
          <a:xfrm>
            <a:off x="6168114" y="3030358"/>
            <a:ext cx="2348100" cy="323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Sum of Interior angles of a Pentagon = 540</a:t>
            </a:r>
            <a:r>
              <a:rPr baseline="30000"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2" name="Google Shape;1552;p68"/>
          <p:cNvSpPr txBox="1"/>
          <p:nvPr/>
        </p:nvSpPr>
        <p:spPr>
          <a:xfrm>
            <a:off x="5790975" y="3672033"/>
            <a:ext cx="372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50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+    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+     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+    120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+   130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   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  540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       2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+           300</a:t>
            </a:r>
            <a:r>
              <a:rPr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=   540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3" name="Google Shape;1553;p68"/>
          <p:cNvSpPr txBox="1"/>
          <p:nvPr/>
        </p:nvSpPr>
        <p:spPr>
          <a:xfrm>
            <a:off x="8180025" y="4297018"/>
            <a:ext cx="87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=  </a:t>
            </a:r>
            <a:r>
              <a:rPr lang="en-GB" sz="1200">
                <a:solidFill>
                  <a:schemeClr val="lt1"/>
                </a:solidFill>
              </a:rPr>
              <a:t>120</a:t>
            </a:r>
            <a:r>
              <a:rPr baseline="30000" lang="en-GB" sz="1200">
                <a:solidFill>
                  <a:schemeClr val="lt1"/>
                </a:solidFill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4" name="Google Shape;1554;p68"/>
          <p:cNvSpPr txBox="1"/>
          <p:nvPr/>
        </p:nvSpPr>
        <p:spPr>
          <a:xfrm>
            <a:off x="7042226" y="4705227"/>
            <a:ext cx="18270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∴ The value of </a:t>
            </a:r>
            <a:r>
              <a:rPr b="1" i="1" lang="en-GB" sz="12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="1" lang="en-GB"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 = 120</a:t>
            </a:r>
            <a:endParaRPr b="1" sz="12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5" name="Google Shape;1555;p68"/>
          <p:cNvSpPr txBox="1"/>
          <p:nvPr/>
        </p:nvSpPr>
        <p:spPr>
          <a:xfrm>
            <a:off x="2128103" y="1897540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6" name="Google Shape;1556;p68"/>
          <p:cNvSpPr txBox="1"/>
          <p:nvPr/>
        </p:nvSpPr>
        <p:spPr>
          <a:xfrm>
            <a:off x="2336639" y="2306097"/>
            <a:ext cx="97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EAD =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aseline="30000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7" name="Google Shape;1557;p68"/>
          <p:cNvSpPr txBox="1"/>
          <p:nvPr/>
        </p:nvSpPr>
        <p:spPr>
          <a:xfrm>
            <a:off x="1410760" y="2300586"/>
            <a:ext cx="97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EDC = </a:t>
            </a:r>
            <a:r>
              <a:rPr i="1" lang="en-GB" sz="1200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baseline="30000"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8" name="Google Shape;1558;p68"/>
          <p:cNvSpPr txBox="1"/>
          <p:nvPr/>
        </p:nvSpPr>
        <p:spPr>
          <a:xfrm>
            <a:off x="1689626" y="3699269"/>
            <a:ext cx="97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ABC = ?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9" name="Google Shape;1559;p68"/>
          <p:cNvSpPr txBox="1"/>
          <p:nvPr/>
        </p:nvSpPr>
        <p:spPr>
          <a:xfrm>
            <a:off x="2895916" y="3688552"/>
            <a:ext cx="97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∠ DCB = ?</a:t>
            </a:r>
            <a:endParaRPr baseline="30000"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0" name="Google Shape;1560;p68"/>
          <p:cNvSpPr txBox="1"/>
          <p:nvPr/>
        </p:nvSpPr>
        <p:spPr>
          <a:xfrm>
            <a:off x="166693" y="2277283"/>
            <a:ext cx="11820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Angles to find:</a:t>
            </a:r>
            <a:endParaRPr b="1" sz="1200">
              <a:solidFill>
                <a:srgbClr val="EAD1D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1" name="Google Shape;1561;p68"/>
          <p:cNvSpPr txBox="1"/>
          <p:nvPr/>
        </p:nvSpPr>
        <p:spPr>
          <a:xfrm>
            <a:off x="148671" y="1276025"/>
            <a:ext cx="11820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Given Angles:</a:t>
            </a:r>
            <a:endParaRPr b="1" sz="1200">
              <a:solidFill>
                <a:srgbClr val="EAD1D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2" name="Google Shape;1562;p68"/>
          <p:cNvSpPr txBox="1"/>
          <p:nvPr/>
        </p:nvSpPr>
        <p:spPr>
          <a:xfrm>
            <a:off x="215001" y="2684875"/>
            <a:ext cx="494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FF00"/>
                </a:solidFill>
                <a:latin typeface="Lato"/>
                <a:ea typeface="Lato"/>
                <a:cs typeface="Lato"/>
                <a:sym typeface="Lato"/>
              </a:rPr>
              <a:t>Sometimes, we need to find the angles which are not even asked to find</a:t>
            </a:r>
            <a:endParaRPr sz="1200">
              <a:solidFill>
                <a:srgbClr val="00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3" name="Google Shape;1563;p68"/>
          <p:cNvSpPr txBox="1"/>
          <p:nvPr/>
        </p:nvSpPr>
        <p:spPr>
          <a:xfrm>
            <a:off x="164476" y="3692650"/>
            <a:ext cx="1392300" cy="369300"/>
          </a:xfrm>
          <a:prstGeom prst="rect">
            <a:avLst/>
          </a:prstGeom>
          <a:noFill/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AD1DC"/>
                </a:solidFill>
                <a:latin typeface="Lato"/>
                <a:ea typeface="Lato"/>
                <a:cs typeface="Lato"/>
                <a:sym typeface="Lato"/>
              </a:rPr>
              <a:t>Unknown Angles:</a:t>
            </a:r>
            <a:endParaRPr b="1" sz="1200">
              <a:solidFill>
                <a:srgbClr val="EAD1D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4" name="Google Shape;1564;p68"/>
          <p:cNvSpPr txBox="1"/>
          <p:nvPr/>
        </p:nvSpPr>
        <p:spPr>
          <a:xfrm>
            <a:off x="2459714" y="3699257"/>
            <a:ext cx="5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5" name="Google Shape;1565;p68"/>
          <p:cNvSpPr/>
          <p:nvPr/>
        </p:nvSpPr>
        <p:spPr>
          <a:xfrm>
            <a:off x="6828722" y="1907132"/>
            <a:ext cx="314400" cy="18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6" name="Google Shape;1566;p68"/>
          <p:cNvSpPr/>
          <p:nvPr/>
        </p:nvSpPr>
        <p:spPr>
          <a:xfrm rot="-2164004">
            <a:off x="7577573" y="1877934"/>
            <a:ext cx="192619" cy="177555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7" name="Google Shape;1567;p68"/>
          <p:cNvSpPr txBox="1"/>
          <p:nvPr/>
        </p:nvSpPr>
        <p:spPr>
          <a:xfrm>
            <a:off x="3112933" y="4060546"/>
            <a:ext cx="154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Linear Pair property</a:t>
            </a: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8" name="Google Shape;1568;p68"/>
          <p:cNvSpPr txBox="1"/>
          <p:nvPr/>
        </p:nvSpPr>
        <p:spPr>
          <a:xfrm>
            <a:off x="107268" y="4052397"/>
            <a:ext cx="326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These angles can be easily found by applying:</a:t>
            </a:r>
            <a:endParaRPr sz="1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69" name="Google Shape;1569;p68"/>
          <p:cNvCxnSpPr/>
          <p:nvPr/>
        </p:nvCxnSpPr>
        <p:spPr>
          <a:xfrm>
            <a:off x="2794590" y="4454210"/>
            <a:ext cx="0" cy="6102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69"/>
          <p:cNvSpPr txBox="1"/>
          <p:nvPr/>
        </p:nvSpPr>
        <p:spPr>
          <a:xfrm>
            <a:off x="2488996" y="586015"/>
            <a:ext cx="1432200" cy="338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 1 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code&quot;:&quot;$$\\c{fbff00}{\\frac{\\text{n(n-3)}}{2}}$$&quot;,&quot;id&quot;:&quot;12&quot;,&quot;font&quot;:{&quot;family&quot;:&quot;Arial&quot;,&quot;size&quot;:19.5,&quot;color&quot;:&quot;#ffffff&quot;},&quot;aid&quot;:null,&quot;backgroundColor&quot;:&quot;#000000&quot;,&quot;type&quot;:&quot;$$&quot;,&quot;ts&quot;:1717753051784,&quot;cs&quot;:&quot;avCGtPuGccI3WDaNo7wunQ==&quot;,&quot;size&quot;:{&quot;width&quot;:89.33333333333333,&quot;height&quot;:65.5}}" id="1575" name="Google Shape;157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686" y="962482"/>
            <a:ext cx="367798" cy="28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576" name="Google Shape;1576;p69"/>
          <p:cNvPicPr preferRelativeResize="0"/>
          <p:nvPr/>
        </p:nvPicPr>
        <p:blipFill rotWithShape="1">
          <a:blip r:embed="rId4">
            <a:alphaModFix/>
          </a:blip>
          <a:srcRect b="50139" l="0" r="0" t="0"/>
          <a:stretch/>
        </p:blipFill>
        <p:spPr>
          <a:xfrm>
            <a:off x="3776194" y="2280377"/>
            <a:ext cx="909491" cy="1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69"/>
          <p:cNvSpPr txBox="1"/>
          <p:nvPr/>
        </p:nvSpPr>
        <p:spPr>
          <a:xfrm>
            <a:off x="-1831" y="63000"/>
            <a:ext cx="187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 mentioned before,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8" name="Google Shape;1578;p69"/>
          <p:cNvSpPr txBox="1"/>
          <p:nvPr/>
        </p:nvSpPr>
        <p:spPr>
          <a:xfrm>
            <a:off x="2506024" y="1706996"/>
            <a:ext cx="1563300" cy="338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 2 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9" name="Google Shape;1579;p69"/>
          <p:cNvSpPr txBox="1"/>
          <p:nvPr/>
        </p:nvSpPr>
        <p:spPr>
          <a:xfrm>
            <a:off x="1597792" y="61748"/>
            <a:ext cx="340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 are four types of problems in the book,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0" name="Google Shape;1580;p69"/>
          <p:cNvSpPr txBox="1"/>
          <p:nvPr/>
        </p:nvSpPr>
        <p:spPr>
          <a:xfrm>
            <a:off x="4836443" y="62999"/>
            <a:ext cx="238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that we have just learnt about.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1" name="Google Shape;1581;p69"/>
          <p:cNvSpPr txBox="1"/>
          <p:nvPr/>
        </p:nvSpPr>
        <p:spPr>
          <a:xfrm>
            <a:off x="5345087" y="1703057"/>
            <a:ext cx="1432200" cy="338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3 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2" name="Google Shape;1582;p69"/>
          <p:cNvSpPr txBox="1"/>
          <p:nvPr/>
        </p:nvSpPr>
        <p:spPr>
          <a:xfrm>
            <a:off x="5342289" y="3018860"/>
            <a:ext cx="1432200" cy="338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4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3" name="Google Shape;1583;p69"/>
          <p:cNvSpPr txBox="1"/>
          <p:nvPr/>
        </p:nvSpPr>
        <p:spPr>
          <a:xfrm>
            <a:off x="2495972" y="4280517"/>
            <a:ext cx="1432200" cy="338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6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4" name="Google Shape;1584;p69"/>
          <p:cNvSpPr txBox="1"/>
          <p:nvPr/>
        </p:nvSpPr>
        <p:spPr>
          <a:xfrm>
            <a:off x="7439050" y="2788850"/>
            <a:ext cx="168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Finding possibility to get a polygon with given angle</a:t>
            </a:r>
            <a:endParaRPr b="1"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{&quot;aid&quot;:null,&quot;type&quot;:&quot;$$&quot;,&quot;id&quot;:&quot;19&quot;,&quot;font&quot;:{&quot;size&quot;:12,&quot;color&quot;:&quot;#ffffff&quot;,&quot;family&quot;:&quot;Arial&quot;},&quot;backgroundColor&quot;:&quot;#000000&quot;,&quot;code&quot;:&quot;$$\\c{fbff00}{\\frac{\\left(n-2\\right)180\\udeg}{n}}$$&quot;,&quot;ts&quot;:1717752901661,&quot;cs&quot;:&quot;H+CsvhcwCiaQfKwk5sYbnQ==&quot;,&quot;size&quot;:{&quot;width&quot;:98.33333333333333,&quot;height&quot;:40.5}}" id="1585" name="Google Shape;158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9144" y="2215929"/>
            <a:ext cx="716673" cy="28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c{fbff00}{\\left(\\frac{360}{\\text{n}}\\right)^{\\text{o}}}$$&quot;,&quot;id&quot;:&quot;12&quot;,&quot;font&quot;:{&quot;color&quot;:&quot;#ffffff&quot;,&quot;size&quot;:12,&quot;family&quot;:&quot;Arial&quot;},&quot;aid&quot;:null,&quot;backgroundColor&quot;:&quot;#000000&quot;,&quot;type&quot;:&quot;$$&quot;,&quot;ts&quot;:1717752926807,&quot;cs&quot;:&quot;ft3lg7mwIkQSzGsojjpcpw==&quot;,&quot;size&quot;:{&quot;width&quot;:67.16666666666667,&quot;height&quot;:45.833333333333336}}" id="1586" name="Google Shape;1586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6588" y="3477446"/>
            <a:ext cx="47961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69"/>
          <p:cNvSpPr txBox="1"/>
          <p:nvPr/>
        </p:nvSpPr>
        <p:spPr>
          <a:xfrm>
            <a:off x="3841576" y="3436080"/>
            <a:ext cx="5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360</a:t>
            </a:r>
            <a:r>
              <a:rPr b="1" baseline="30000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-GB" sz="1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>
              <a:solidFill>
                <a:srgbClr val="FFFF00"/>
              </a:solidFill>
            </a:endParaRPr>
          </a:p>
        </p:txBody>
      </p:sp>
      <p:grpSp>
        <p:nvGrpSpPr>
          <p:cNvPr id="1588" name="Google Shape;1588;p69"/>
          <p:cNvGrpSpPr/>
          <p:nvPr/>
        </p:nvGrpSpPr>
        <p:grpSpPr>
          <a:xfrm>
            <a:off x="76024" y="577625"/>
            <a:ext cx="2035301" cy="4489175"/>
            <a:chOff x="76024" y="577625"/>
            <a:chExt cx="2035301" cy="4489175"/>
          </a:xfrm>
        </p:grpSpPr>
        <p:sp>
          <p:nvSpPr>
            <p:cNvPr id="1589" name="Google Shape;1589;p69"/>
            <p:cNvSpPr/>
            <p:nvPr/>
          </p:nvSpPr>
          <p:spPr>
            <a:xfrm>
              <a:off x="76024" y="577625"/>
              <a:ext cx="2034300" cy="717000"/>
            </a:xfrm>
            <a:prstGeom prst="rect">
              <a:avLst/>
            </a:prstGeom>
            <a:noFill/>
            <a:ln cap="flat" cmpd="sng" w="28575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No. of Diagonals </a:t>
              </a:r>
              <a:endPara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0" name="Google Shape;1590;p69"/>
            <p:cNvSpPr/>
            <p:nvPr/>
          </p:nvSpPr>
          <p:spPr>
            <a:xfrm>
              <a:off x="77025" y="1521225"/>
              <a:ext cx="2034300" cy="1080600"/>
            </a:xfrm>
            <a:prstGeom prst="rect">
              <a:avLst/>
            </a:prstGeom>
            <a:noFill/>
            <a:ln cap="flat" cmpd="sng" w="28575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Sum of interior angles </a:t>
              </a:r>
              <a:endPara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1" name="Google Shape;1591;p69"/>
            <p:cNvSpPr/>
            <p:nvPr/>
          </p:nvSpPr>
          <p:spPr>
            <a:xfrm>
              <a:off x="77025" y="2982013"/>
              <a:ext cx="2034300" cy="873900"/>
            </a:xfrm>
            <a:prstGeom prst="rect">
              <a:avLst/>
            </a:prstGeom>
            <a:noFill/>
            <a:ln cap="flat" cmpd="sng" w="28575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Sum of exterior angles</a:t>
              </a:r>
              <a:endPara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2" name="Google Shape;1592;p69"/>
            <p:cNvSpPr/>
            <p:nvPr/>
          </p:nvSpPr>
          <p:spPr>
            <a:xfrm>
              <a:off x="76025" y="4192900"/>
              <a:ext cx="2034300" cy="873900"/>
            </a:xfrm>
            <a:prstGeom prst="rect">
              <a:avLst/>
            </a:prstGeom>
            <a:noFill/>
            <a:ln cap="flat" cmpd="sng" w="28575">
              <a:solidFill>
                <a:srgbClr val="EAD1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Figure based Questions on Missing Angles</a:t>
              </a:r>
              <a:endPara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593" name="Google Shape;1593;p69"/>
          <p:cNvSpPr txBox="1"/>
          <p:nvPr/>
        </p:nvSpPr>
        <p:spPr>
          <a:xfrm>
            <a:off x="2226150" y="4700622"/>
            <a:ext cx="331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Figure based Questions on Missing Angles</a:t>
            </a:r>
            <a:endParaRPr b="1"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94" name="Google Shape;1594;p69"/>
          <p:cNvCxnSpPr/>
          <p:nvPr/>
        </p:nvCxnSpPr>
        <p:spPr>
          <a:xfrm>
            <a:off x="64250" y="2827975"/>
            <a:ext cx="7302300" cy="9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69"/>
          <p:cNvCxnSpPr/>
          <p:nvPr/>
        </p:nvCxnSpPr>
        <p:spPr>
          <a:xfrm>
            <a:off x="0" y="141166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69"/>
          <p:cNvCxnSpPr/>
          <p:nvPr/>
        </p:nvCxnSpPr>
        <p:spPr>
          <a:xfrm>
            <a:off x="-4625" y="4054738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597" name="Google Shape;1597;p69"/>
          <p:cNvSpPr txBox="1"/>
          <p:nvPr/>
        </p:nvSpPr>
        <p:spPr>
          <a:xfrm>
            <a:off x="5000490" y="2193907"/>
            <a:ext cx="143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Each Interior angle  =</a:t>
            </a:r>
            <a:endParaRPr b="1"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8" name="Google Shape;1598;p69"/>
          <p:cNvSpPr txBox="1"/>
          <p:nvPr/>
        </p:nvSpPr>
        <p:spPr>
          <a:xfrm>
            <a:off x="2253200" y="2202113"/>
            <a:ext cx="16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</a:t>
            </a:r>
            <a:r>
              <a:rPr b="1" i="1" lang="en-GB" sz="1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interior angles = </a:t>
            </a:r>
            <a:endParaRPr b="1"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9" name="Google Shape;1599;p69"/>
          <p:cNvSpPr txBox="1"/>
          <p:nvPr/>
        </p:nvSpPr>
        <p:spPr>
          <a:xfrm>
            <a:off x="2408550" y="908100"/>
            <a:ext cx="246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No. of diagonals for </a:t>
            </a:r>
            <a:r>
              <a:rPr b="1" i="1" lang="en-GB" sz="1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sided polygon = </a:t>
            </a:r>
            <a:endParaRPr b="1"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0" name="Google Shape;1600;p69"/>
          <p:cNvSpPr txBox="1"/>
          <p:nvPr/>
        </p:nvSpPr>
        <p:spPr>
          <a:xfrm>
            <a:off x="2253200" y="3445275"/>
            <a:ext cx="16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Sum of </a:t>
            </a:r>
            <a:r>
              <a:rPr b="1" i="1" lang="en-GB" sz="1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exterior angles = </a:t>
            </a:r>
            <a:endParaRPr b="1"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1" name="Google Shape;1601;p69"/>
          <p:cNvSpPr txBox="1"/>
          <p:nvPr/>
        </p:nvSpPr>
        <p:spPr>
          <a:xfrm>
            <a:off x="5084397" y="3477463"/>
            <a:ext cx="143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Each Exterior angle  =</a:t>
            </a:r>
            <a:endParaRPr b="1"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2" name="Google Shape;1602;p69"/>
          <p:cNvSpPr txBox="1"/>
          <p:nvPr/>
        </p:nvSpPr>
        <p:spPr>
          <a:xfrm>
            <a:off x="7492532" y="2389731"/>
            <a:ext cx="1432200" cy="338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 Category 5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03" name="Google Shape;1603;p69"/>
          <p:cNvCxnSpPr/>
          <p:nvPr/>
        </p:nvCxnSpPr>
        <p:spPr>
          <a:xfrm rot="10800000">
            <a:off x="7355300" y="1424300"/>
            <a:ext cx="7800" cy="2647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